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5b4915bb737438a" /><Relationship Type="http://schemas.openxmlformats.org/officeDocument/2006/relationships/extended-properties" Target="/docProps/app.xml" Id="Rad91365adb7042b4" /><Relationship Type="http://schemas.openxmlformats.org/officeDocument/2006/relationships/officeDocument" Target="/ppt/presentation.xml" Id="R1231ba274caf455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db415779d594258"/>
  </p:sldMasterIdLst>
  <p:notesMasterIdLst>
    <p:notesMasterId xmlns:r="http://schemas.openxmlformats.org/officeDocument/2006/relationships" r:id="R5a688a4d62814bf8"/>
  </p:notesMasterIdLst>
  <p:sldIdLst>
    <p:sldId xmlns:r="http://schemas.openxmlformats.org/officeDocument/2006/relationships" id="256" r:id="R3a8e2d60673742c6"/>
    <p:sldId xmlns:r="http://schemas.openxmlformats.org/officeDocument/2006/relationships" id="257" r:id="R09f20f9c56ca4ccb"/>
    <p:sldId xmlns:r="http://schemas.openxmlformats.org/officeDocument/2006/relationships" id="258" r:id="R3d67231bc1ca4386"/>
    <p:sldId xmlns:r="http://schemas.openxmlformats.org/officeDocument/2006/relationships" id="259" r:id="Raa65704fb2184268"/>
    <p:sldId xmlns:r="http://schemas.openxmlformats.org/officeDocument/2006/relationships" id="260" r:id="R5980c98e1b504d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b5f8f65939144a3" /><Relationship Type="http://schemas.openxmlformats.org/officeDocument/2006/relationships/slideMaster" Target="/ppt/slideMasters/slideMaster1.xml" Id="Redb415779d594258" /><Relationship Type="http://schemas.openxmlformats.org/officeDocument/2006/relationships/notesMaster" Target="/ppt/notesMasters/notesMaster1.xml" Id="R5a688a4d62814bf8" /><Relationship Type="http://schemas.openxmlformats.org/officeDocument/2006/relationships/presProps" Target="/ppt/presProps.xml" Id="R0730b85cb8594cff" /><Relationship Type="http://schemas.openxmlformats.org/officeDocument/2006/relationships/tableStyles" Target="/ppt/tableStyles.xml" Id="R990e8c6ac3c74b84" /><Relationship Type="http://schemas.openxmlformats.org/officeDocument/2006/relationships/slide" Target="/ppt/slides/slide1.xml" Id="R3a8e2d60673742c6" /><Relationship Type="http://schemas.openxmlformats.org/officeDocument/2006/relationships/slide" Target="/ppt/slides/slide2.xml" Id="R09f20f9c56ca4ccb" /><Relationship Type="http://schemas.openxmlformats.org/officeDocument/2006/relationships/slide" Target="/ppt/slides/slide3.xml" Id="R3d67231bc1ca4386" /><Relationship Type="http://schemas.openxmlformats.org/officeDocument/2006/relationships/slide" Target="/ppt/slides/slide4.xml" Id="Raa65704fb2184268" /><Relationship Type="http://schemas.openxmlformats.org/officeDocument/2006/relationships/slide" Target="/ppt/slides/slide5.xml" Id="R5980c98e1b504d9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512d1858a0b4d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ddfabed6ade404c" /><Relationship Type="http://schemas.openxmlformats.org/officeDocument/2006/relationships/notesMaster" Target="/ppt/notesMasters/notesMaster1.xml" Id="R8a7e9d04f473440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49df493020e4c0a" /><Relationship Type="http://schemas.openxmlformats.org/officeDocument/2006/relationships/notesMaster" Target="/ppt/notesMasters/notesMaster1.xml" Id="Ra7704aa906614f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67f5ffd492a4f60" /><Relationship Type="http://schemas.openxmlformats.org/officeDocument/2006/relationships/notesMaster" Target="/ppt/notesMasters/notesMaster1.xml" Id="Rf4330c88124b49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a8b66fe60b40f0" /><Relationship Type="http://schemas.openxmlformats.org/officeDocument/2006/relationships/notesMaster" Target="/ppt/notesMasters/notesMaster1.xml" Id="R5a70b864233c4e7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1438d1fb0014ae8" /><Relationship Type="http://schemas.openxmlformats.org/officeDocument/2006/relationships/notesMaster" Target="/ppt/notesMasters/notesMaster1.xml" Id="R5c8f31b1839b409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Problem statement from the brief: for peak and holiday periods, checkpoint leaders need to understand how traveller demand, staffing and queue/SOP choices interact to create bottlenecks and delays.</a:t>
            </a:r>
          </a:p>
          <a:p xmlns:a="http://schemas.openxmlformats.org/drawingml/2006/main">
            <a:r>
              <a:t>Objective: build an auditable traveller-level DES decision sandbox to compare operational scenarios and SOPs before implementation.</a:t>
            </a:r>
          </a:p>
          <a:p xmlns:a="http://schemas.openxmlformats.org/drawingml/2006/main">
            <a:r>
              <a:t>Evidence boundary: the 24.9-second corridor clip provides a human-adjudicated short-window arrival anchor—not a time-of-day demand profile, service dataset or staffing estimate.</a:t>
            </a:r>
          </a:p>
          <a:p xmlns:a="http://schemas.openxmlformats.org/drawingml/2006/main">
            <a:r>
              <a:t>The resulting sandbox supports conditional operating questions; it is not a site demand forecast or staffing recommendation.</a:t>
            </a:r>
          </a:p>
          <a:p xmlns:a="http://schemas.openxmlformats.org/drawingml/2006/main">
            <a:r>
              <a:t>The main AnyLogic evidence comprises 600 confirmatory, 2,700 capacity-surface, 450 service-variability and 1,000 peak-duration runs.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docs/task3_confirmatory_design.md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docs/task3_service_variability_sensitivity_design.md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simulation/anylogic/HTXCheckpointSimulation/HTXCheckpointSimulation.alpx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keeps the evidence layers separate so each claim can be traced to its source and assumptions.</a:t>
            </a:r>
          </a:p>
          <a:p xmlns:a="http://schemas.openxmlformats.org/drawingml/2006/main">
            <a:r>
              <a:t>The production-reference detector/tracker is licence-permissive YOLOX-S + ByteTrack; the YOLO26m + BoT-SORT run is retained only as a rapid technical-assessment demonstration.</a:t>
            </a:r>
          </a:p>
          <a:p xmlns:a="http://schemas.openxmlformats.org/drawingml/2006/main">
            <a:r>
              <a:t>The queue-layout result is an offline exact-gated conditional replay. The AnyLogic model and UI implement pooled FCFS only.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docs/task2_system_design.md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- results/analysis/service_variability/validation.json</a:t>
            </a:r>
          </a:p>
          <a:p xmlns:a="http://schemas.openxmlformats.org/drawingml/2006/main">
            <a:r>
              <a:t>- results/analysis/peak_duration_sensitivity/validation.json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heatmap is the decision surface: flat regions show one stage masking the other; steep regions expose the active bottleneck.</a:t>
            </a:r>
          </a:p>
          <a:p xmlns:a="http://schemas.openxmlformats.org/drawingml/2006/main">
            <a:r>
              <a:t>The deterministic oracle remains useful as a counterfactual: at the 36/21 model reference it predicts zero wait, whereas HPP arrivals create a 3.93-second P95.</a:t>
            </a:r>
          </a:p>
          <a:p xmlns:a="http://schemas.openxmlformats.org/drawingml/2006/main">
            <a:r>
              <a:t>36/21 is a derived pooled capacity reference, not observed staffing or a recommended roster.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docs/task3_capacity_response_surface_design.md</a:t>
            </a:r>
          </a:p>
          <a:p xmlns:a="http://schemas.openxmlformats.org/drawingml/2006/main">
            <a:r>
              <a:t>- results/analysis/capacity_response_surface/heatmap.csv</a:t>
            </a:r>
          </a:p>
          <a:p xmlns:a="http://schemas.openxmlformats.org/drawingml/2006/main">
            <a:r>
              <a:t>- results/analysis/capacity_response_surface/stage_bottleneck_map.csv</a:t>
            </a:r>
          </a:p>
          <a:p xmlns:a="http://schemas.openxmlformats.org/drawingml/2006/main">
            <a:r>
              <a:t>- results/analysis/capacity_response_surface/ideal_case_comparator.csv</a:t>
            </a:r>
          </a:p>
          <a:p xmlns:a="http://schemas.openxmlformats.org/drawingml/2006/main">
            <a:r>
              <a:t>- results/analysis/capacity_response_surface/validation.json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Duration changes the interpretation. The stable model reference remains bounded, the near-critical case has a long transient, and rho above one accumulates travellers over the finite exposure.</a:t>
            </a:r>
          </a:p>
          <a:p xmlns:a="http://schemas.openxmlformats.org/drawingml/2006/main">
            <a:r>
              <a:t>The two robustness checks identify different operational levers: service variability mainly affects tail and recovery, while pooling absorbs randomness that separate queues cannot share.</a:t>
            </a:r>
          </a:p>
          <a:p xmlns:a="http://schemas.openxmlformats.org/drawingml/2006/main">
            <a:r>
              <a:t>The stationary-HPP extension is a conditional sensitivity, not an observed two-hour peak or a steady-state forecast.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results/analysis/peak_duration_sensitivity/peak_duration_queue_sensitivity.csv</a:t>
            </a:r>
          </a:p>
          <a:p xmlns:a="http://schemas.openxmlformats.org/drawingml/2006/main">
            <a:r>
              <a:t>- results/analysis/peak_duration_sensitivity/validation.json</a:t>
            </a:r>
          </a:p>
          <a:p xmlns:a="http://schemas.openxmlformats.org/drawingml/2006/main">
            <a:r>
              <a:t>- results/analysis/service_variability/paired_contrasts.csv</a:t>
            </a:r>
          </a:p>
          <a:p xmlns:a="http://schemas.openxmlformats.org/drawingml/2006/main">
            <a:r>
              <a:t>- results/analysis/queue_policy_sensitivity/paired_contrasts.csv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output is a decision sequence, not a roster recommendation.</a:t>
            </a:r>
          </a:p>
          <a:p xmlns:a="http://schemas.openxmlformats.org/drawingml/2006/main">
            <a:r>
              <a:t>First calibrate actual time-of-day arrivals, routing, open resources and stage service distributions. Then locate the operating regime and active bottleneck before choosing a lever.</a:t>
            </a:r>
          </a:p>
          <a:p xmlns:a="http://schemas.openxmlformats.org/drawingml/2006/main">
            <a:r>
              <a:t>The pilot must validate queue, tail, recovery, cost, layout and security constraints together.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docs/task1_measurement.md</a:t>
            </a:r>
          </a:p>
          <a:p xmlns:a="http://schemas.openxmlformats.org/drawingml/2006/main">
            <a:r>
              <a:t>- docs/task2_system_design.md</a:t>
            </a:r>
          </a:p>
          <a:p xmlns:a="http://schemas.openxmlformats.org/drawingml/2006/main">
            <a:r>
              <a:t>- docs/task3_results.md</a:t>
            </a:r>
          </a:p>
          <a:p xmlns:a="http://schemas.openxmlformats.org/drawingml/2006/main">
            <a:r>
              <a:t>- docs/task3_peak_duration_sensitivity_design.md</a:t>
            </a:r>
          </a:p>
          <a:p xmlns:a="http://schemas.openxmlformats.org/drawingml/2006/main">
            <a:r>
              <a:t>- LICENSING.md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2ee618f17c4f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b885f6f4084dd0" /><Relationship Type="http://schemas.openxmlformats.org/officeDocument/2006/relationships/slideLayout" Target="/ppt/slideLayouts/slideLayout1.xml" Id="R4a7e107019b849b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a7e107019b849b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ceaccdb564800" /><Relationship Type="http://schemas.openxmlformats.org/officeDocument/2006/relationships/image" Target="/ppt/media/image.png" Id="Rfe52ac687b2343ed" /><Relationship Type="http://schemas.openxmlformats.org/officeDocument/2006/relationships/notesSlide" Target="/ppt/notesSlides/notesSlide1.xml" Id="R72619fe7bb2f4a7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658f514ce84855" /><Relationship Type="http://schemas.openxmlformats.org/officeDocument/2006/relationships/notesSlide" Target="/ppt/notesSlides/notesSlide2.xml" Id="R27e7aec0dff74b5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ef93232a2d4576" /><Relationship Type="http://schemas.openxmlformats.org/officeDocument/2006/relationships/image" Target="/ppt/media/image2.png" Id="R650560ae62024632" /><Relationship Type="http://schemas.openxmlformats.org/officeDocument/2006/relationships/notesSlide" Target="/ppt/notesSlides/notesSlide3.xml" Id="Ra000fa0ef8634d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5268a8fda54504" /><Relationship Type="http://schemas.openxmlformats.org/officeDocument/2006/relationships/image" Target="/ppt/media/image3.png" Id="R4db465cfe1344ba2" /><Relationship Type="http://schemas.openxmlformats.org/officeDocument/2006/relationships/notesSlide" Target="/ppt/notesSlides/notesSlide4.xml" Id="R4d651c2baf88446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d2fba1105b4596" /><Relationship Type="http://schemas.openxmlformats.org/officeDocument/2006/relationships/notesSlide" Target="/ppt/notesSlides/notesSlide5.xml" Id="Ra186f0269d824854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-3-1">
            <a:extLst xmlns:a="http://schemas.openxmlformats.org/drawingml/2006/main">
              <a:ext uri="{FF2B5EF4-FFF2-40B4-BE49-F238E27FC236}">
                <a16:creationId xmlns:a16="http://schemas.microsoft.com/office/drawing/2014/main" id="{9288D322-DDC7-4465-82AC-EDF830779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409700"/>
            <a:ext cx="6048375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Evidence-Driven Checkpoint Simulation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339B7715-2F50-423E-A74B-06CA95BA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333750"/>
            <a:ext cx="5810250" cy="1381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7"/>
              </a:spcAft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OBJECTIVE</a:t>
            </a:r>
          </a:p>
          <a:p xmlns:a="http://schemas.openxmlformats.org/drawingml/2006/main">
            <a:pPr algn="l">
              <a:spcAft>
                <a:spcPts val="10"/>
              </a:spcAft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Build an auditable traveller-level DES decision sandbox to compare operational scenarios and SOPs, quantifying queues, delays, clearance time and bottleneck shifts before implementation.</a:t>
            </a:r>
          </a:p>
          <a:p xmlns:a="http://schemas.openxmlformats.org/drawingml/2006/main">
            <a:pPr algn="l"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EVIDENCE  |  34 accepted R→L · 4,750 validated runs · exact-gated replay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259ADD88-C8CE-4179-B463-D903CA998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81000"/>
            <a:ext cx="8572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WANG YU · HTX DSAI TECHNICAL ASSESSMENT · TASK 4</a:t>
            </a:r>
          </a:p>
        </p:txBody>
      </p:sp>
      <p:sp>
        <p:nvSpPr>
          <p:cNvPr id="5" name="hero-evidence-card">
            <a:extLst xmlns:a="http://schemas.openxmlformats.org/drawingml/2006/main">
              <a:ext uri="{FF2B5EF4-FFF2-40B4-BE49-F238E27FC236}">
                <a16:creationId xmlns:a16="http://schemas.microsoft.com/office/drawing/2014/main" id="{3CCBDDF3-2F4D-45B2-A30E-873909BD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352550"/>
            <a:ext cx="5124450" cy="3905250"/>
          </a:xfrm>
          <a:prstGeom xmlns:a="http://schemas.openxmlformats.org/drawingml/2006/main" prst="roundRect">
            <a:avLst>
              <a:gd name="adj" fmla="val 3415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52ac687b2343ed"/>
          <a:srcRect xmlns:a="http://schemas.openxmlformats.org/drawingml/2006/main" l="0" t="8696" r="0" b="869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705600" y="1390650"/>
            <a:ext cx="5048250" cy="2838450"/>
          </a:xfrm>
          <a:prstGeom xmlns:a="http://schemas.openxmlformats.org/drawingml/2006/main" prst="roundRect">
            <a:avLst/>
          </a:prstGeom>
        </p:spPr>
      </p:pic>
      <p:sp>
        <p:nvSpPr>
          <p:cNvPr id="7" name="hero-metric-count">
            <a:extLst xmlns:a="http://schemas.openxmlformats.org/drawingml/2006/main">
              <a:ext uri="{FF2B5EF4-FFF2-40B4-BE49-F238E27FC236}">
                <a16:creationId xmlns:a16="http://schemas.microsoft.com/office/drawing/2014/main" id="{39E43281-25B5-49FC-9F8A-5E6336B3A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71975"/>
            <a:ext cx="1428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defRPr>
            </a:pPr>
            <a:r>
              <a:rPr sz="2700" b="1">
                <a:solidFill>
                  <a:srgbClr val="4285F4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8" name="hero-metric-count-label">
            <a:extLst xmlns:a="http://schemas.openxmlformats.org/drawingml/2006/main">
              <a:ext uri="{FF2B5EF4-FFF2-40B4-BE49-F238E27FC236}">
                <a16:creationId xmlns:a16="http://schemas.microsoft.com/office/drawing/2014/main" id="{0A560E4F-ED58-4ADA-B33E-722C5F0A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752975"/>
            <a:ext cx="147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9" name="hero-metric-divider">
            <a:extLst xmlns:a="http://schemas.openxmlformats.org/drawingml/2006/main">
              <a:ext uri="{FF2B5EF4-FFF2-40B4-BE49-F238E27FC236}">
                <a16:creationId xmlns:a16="http://schemas.microsoft.com/office/drawing/2014/main" id="{4BE490AD-B1DB-444D-856D-C7A947492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0" cy="5524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10" name="hero-metric-rate">
            <a:extLst xmlns:a="http://schemas.openxmlformats.org/drawingml/2006/main">
              <a:ext uri="{FF2B5EF4-FFF2-40B4-BE49-F238E27FC236}">
                <a16:creationId xmlns:a16="http://schemas.microsoft.com/office/drawing/2014/main" id="{E07274EC-5D66-427C-B24F-94A759BC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391025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1.364/s</a:t>
            </a:r>
          </a:p>
        </p:txBody>
      </p:sp>
      <p:sp>
        <p:nvSpPr>
          <p:cNvPr id="11" name="hero-metric-rate-label">
            <a:extLst xmlns:a="http://schemas.openxmlformats.org/drawingml/2006/main">
              <a:ext uri="{FF2B5EF4-FFF2-40B4-BE49-F238E27FC236}">
                <a16:creationId xmlns:a16="http://schemas.microsoft.com/office/drawing/2014/main" id="{588D3695-C85F-42A9-B865-12D8FB941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47529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short-window anchor</a:t>
            </a:r>
          </a:p>
        </p:txBody>
      </p:sp>
      <p:sp>
        <p:nvSpPr>
          <p:cNvPr id="12" name="hero-boundary">
            <a:extLst xmlns:a="http://schemas.openxmlformats.org/drawingml/2006/main">
              <a:ext uri="{FF2B5EF4-FFF2-40B4-BE49-F238E27FC236}">
                <a16:creationId xmlns:a16="http://schemas.microsoft.com/office/drawing/2014/main" id="{1AE69F7F-F4C7-42C1-9BC0-4F5E82BE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5019675"/>
            <a:ext cx="4705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>
                <a:solidFill>
                  <a:srgbClr val="606A78"/>
                </a:solidFill>
                <a:latin typeface="Helvetica Neue"/>
                <a:ea typeface="Helvetica Neue"/>
                <a:cs typeface="Helvetica Neue"/>
              </a:rPr>
              <a:t>24.9-second corridor-flow anchor · not a time-of-day demand profile or staffing estimate</a:t>
            </a:r>
          </a:p>
        </p:txBody>
      </p:sp>
      <p:sp>
        <p:nvSpPr>
          <p:cNvPr id="14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302F7C1E-79AD-46F9-838D-8F539C783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133600"/>
            <a:ext cx="5810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7"/>
              </a:spcAft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PROBLEM STATEMENT</a:t>
            </a:r>
          </a:p>
          <a:p xmlns:a="http://schemas.openxmlformats.org/drawingml/2006/main">
            <a:pPr algn="l">
              <a:def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For peak and holiday periods, checkpoint leaders need to understand how traveller demand, staffing and queue/SOP choices interact to create bottlenecks and delays.</a:t>
            </a:r>
          </a:p>
        </p:txBody>
      </p:sp>
    </p:spTree>
    <p:extLst>
      <p:ext uri="{BB962C8B-B14F-4D97-AF65-F5344CB8AC3E}">
        <p14:creationId xmlns:p14="http://schemas.microsoft.com/office/powerpoint/2010/main" val="115334464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D38DAD70-2A86-4BD4-978B-BD273F8C6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buNone/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129D017A-65A3-4E55-9F0E-DC4DBDDAD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Measurement, mechanism and inference stay separate—and auditable</a:t>
            </a:r>
          </a:p>
        </p:txBody>
      </p:sp>
      <p:cxnSp>
        <p:nvCxnSpPr>
          <p:cNvPr id="122" name="Google-Shape-2259-p159-4"/>
          <p:cNvCxnSpPr/>
          <p:nvPr/>
        </p:nvCxnSpPr>
        <p:spPr>
          <a:xfrm xmlns:a="http://schemas.openxmlformats.org/drawingml/2006/main">
            <a:off x="337757" y="2857500"/>
            <a:ext cx="12245435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487547AA-ECC4-4531-BD08-1C372AD76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A71D475A-EDF8-4616-87BD-C163D0545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948C384B-9230-4861-A686-4C8CA9CCD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2803970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A90C8628-8309-4514-ABFD-80131C52A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MEASURE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8AC50856-0B9B-495F-B745-200E4DC80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MODEL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B60960C8-3730-4C31-9AE0-C17FFA19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324100"/>
            <a:ext cx="1714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INFER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2353D8EF-2AB9-4BC4-83C6-DCEEEB69E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Executable two-stage DES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Pooled FCFS · finite resources · full drain.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36/21 derived model reference.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9AA59D89-3FCE-416F-9E9C-2F45161A0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34 accepted R→L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CV-assisted; human-adjudicated.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YOLOX-S + ByteTrack deployment reference.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5D61E3C9-CDBA-4B52-866E-004F63082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5105400"/>
            <a:ext cx="3524250" cy="838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Four validated AnyLogic studies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CRN + strict gates; queue replay exact-gated.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No staffing, SLA or site-forecast claim.</a:t>
            </a:r>
          </a:p>
        </p:txBody>
      </p:sp>
      <p:sp>
        <p:nvSpPr>
          <p:cNvPr id="34" name="measure-visual-frame">
            <a:extLst xmlns:a="http://schemas.openxmlformats.org/drawingml/2006/main">
              <a:ext uri="{FF2B5EF4-FFF2-40B4-BE49-F238E27FC236}">
                <a16:creationId xmlns:a16="http://schemas.microsoft.com/office/drawing/2014/main" id="{CE96F3AF-84D3-4A9A-B41B-4E1C7EAD2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6" name="model-visual-frame">
            <a:extLst xmlns:a="http://schemas.openxmlformats.org/drawingml/2006/main">
              <a:ext uri="{FF2B5EF4-FFF2-40B4-BE49-F238E27FC236}">
                <a16:creationId xmlns:a16="http://schemas.microsoft.com/office/drawing/2014/main" id="{4821BA4B-F775-4FEE-88F9-0B0D0EB70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8" name="infer-grid-frame">
            <a:extLst xmlns:a="http://schemas.openxmlformats.org/drawingml/2006/main">
              <a:ext uri="{FF2B5EF4-FFF2-40B4-BE49-F238E27FC236}">
                <a16:creationId xmlns:a16="http://schemas.microsoft.com/office/drawing/2014/main" id="{25FB288A-58F4-4CD6-BF41-781A0030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90850"/>
            <a:ext cx="3524250" cy="1952625"/>
          </a:xfrm>
          <a:prstGeom xmlns:a="http://schemas.openxmlformats.org/drawingml/2006/main" prst="roundRect">
            <a:avLst>
              <a:gd name="adj" fmla="val 6829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CE2EA"/>
            </a:solidFill>
            <a:prstDash val="solid"/>
          </a:ln>
        </p:spPr>
      </p:sp>
      <p:sp>
        <p:nvSpPr>
          <p:cNvPr id="39" name="infer-grid-equation">
            <a:extLst xmlns:a="http://schemas.openxmlformats.org/drawingml/2006/main">
              <a:ext uri="{FF2B5EF4-FFF2-40B4-BE49-F238E27FC236}">
                <a16:creationId xmlns:a16="http://schemas.microsoft.com/office/drawing/2014/main" id="{F1DE746B-A337-4C37-9DB6-3F6DE0C7C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105150"/>
            <a:ext cx="3181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VALIDATED ANYLOGIC STUDIES</a:t>
            </a:r>
          </a:p>
        </p:txBody>
      </p:sp>
      <p:sp>
        <p:nvSpPr>
          <p:cNvPr id="40" name="matrix-col-0">
            <a:extLst xmlns:a="http://schemas.openxmlformats.org/drawingml/2006/main">
              <a:ext uri="{FF2B5EF4-FFF2-40B4-BE49-F238E27FC236}">
                <a16:creationId xmlns:a16="http://schemas.microsoft.com/office/drawing/2014/main" id="{AF16CA2A-689F-4EEA-B50E-0C2F4760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RUNS</a:t>
            </a:r>
          </a:p>
        </p:txBody>
      </p:sp>
      <p:sp>
        <p:nvSpPr>
          <p:cNvPr id="41" name="matrix-col-1">
            <a:extLst xmlns:a="http://schemas.openxmlformats.org/drawingml/2006/main">
              <a:ext uri="{FF2B5EF4-FFF2-40B4-BE49-F238E27FC236}">
                <a16:creationId xmlns:a16="http://schemas.microsoft.com/office/drawing/2014/main" id="{55D7DED6-9946-4155-AFA3-9D5D6BBF8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CRN</a:t>
            </a:r>
          </a:p>
        </p:txBody>
      </p:sp>
      <p:sp>
        <p:nvSpPr>
          <p:cNvPr id="42" name="matrix-col-2">
            <a:extLst xmlns:a="http://schemas.openxmlformats.org/drawingml/2006/main">
              <a:ext uri="{FF2B5EF4-FFF2-40B4-BE49-F238E27FC236}">
                <a16:creationId xmlns:a16="http://schemas.microsoft.com/office/drawing/2014/main" id="{AC7D9101-4265-456C-B2AF-0BD589A25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371850"/>
            <a:ext cx="5810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GATE</a:t>
            </a:r>
          </a:p>
        </p:txBody>
      </p:sp>
      <p:sp>
        <p:nvSpPr>
          <p:cNvPr id="43" name="matrix-row-0">
            <a:extLst xmlns:a="http://schemas.openxmlformats.org/drawingml/2006/main">
              <a:ext uri="{FF2B5EF4-FFF2-40B4-BE49-F238E27FC236}">
                <a16:creationId xmlns:a16="http://schemas.microsoft.com/office/drawing/2014/main" id="{C4F040C5-535E-44AD-9340-43E1F224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6385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CONF</a:t>
            </a:r>
          </a:p>
        </p:txBody>
      </p:sp>
      <p:sp>
        <p:nvSpPr>
          <p:cNvPr id="44" name="matrix-cell-0-0">
            <a:extLst xmlns:a="http://schemas.openxmlformats.org/drawingml/2006/main">
              <a:ext uri="{FF2B5EF4-FFF2-40B4-BE49-F238E27FC236}">
                <a16:creationId xmlns:a16="http://schemas.microsoft.com/office/drawing/2014/main" id="{797CB83C-DD50-4CFD-A969-E38D3FDFE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600</a:t>
            </a:r>
          </a:p>
        </p:txBody>
      </p:sp>
      <p:sp>
        <p:nvSpPr>
          <p:cNvPr id="45" name="matrix-cell-0-1">
            <a:extLst xmlns:a="http://schemas.openxmlformats.org/drawingml/2006/main">
              <a:ext uri="{FF2B5EF4-FFF2-40B4-BE49-F238E27FC236}">
                <a16:creationId xmlns:a16="http://schemas.microsoft.com/office/drawing/2014/main" id="{3758280C-E085-415F-86CB-FBE6F85B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46" name="matrix-cell-0-2">
            <a:extLst xmlns:a="http://schemas.openxmlformats.org/drawingml/2006/main">
              <a:ext uri="{FF2B5EF4-FFF2-40B4-BE49-F238E27FC236}">
                <a16:creationId xmlns:a16="http://schemas.microsoft.com/office/drawing/2014/main" id="{AB43D57A-7C35-4CA3-866E-414AFA31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6385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47" name="matrix-row-1">
            <a:extLst xmlns:a="http://schemas.openxmlformats.org/drawingml/2006/main">
              <a:ext uri="{FF2B5EF4-FFF2-40B4-BE49-F238E27FC236}">
                <a16:creationId xmlns:a16="http://schemas.microsoft.com/office/drawing/2014/main" id="{1D98B5A6-A17C-4362-8967-C3C5C0A29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243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CAP</a:t>
            </a:r>
          </a:p>
        </p:txBody>
      </p:sp>
      <p:sp>
        <p:nvSpPr>
          <p:cNvPr id="48" name="matrix-cell-1-0">
            <a:extLst xmlns:a="http://schemas.openxmlformats.org/drawingml/2006/main">
              <a:ext uri="{FF2B5EF4-FFF2-40B4-BE49-F238E27FC236}">
                <a16:creationId xmlns:a16="http://schemas.microsoft.com/office/drawing/2014/main" id="{06A884C2-2DEB-4C55-B02F-162412B52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2,700</a:t>
            </a:r>
          </a:p>
        </p:txBody>
      </p:sp>
      <p:sp>
        <p:nvSpPr>
          <p:cNvPr id="49" name="matrix-cell-1-1">
            <a:extLst xmlns:a="http://schemas.openxmlformats.org/drawingml/2006/main">
              <a:ext uri="{FF2B5EF4-FFF2-40B4-BE49-F238E27FC236}">
                <a16:creationId xmlns:a16="http://schemas.microsoft.com/office/drawing/2014/main" id="{352B562C-E52E-4313-B6E0-C293AB0A6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0" name="matrix-cell-1-2">
            <a:extLst xmlns:a="http://schemas.openxmlformats.org/drawingml/2006/main">
              <a:ext uri="{FF2B5EF4-FFF2-40B4-BE49-F238E27FC236}">
                <a16:creationId xmlns:a16="http://schemas.microsoft.com/office/drawing/2014/main" id="{055605D0-6D7D-4784-9016-C8DF9AAD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39243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1" name="matrix-row-2">
            <a:extLst xmlns:a="http://schemas.openxmlformats.org/drawingml/2006/main">
              <a:ext uri="{FF2B5EF4-FFF2-40B4-BE49-F238E27FC236}">
                <a16:creationId xmlns:a16="http://schemas.microsoft.com/office/drawing/2014/main" id="{B09D421D-A364-40AB-AA09-278169CEC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21005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CV</a:t>
            </a:r>
          </a:p>
        </p:txBody>
      </p:sp>
      <p:sp>
        <p:nvSpPr>
          <p:cNvPr id="52" name="matrix-cell-2-0">
            <a:extLst xmlns:a="http://schemas.openxmlformats.org/drawingml/2006/main">
              <a:ext uri="{FF2B5EF4-FFF2-40B4-BE49-F238E27FC236}">
                <a16:creationId xmlns:a16="http://schemas.microsoft.com/office/drawing/2014/main" id="{B7FF171F-9420-4AA0-A27D-C5C58E324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450</a:t>
            </a:r>
          </a:p>
        </p:txBody>
      </p:sp>
      <p:sp>
        <p:nvSpPr>
          <p:cNvPr id="53" name="matrix-cell-2-1">
            <a:extLst xmlns:a="http://schemas.openxmlformats.org/drawingml/2006/main">
              <a:ext uri="{FF2B5EF4-FFF2-40B4-BE49-F238E27FC236}">
                <a16:creationId xmlns:a16="http://schemas.microsoft.com/office/drawing/2014/main" id="{95C83C43-7688-4286-BAC5-92EE2B6E6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4" name="matrix-cell-2-2">
            <a:extLst xmlns:a="http://schemas.openxmlformats.org/drawingml/2006/main">
              <a:ext uri="{FF2B5EF4-FFF2-40B4-BE49-F238E27FC236}">
                <a16:creationId xmlns:a16="http://schemas.microsoft.com/office/drawing/2014/main" id="{87931BCE-61EF-45DE-AC82-F3214155C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21005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5" name="matrix-row-3">
            <a:extLst xmlns:a="http://schemas.openxmlformats.org/drawingml/2006/main">
              <a:ext uri="{FF2B5EF4-FFF2-40B4-BE49-F238E27FC236}">
                <a16:creationId xmlns:a16="http://schemas.microsoft.com/office/drawing/2014/main" id="{D32483B3-C94B-4ADF-8A1D-8ABB6DD93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495800"/>
            <a:ext cx="5143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825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PEAK</a:t>
            </a:r>
          </a:p>
        </p:txBody>
      </p:sp>
      <p:sp>
        <p:nvSpPr>
          <p:cNvPr id="56" name="matrix-cell-3-0">
            <a:extLst xmlns:a="http://schemas.openxmlformats.org/drawingml/2006/main">
              <a:ext uri="{FF2B5EF4-FFF2-40B4-BE49-F238E27FC236}">
                <a16:creationId xmlns:a16="http://schemas.microsoft.com/office/drawing/2014/main" id="{709705E3-6709-46DB-B69A-068838B3F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EAF2FF"/>
          </a:solidFill>
          <a:ln xmlns:a="http://schemas.openxmlformats.org/drawingml/2006/main" w="4763">
            <a:solidFill>
              <a:srgbClr val="EAF2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1,000</a:t>
            </a:r>
          </a:p>
        </p:txBody>
      </p:sp>
      <p:sp>
        <p:nvSpPr>
          <p:cNvPr id="57" name="matrix-cell-3-1">
            <a:extLst xmlns:a="http://schemas.openxmlformats.org/drawingml/2006/main">
              <a:ext uri="{FF2B5EF4-FFF2-40B4-BE49-F238E27FC236}">
                <a16:creationId xmlns:a16="http://schemas.microsoft.com/office/drawing/2014/main" id="{D580DDFF-D8DD-4F4D-A764-2890DEAC1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CFE0FF"/>
          </a:solidFill>
          <a:ln xmlns:a="http://schemas.openxmlformats.org/drawingml/2006/main" w="4763">
            <a:solidFill>
              <a:srgbClr val="CFE0FF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8" name="matrix-cell-3-2">
            <a:extLst xmlns:a="http://schemas.openxmlformats.org/drawingml/2006/main">
              <a:ext uri="{FF2B5EF4-FFF2-40B4-BE49-F238E27FC236}">
                <a16:creationId xmlns:a16="http://schemas.microsoft.com/office/drawing/2014/main" id="{FF462A06-0A87-4952-A9CF-C428ED9E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4495800"/>
            <a:ext cx="581025" cy="238125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4285F4"/>
          </a:solidFill>
          <a:ln xmlns:a="http://schemas.openxmlformats.org/drawingml/2006/main" w="4763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PASS</a:t>
            </a:r>
          </a:p>
        </p:txBody>
      </p:sp>
      <p:sp>
        <p:nvSpPr>
          <p:cNvPr id="59" name="infer-grid-footer">
            <a:extLst xmlns:a="http://schemas.openxmlformats.org/drawingml/2006/main">
              <a:ext uri="{FF2B5EF4-FFF2-40B4-BE49-F238E27FC236}">
                <a16:creationId xmlns:a16="http://schemas.microsoft.com/office/drawing/2014/main" id="{F4B05477-1CD9-44E8-A650-91B3CF5EB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695825"/>
            <a:ext cx="318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88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788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QUEUE REPLAY · 2 × 50 paired · exact gate PASS</a:t>
            </a:r>
          </a:p>
        </p:txBody>
      </p:sp>
      <p:sp>
        <p:nvSpPr>
          <p:cNvPr id="100" name="measure-r2l-value">
            <a:extLst xmlns:a="http://schemas.openxmlformats.org/drawingml/2006/main">
              <a:ext uri="{FF2B5EF4-FFF2-40B4-BE49-F238E27FC236}">
                <a16:creationId xmlns:a16="http://schemas.microsoft.com/office/drawing/2014/main" id="{1AD6F9AB-3B95-4EBE-8870-44ADB9DC0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71825"/>
            <a:ext cx="1381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101" name="measure-r2l-label">
            <a:extLst xmlns:a="http://schemas.openxmlformats.org/drawingml/2006/main">
              <a:ext uri="{FF2B5EF4-FFF2-40B4-BE49-F238E27FC236}">
                <a16:creationId xmlns:a16="http://schemas.microsoft.com/office/drawing/2014/main" id="{072C557A-5B2F-490D-B12B-BA429137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102" name="measure-l2r-value">
            <a:extLst xmlns:a="http://schemas.openxmlformats.org/drawingml/2006/main">
              <a:ext uri="{FF2B5EF4-FFF2-40B4-BE49-F238E27FC236}">
                <a16:creationId xmlns:a16="http://schemas.microsoft.com/office/drawing/2014/main" id="{659EABDE-9269-42A2-8097-47179DD91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257550"/>
            <a:ext cx="1095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03" name="measure-l2r-label">
            <a:extLst xmlns:a="http://schemas.openxmlformats.org/drawingml/2006/main">
              <a:ext uri="{FF2B5EF4-FFF2-40B4-BE49-F238E27FC236}">
                <a16:creationId xmlns:a16="http://schemas.microsoft.com/office/drawing/2014/main" id="{DFA3461E-90F0-4773-9450-B9A0D1C52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57625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opposite direction</a:t>
            </a:r>
          </a:p>
        </p:txBody>
      </p:sp>
      <p:sp>
        <p:nvSpPr>
          <p:cNvPr id="104" name="measure-adjudication-flow">
            <a:extLst xmlns:a="http://schemas.openxmlformats.org/drawingml/2006/main">
              <a:ext uri="{FF2B5EF4-FFF2-40B4-BE49-F238E27FC236}">
                <a16:creationId xmlns:a16="http://schemas.microsoft.com/office/drawing/2014/main" id="{9412E7DE-6D34-4598-A24F-AF54075F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CV-assisted  →  human accepted</a:t>
            </a:r>
          </a:p>
        </p:txBody>
      </p:sp>
      <p:sp>
        <p:nvSpPr>
          <p:cNvPr id="112" name="measure-r2l-value">
            <a:extLst xmlns:a="http://schemas.openxmlformats.org/drawingml/2006/main">
              <a:ext uri="{FF2B5EF4-FFF2-40B4-BE49-F238E27FC236}">
                <a16:creationId xmlns:a16="http://schemas.microsoft.com/office/drawing/2014/main" id="{82DB0D08-AA9C-4035-A88B-E0F1C24DF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171825"/>
            <a:ext cx="13811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00" b="1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34</a:t>
            </a:r>
          </a:p>
        </p:txBody>
      </p:sp>
      <p:sp>
        <p:nvSpPr>
          <p:cNvPr id="113" name="measure-r2l-label">
            <a:extLst xmlns:a="http://schemas.openxmlformats.org/drawingml/2006/main">
              <a:ext uri="{FF2B5EF4-FFF2-40B4-BE49-F238E27FC236}">
                <a16:creationId xmlns:a16="http://schemas.microsoft.com/office/drawing/2014/main" id="{86FEDFB1-8D3C-4B1B-ABF9-F697D0787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57625"/>
            <a:ext cx="142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71B3A"/>
                </a:solidFill>
                <a:latin typeface="Helvetica Neue"/>
                <a:ea typeface="Helvetica Neue"/>
                <a:cs typeface="Helvetica Neue"/>
              </a:rPr>
              <a:t>accepted R→L</a:t>
            </a:r>
          </a:p>
        </p:txBody>
      </p:sp>
      <p:sp>
        <p:nvSpPr>
          <p:cNvPr id="114" name="measure-l2r-value">
            <a:extLst xmlns:a="http://schemas.openxmlformats.org/drawingml/2006/main">
              <a:ext uri="{FF2B5EF4-FFF2-40B4-BE49-F238E27FC236}">
                <a16:creationId xmlns:a16="http://schemas.microsoft.com/office/drawing/2014/main" id="{F83AC8B7-C023-4E2E-9E14-FB2F073F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257550"/>
            <a:ext cx="1095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31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12</a:t>
            </a:r>
          </a:p>
        </p:txBody>
      </p:sp>
      <p:sp>
        <p:nvSpPr>
          <p:cNvPr id="115" name="measure-l2r-label">
            <a:extLst xmlns:a="http://schemas.openxmlformats.org/drawingml/2006/main">
              <a:ext uri="{FF2B5EF4-FFF2-40B4-BE49-F238E27FC236}">
                <a16:creationId xmlns:a16="http://schemas.microsoft.com/office/drawing/2014/main" id="{25631FFB-BC31-490D-9C0C-2DF944B03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857625"/>
            <a:ext cx="1285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1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opposite direction</a:t>
            </a:r>
          </a:p>
        </p:txBody>
      </p:sp>
      <p:sp>
        <p:nvSpPr>
          <p:cNvPr id="116" name="measure-adjudication-flow">
            <a:extLst xmlns:a="http://schemas.openxmlformats.org/drawingml/2006/main">
              <a:ext uri="{FF2B5EF4-FFF2-40B4-BE49-F238E27FC236}">
                <a16:creationId xmlns:a16="http://schemas.microsoft.com/office/drawing/2014/main" id="{E02ED123-935F-44EC-9722-95125D7A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1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CV-assisted  →  human accepted</a:t>
            </a:r>
          </a:p>
        </p:txBody>
      </p:sp>
    </p:spTree>
    <p:extLst>
      <p:ext uri="{BB962C8B-B14F-4D97-AF65-F5344CB8AC3E}">
        <p14:creationId xmlns:p14="http://schemas.microsoft.com/office/powerpoint/2010/main" val="46239745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Queueing starts early—and the active bottleneck shifts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54-cell capacity surface · mean P95 total wait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Queueing starts early</a:t>
            </a:r>
          </a:p>
          <a:p xmlns:a="http://schemas.openxmlformats.org/drawingml/2006/main">
            <a:pPr algn="l"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36/21, ideal P95 is 0 s; HPP arrivals produce 3.93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bottleneck shifts</a:t>
            </a:r>
          </a:p>
          <a:p xmlns:a="http://schemas.openxmlformats.org/drawingml/2006/main">
            <a:pPr algn="l"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At I16, Security is masked; at S28, Immigration is masked.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Interpret the regime</a:t>
            </a:r>
          </a:p>
          <a:p xmlns:a="http://schemas.openxmlformats.org/drawingml/2006/main">
            <a:pPr algn="l"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Near ρ ≈ 1, one lost position creates a much larger delay penalty.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300-s Base cohort · pooled FCFS · fixed service · empty/idle start · full drain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54 cells × 50; 2,700 COMPLETE; CRN + validation PASS—not a site forecast.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0560ae62024632"/>
          <a:srcRect xmlns:a="http://schemas.openxmlformats.org/drawingml/2006/main" l="0" t="19554" r="0" b="1955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00050" y="1992894"/>
            <a:ext cx="7620000" cy="33960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results-title">
            <a:extLst xmlns:a="http://schemas.openxmlformats.org/drawingml/2006/main">
              <a:ext uri="{FF2B5EF4-FFF2-40B4-BE49-F238E27FC236}">
                <a16:creationId xmlns:a16="http://schemas.microsoft.com/office/drawing/2014/main" id="{5307FA94-A9D9-4290-8525-95CE199D2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200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Duration exposes the operating regime around ρ ≈ 1</a:t>
            </a:r>
          </a:p>
        </p:txBody>
      </p:sp>
      <p:sp>
        <p:nvSpPr>
          <p:cNvPr id="2" name="chart-label">
            <a:extLst xmlns:a="http://schemas.openxmlformats.org/drawingml/2006/main">
              <a:ext uri="{FF2B5EF4-FFF2-40B4-BE49-F238E27FC236}">
                <a16:creationId xmlns:a16="http://schemas.microsoft.com/office/drawing/2014/main" id="{37E96706-C8D5-4C18-9E58-D0BA6B60F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104900"/>
            <a:ext cx="5810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00" b="0">
                <a:solidFill>
                  <a:srgbClr val="5E6570"/>
                </a:solidFill>
                <a:latin typeface="Helvetica Neue"/>
                <a:ea typeface="Helvetica Neue"/>
                <a:cs typeface="Helvetica Neue"/>
              </a:rPr>
              <a:t>Stationary-HPP duration sensitivity · n=50/cell</a:t>
            </a:r>
          </a:p>
        </p:txBody>
      </p:sp>
      <p:sp>
        <p:nvSpPr>
          <p:cNvPr id="4" name="callout-1">
            <a:extLst xmlns:a="http://schemas.openxmlformats.org/drawingml/2006/main">
              <a:ext uri="{FF2B5EF4-FFF2-40B4-BE49-F238E27FC236}">
                <a16:creationId xmlns:a16="http://schemas.microsoft.com/office/drawing/2014/main" id="{00666F93-A6DE-48B7-9502-9EA92D21A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14954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Stable / near-critical</a:t>
            </a:r>
          </a:p>
          <a:p xmlns:a="http://schemas.openxmlformats.org/drawingml/2006/main">
            <a:pPr algn="l"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ρ=.845: 4.47 s at 120 min. ρ=.992: 55.91 s.</a:t>
            </a:r>
          </a:p>
        </p:txBody>
      </p:sp>
      <p:sp>
        <p:nvSpPr>
          <p:cNvPr id="6" name="callout-2">
            <a:extLst xmlns:a="http://schemas.openxmlformats.org/drawingml/2006/main">
              <a:ext uri="{FF2B5EF4-FFF2-40B4-BE49-F238E27FC236}">
                <a16:creationId xmlns:a16="http://schemas.microsoft.com/office/drawing/2014/main" id="{472EBB82-CE8B-4E35-AB56-7CD70D34C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4797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Accumulating</a:t>
            </a:r>
          </a:p>
          <a:p xmlns:a="http://schemas.openxmlformats.org/drawingml/2006/main">
            <a:pPr algn="l"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ρ=1.043: 307 s. ρ=1.108: 748 s.</a:t>
            </a:r>
          </a:p>
        </p:txBody>
      </p:sp>
      <p:sp>
        <p:nvSpPr>
          <p:cNvPr id="8" name="callout-3">
            <a:extLst xmlns:a="http://schemas.openxmlformats.org/drawingml/2006/main">
              <a:ext uri="{FF2B5EF4-FFF2-40B4-BE49-F238E27FC236}">
                <a16:creationId xmlns:a16="http://schemas.microsoft.com/office/drawing/2014/main" id="{8269973B-90B6-41F4-BD3D-0D28760D9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200525"/>
            <a:ext cx="3143250" cy="933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19050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Robustness checks</a:t>
            </a:r>
          </a:p>
          <a:p xmlns:a="http://schemas.openxmlformats.org/drawingml/2006/main">
            <a:pPr algn="l"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Joint CV1: +96.0 s clearance. Separate queues: +7.58 s P95.</a:t>
            </a:r>
          </a:p>
        </p:txBody>
      </p:sp>
      <p:sp>
        <p:nvSpPr>
          <p:cNvPr id="9" name="results-boundary">
            <a:extLst xmlns:a="http://schemas.openxmlformats.org/drawingml/2006/main">
              <a:ext uri="{FF2B5EF4-FFF2-40B4-BE49-F238E27FC236}">
                <a16:creationId xmlns:a16="http://schemas.microsoft.com/office/drawing/2014/main" id="{3D5C5366-B49C-4D07-BFEE-3692D494D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019800"/>
            <a:ext cx="10572750" cy="504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Only 5/15/30/60/120 min simulated · 1,000/1,000 runs · full drain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Stationary-HPP sensitivity—not observed time-of-day, steady-state SLA or staffing advice.</a:t>
            </a:r>
          </a:p>
        </p:txBody>
      </p:sp>
      <p:sp>
        <p:nvSpPr>
          <p:cNvPr id="10" name="results-footer">
            <a:extLst xmlns:a="http://schemas.openxmlformats.org/drawingml/2006/main">
              <a:ext uri="{FF2B5EF4-FFF2-40B4-BE49-F238E27FC236}">
                <a16:creationId xmlns:a16="http://schemas.microsoft.com/office/drawing/2014/main" id="{27597D40-AFDB-4FC0-ACD9-A4DD815D8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b465cfe1344ba2"/>
          <a:stretch xmlns:a="http://schemas.openxmlformats.org/drawingml/2006/main"/>
        </p:blipFill>
        <p:spPr>
          <a:xfrm xmlns:a="http://schemas.openxmlformats.org/drawingml/2006/main">
            <a:off x="400050" y="1992894"/>
            <a:ext cx="7620000" cy="3396086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87069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781BD1AE-7A11-4633-9882-26A54E61A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5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60D39F14-0FCC-4D48-84A9-503858E93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23850"/>
            <a:ext cx="11404568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0">
                <a:solidFill>
                  <a:srgbClr val="111318"/>
                </a:solidFill>
                <a:latin typeface="Helvetica Neue"/>
                <a:ea typeface="Helvetica Neue"/>
                <a:cs typeface="Helvetica Neue"/>
              </a:rPr>
              <a:t>Calibrate the site, locate the regime, then pilot the right lever</a:t>
            </a:r>
          </a:p>
        </p:txBody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1F734D25-6349-400F-AF66-BD1D9FB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4480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Time-of-day arrivals + signed event ledger</a:t>
            </a:r>
          </a:p>
        </p:txBody>
      </p:sp>
      <p:sp>
        <p:nvSpPr>
          <p:cNvPr id="5" name="Google-Shape-340-p61-6">
            <a:extLst xmlns:a="http://schemas.openxmlformats.org/drawingml/2006/main">
              <a:ext uri="{FF2B5EF4-FFF2-40B4-BE49-F238E27FC236}">
                <a16:creationId xmlns:a16="http://schemas.microsoft.com/office/drawing/2014/main" id="{6E6D46D7-9507-4899-9A12-17E0E292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35528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6" name="TextBox-11-7">
            <a:extLst xmlns:a="http://schemas.openxmlformats.org/drawingml/2006/main">
              <a:ext uri="{FF2B5EF4-FFF2-40B4-BE49-F238E27FC236}">
                <a16:creationId xmlns:a16="http://schemas.microsoft.com/office/drawing/2014/main" id="{CBEFA16B-F7C2-4B24-A924-9B27DF4A8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3429000"/>
            <a:ext cx="6191250" cy="2524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19050" tIns="19050" rIns="38100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DECISION NOW</a:t>
            </a:r>
          </a:p>
          <a:p xmlns:a="http://schemas.openxmlformats.org/drawingml/2006/main">
            <a:pPr algn="l">
              <a:spcAft>
                <a:spcPts val="10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Advance the validated mechanism to site calibration.</a:t>
            </a:r>
          </a:p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WHY THIS MATTERS</a:t>
            </a:r>
          </a:p>
          <a:p xmlns:a="http://schemas.openxmlformats.org/drawingml/2006/main">
            <a:pPr algn="l">
              <a:spcAft>
                <a:spcPts val="10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The model exposes three levers: capacity margin, service variability and queue pooling.</a:t>
            </a:r>
          </a:p>
          <a:p xmlns:a="http://schemas.openxmlformats.org/drawingml/2006/main">
            <a:pPr algn="l">
              <a:spcAft>
                <a:spcPts val="4"/>
              </a:spcAft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BOUNDARY</a:t>
            </a:r>
          </a:p>
          <a:p xmlns:a="http://schemas.openxmlformats.org/drawingml/2006/main">
            <a:pPr algn="l">
              <a:buNone/>
              <a:def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36/21 is a derived pooled reference—not observed staffing; routing, open-resource schedules and service distributions remain unobserved.</a:t>
            </a:r>
          </a:p>
        </p:txBody>
      </p:sp>
      <p:sp>
        <p:nvSpPr>
          <p:cNvPr id="7" name="Content-Placeholder-10-8">
            <a:extLst xmlns:a="http://schemas.openxmlformats.org/drawingml/2006/main">
              <a:ext uri="{FF2B5EF4-FFF2-40B4-BE49-F238E27FC236}">
                <a16:creationId xmlns:a16="http://schemas.microsoft.com/office/drawing/2014/main" id="{9655FE59-28B3-4208-9D38-8CA87FE9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3382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Corridor-to-processing-unit allocation + routing</a:t>
            </a:r>
          </a:p>
        </p:txBody>
      </p:sp>
      <p:sp>
        <p:nvSpPr>
          <p:cNvPr id="8" name="Google-Shape-340-p61-9">
            <a:extLst xmlns:a="http://schemas.openxmlformats.org/drawingml/2006/main">
              <a:ext uri="{FF2B5EF4-FFF2-40B4-BE49-F238E27FC236}">
                <a16:creationId xmlns:a16="http://schemas.microsoft.com/office/drawing/2014/main" id="{CC826CCF-C388-4016-A482-29D3EE880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03860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9" name="Content-Placeholder-10-10">
            <a:extLst xmlns:a="http://schemas.openxmlformats.org/drawingml/2006/main">
              <a:ext uri="{FF2B5EF4-FFF2-40B4-BE49-F238E27FC236}">
                <a16:creationId xmlns:a16="http://schemas.microsoft.com/office/drawing/2014/main" id="{D0C114C5-CD12-458B-A70E-03F6AAD9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1960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Stage service distributions + exceptions</a:t>
            </a:r>
          </a:p>
        </p:txBody>
      </p:sp>
      <p:sp>
        <p:nvSpPr>
          <p:cNvPr id="10" name="Google-Shape-340-p61-11">
            <a:extLst xmlns:a="http://schemas.openxmlformats.org/drawingml/2006/main">
              <a:ext uri="{FF2B5EF4-FFF2-40B4-BE49-F238E27FC236}">
                <a16:creationId xmlns:a16="http://schemas.microsoft.com/office/drawing/2014/main" id="{7BA09227-E603-41B2-A52E-4BA0F973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452437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1" name="Content-Placeholder-10-12">
            <a:extLst xmlns:a="http://schemas.openxmlformats.org/drawingml/2006/main">
              <a:ext uri="{FF2B5EF4-FFF2-40B4-BE49-F238E27FC236}">
                <a16:creationId xmlns:a16="http://schemas.microsoft.com/office/drawing/2014/main" id="{C79C4205-427A-49A2-BB34-A8B17223E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905375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Observed queue policy + physical capacity</a:t>
            </a:r>
          </a:p>
        </p:txBody>
      </p:sp>
      <p:sp>
        <p:nvSpPr>
          <p:cNvPr id="12" name="Google-Shape-340-p61-13">
            <a:extLst xmlns:a="http://schemas.openxmlformats.org/drawingml/2006/main">
              <a:ext uri="{FF2B5EF4-FFF2-40B4-BE49-F238E27FC236}">
                <a16:creationId xmlns:a16="http://schemas.microsoft.com/office/drawing/2014/main" id="{259AF994-9B8C-40D7-A87E-8E5704D99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010150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3" name="Content-Placeholder-10-14">
            <a:extLst xmlns:a="http://schemas.openxmlformats.org/drawingml/2006/main">
              <a:ext uri="{FF2B5EF4-FFF2-40B4-BE49-F238E27FC236}">
                <a16:creationId xmlns:a16="http://schemas.microsoft.com/office/drawing/2014/main" id="{7312FCBA-29F0-4015-BEE9-35804F58E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391150"/>
            <a:ext cx="3911632" cy="428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Production CV licence + security controls</a:t>
            </a:r>
          </a:p>
        </p:txBody>
      </p:sp>
      <p:sp>
        <p:nvSpPr>
          <p:cNvPr id="14" name="Google-Shape-340-p61-15">
            <a:extLst xmlns:a="http://schemas.openxmlformats.org/drawingml/2006/main">
              <a:ext uri="{FF2B5EF4-FFF2-40B4-BE49-F238E27FC236}">
                <a16:creationId xmlns:a16="http://schemas.microsoft.com/office/drawing/2014/main" id="{96FBE91E-D88B-4CA9-A68E-7D71952C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700" y="5495925"/>
            <a:ext cx="212598" cy="212503"/>
          </a:xfrm>
          <a:custGeom xmlns:a="http://schemas.openxmlformats.org/drawingml/2006/main">
            <a:pathLst>
              <a:path w="205740000" h="205740000">
                <a:moveTo>
                  <a:pt x="102870000" y="20574000"/>
                </a:moveTo>
                <a:cubicBezTo>
                  <a:pt x="57426225" y="20574000"/>
                  <a:pt x="20574000" y="57426225"/>
                  <a:pt x="20574000" y="102870000"/>
                </a:cubicBezTo>
                <a:cubicBezTo>
                  <a:pt x="20574000" y="148313775"/>
                  <a:pt x="57426225" y="185166000"/>
                  <a:pt x="102870000" y="185166000"/>
                </a:cubicBezTo>
                <a:cubicBezTo>
                  <a:pt x="148313775" y="185166000"/>
                  <a:pt x="185166000" y="148313775"/>
                  <a:pt x="185166000" y="102870000"/>
                </a:cubicBezTo>
                <a:cubicBezTo>
                  <a:pt x="185166000" y="57426225"/>
                  <a:pt x="148313775" y="20574000"/>
                  <a:pt x="102870000" y="20574000"/>
                </a:cubicBezTo>
                <a:close/>
                <a:moveTo>
                  <a:pt x="0" y="102870000"/>
                </a:moveTo>
                <a:cubicBezTo>
                  <a:pt x="0" y="46053375"/>
                  <a:pt x="46053375" y="0"/>
                  <a:pt x="102870000" y="0"/>
                </a:cubicBezTo>
                <a:cubicBezTo>
                  <a:pt x="159686625" y="0"/>
                  <a:pt x="205740000" y="46053375"/>
                  <a:pt x="205740000" y="102870000"/>
                </a:cubicBezTo>
                <a:cubicBezTo>
                  <a:pt x="205740000" y="159686625"/>
                  <a:pt x="159686625" y="205740000"/>
                  <a:pt x="102870000" y="205740000"/>
                </a:cubicBezTo>
                <a:cubicBezTo>
                  <a:pt x="46053375" y="205740000"/>
                  <a:pt x="0" y="159686625"/>
                  <a:pt x="0" y="102870000"/>
                </a:cubicBezTo>
                <a:close/>
                <a:moveTo>
                  <a:pt x="144789525" y="61026675"/>
                </a:moveTo>
                <a:cubicBezTo>
                  <a:pt x="149437725" y="64293750"/>
                  <a:pt x="150561675" y="70713600"/>
                  <a:pt x="147285075" y="75352275"/>
                </a:cubicBezTo>
                <a:lnTo>
                  <a:pt x="98421825" y="144789525"/>
                </a:lnTo>
                <a:cubicBezTo>
                  <a:pt x="96621600" y="147351750"/>
                  <a:pt x="93764100" y="148942425"/>
                  <a:pt x="90649425" y="149142450"/>
                </a:cubicBezTo>
                <a:cubicBezTo>
                  <a:pt x="87534750" y="149332950"/>
                  <a:pt x="84496275" y="148104225"/>
                  <a:pt x="82400775" y="145799175"/>
                </a:cubicBezTo>
                <a:lnTo>
                  <a:pt x="56683275" y="117509925"/>
                </a:lnTo>
                <a:cubicBezTo>
                  <a:pt x="52863750" y="113299875"/>
                  <a:pt x="53178075" y="106803825"/>
                  <a:pt x="57369075" y="102974775"/>
                </a:cubicBezTo>
                <a:cubicBezTo>
                  <a:pt x="61579125" y="99155250"/>
                  <a:pt x="68075175" y="99469575"/>
                  <a:pt x="71904225" y="103660575"/>
                </a:cubicBezTo>
                <a:lnTo>
                  <a:pt x="88982550" y="122453400"/>
                </a:lnTo>
                <a:lnTo>
                  <a:pt x="130463925" y="63522225"/>
                </a:lnTo>
                <a:cubicBezTo>
                  <a:pt x="133731000" y="58874025"/>
                  <a:pt x="140150850" y="57750075"/>
                  <a:pt x="144789525" y="61026675"/>
                </a:cubicBezTo>
                <a:close/>
              </a:path>
            </a:pathLst>
          </a:custGeom>
          <a:solidFill xmlns:a="http://schemas.openxmlformats.org/drawingml/2006/main">
            <a:srgbClr val="000000"/>
          </a:solidFill>
        </p:spPr>
      </p:sp>
      <p:sp>
        <p:nvSpPr>
          <p:cNvPr id="16" name="phase-gate-1">
            <a:extLst xmlns:a="http://schemas.openxmlformats.org/drawingml/2006/main">
              <a:ext uri="{FF2B5EF4-FFF2-40B4-BE49-F238E27FC236}">
                <a16:creationId xmlns:a16="http://schemas.microsoft.com/office/drawing/2014/main" id="{DC096A07-3EA7-4C3A-838A-9F9AD6A39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AF2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1  CALIBRATE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Time-of-day arrivals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2854E8"/>
                </a:solidFill>
                <a:latin typeface="Helvetica Neue"/>
                <a:ea typeface="Helvetica Neue"/>
                <a:cs typeface="Helvetica Neue"/>
              </a:rPr>
              <a:t>+ stage service</a:t>
            </a:r>
          </a:p>
        </p:txBody>
      </p:sp>
      <p:sp>
        <p:nvSpPr>
          <p:cNvPr id="17" name="phase-gate-2">
            <a:extLst xmlns:a="http://schemas.openxmlformats.org/drawingml/2006/main">
              <a:ext uri="{FF2B5EF4-FFF2-40B4-BE49-F238E27FC236}">
                <a16:creationId xmlns:a16="http://schemas.microsoft.com/office/drawing/2014/main" id="{2D791E4B-7071-45D5-A2EB-04E17960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CFE0FF"/>
          </a:solidFill>
          <a:ln xmlns:a="http://schemas.openxmlformats.org/drawingml/2006/main" w="9525">
            <a:solidFill>
              <a:srgbClr val="4285F4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2  LOCATE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ρ + active bottleneck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0A9F43"/>
                </a:solidFill>
                <a:latin typeface="Helvetica Neue"/>
                <a:ea typeface="Helvetica Neue"/>
                <a:cs typeface="Helvetica Neue"/>
              </a:rPr>
              <a:t>+ duration regime</a:t>
            </a:r>
          </a:p>
        </p:txBody>
      </p:sp>
      <p:sp>
        <p:nvSpPr>
          <p:cNvPr id="18" name="phase-gate-3">
            <a:extLst xmlns:a="http://schemas.openxmlformats.org/drawingml/2006/main">
              <a:ext uri="{FF2B5EF4-FFF2-40B4-BE49-F238E27FC236}">
                <a16:creationId xmlns:a16="http://schemas.microsoft.com/office/drawing/2014/main" id="{4C31623C-81F3-431F-91E4-476978967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4285F4"/>
          </a:solidFill>
          <a:ln xmlns:a="http://schemas.openxmlformats.org/drawingml/2006/main" w="9525">
            <a:solidFill>
              <a:srgbClr val="245FCB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3  PILOT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Capacity, pooling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F05B08"/>
                </a:solidFill>
                <a:latin typeface="Helvetica Neue"/>
                <a:ea typeface="Helvetica Neue"/>
                <a:cs typeface="Helvetica Neue"/>
              </a:rPr>
              <a:t>or variability relief</a:t>
            </a:r>
          </a:p>
        </p:txBody>
      </p:sp>
      <p:sp>
        <p:nvSpPr>
          <p:cNvPr id="19" name="phase-gate-4">
            <a:extLst xmlns:a="http://schemas.openxmlformats.org/drawingml/2006/main">
              <a:ext uri="{FF2B5EF4-FFF2-40B4-BE49-F238E27FC236}">
                <a16:creationId xmlns:a16="http://schemas.microsoft.com/office/drawing/2014/main" id="{D37384A9-C52E-4C40-9878-631158B4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1676400"/>
            <a:ext cx="2914650" cy="1257300"/>
          </a:xfrm>
          <a:prstGeom xmlns:a="http://schemas.openxmlformats.org/drawingml/2006/main" prst="chevron">
            <a:avLst/>
          </a:prstGeom>
          <a:solidFill xmlns:a="http://schemas.openxmlformats.org/drawingml/2006/main">
            <a:srgbClr val="E9ECF2"/>
          </a:solidFill>
          <a:ln xmlns:a="http://schemas.openxmlformats.org/drawingml/2006/main" w="9525">
            <a:solidFill>
              <a:srgbClr val="AAB3C2"/>
            </a:solidFill>
            <a:prstDash val="solid"/>
          </a:ln>
        </p:spPr>
        <p:txBody>
          <a:bodyPr xmlns:a="http://schemas.openxmlformats.org/drawingml/2006/main" wrap="square" lIns="171450" tIns="95250" rIns="266700" bIns="952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4  VALIDATE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Tail, recovery, cost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96579"/>
                </a:solidFill>
                <a:latin typeface="Helvetica Neue"/>
                <a:ea typeface="Helvetica Neue"/>
                <a:cs typeface="Helvetica Neue"/>
              </a:rPr>
              <a:t>+ physical constraints</a:t>
            </a:r>
          </a:p>
        </p:txBody>
      </p:sp>
    </p:spTree>
    <p:extLst>
      <p:ext uri="{BB962C8B-B14F-4D97-AF65-F5344CB8AC3E}">
        <p14:creationId xmlns:p14="http://schemas.microsoft.com/office/powerpoint/2010/main" val="9875442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2026-07-29T12:24:05.0480000Z</dcterms:created>
  <dcterms:modified xsi:type="dcterms:W3CDTF">2026-07-29T12:24:05.0480000Z</dcterms:modified>
</coreProperties>
</file>