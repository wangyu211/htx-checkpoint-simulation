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b29926af4b458e" /><Relationship Type="http://schemas.openxmlformats.org/officeDocument/2006/relationships/extended-properties" Target="/docProps/app.xml" Id="Ra09733b806c24aea" /><Relationship Type="http://schemas.openxmlformats.org/officeDocument/2006/relationships/officeDocument" Target="/ppt/presentation.xml" Id="R1942f47e2a4c47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fc1b0f890a4bab"/>
  </p:sldMasterIdLst>
  <p:notesMasterIdLst>
    <p:notesMasterId xmlns:r="http://schemas.openxmlformats.org/officeDocument/2006/relationships" r:id="Rd4caeb9431c249c2"/>
  </p:notesMasterIdLst>
  <p:sldIdLst>
    <p:sldId xmlns:r="http://schemas.openxmlformats.org/officeDocument/2006/relationships" id="256" r:id="R1dea2565975b46dd"/>
    <p:sldId xmlns:r="http://schemas.openxmlformats.org/officeDocument/2006/relationships" id="257" r:id="R261d75f5f1ee4213"/>
    <p:sldId xmlns:r="http://schemas.openxmlformats.org/officeDocument/2006/relationships" id="258" r:id="R40923528efa2408c"/>
    <p:sldId xmlns:r="http://schemas.openxmlformats.org/officeDocument/2006/relationships" id="259" r:id="R7a706d92187a4065"/>
    <p:sldId xmlns:r="http://schemas.openxmlformats.org/officeDocument/2006/relationships" id="260" r:id="Re8fd703a06aa4c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b65e7cdf84471a" /><Relationship Type="http://schemas.openxmlformats.org/officeDocument/2006/relationships/slideMaster" Target="/ppt/slideMasters/slideMaster1.xml" Id="Ra9fc1b0f890a4bab" /><Relationship Type="http://schemas.openxmlformats.org/officeDocument/2006/relationships/notesMaster" Target="/ppt/notesMasters/notesMaster1.xml" Id="Rd4caeb9431c249c2" /><Relationship Type="http://schemas.openxmlformats.org/officeDocument/2006/relationships/presProps" Target="/ppt/presProps.xml" Id="Rd06568ed41e04282" /><Relationship Type="http://schemas.openxmlformats.org/officeDocument/2006/relationships/tableStyles" Target="/ppt/tableStyles.xml" Id="R2c6cf28a51cd492c" /><Relationship Type="http://schemas.openxmlformats.org/officeDocument/2006/relationships/slide" Target="/ppt/slides/slide1.xml" Id="R1dea2565975b46dd" /><Relationship Type="http://schemas.openxmlformats.org/officeDocument/2006/relationships/slide" Target="/ppt/slides/slide2.xml" Id="R261d75f5f1ee4213" /><Relationship Type="http://schemas.openxmlformats.org/officeDocument/2006/relationships/slide" Target="/ppt/slides/slide3.xml" Id="R40923528efa2408c" /><Relationship Type="http://schemas.openxmlformats.org/officeDocument/2006/relationships/slide" Target="/ppt/slides/slide4.xml" Id="R7a706d92187a4065" /><Relationship Type="http://schemas.openxmlformats.org/officeDocument/2006/relationships/slide" Target="/ppt/slides/slide5.xml" Id="Re8fd703a06aa4c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88ea9e1c7e4a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1ba00af39345ba" /><Relationship Type="http://schemas.openxmlformats.org/officeDocument/2006/relationships/notesMaster" Target="/ppt/notesMasters/notesMaster1.xml" Id="Re9573f9a6ce449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9e88ed5f6442e5" /><Relationship Type="http://schemas.openxmlformats.org/officeDocument/2006/relationships/notesMaster" Target="/ppt/notesMasters/notesMaster1.xml" Id="Re8e8913c96c941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4de11e1ecc45e2" /><Relationship Type="http://schemas.openxmlformats.org/officeDocument/2006/relationships/notesMaster" Target="/ppt/notesMasters/notesMaster1.xml" Id="Rbbe1858f22514b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dc7ecccdd540b6" /><Relationship Type="http://schemas.openxmlformats.org/officeDocument/2006/relationships/notesMaster" Target="/ppt/notesMasters/notesMaster1.xml" Id="Rcfb5e0fe09dd43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2c618f6f48481a" /><Relationship Type="http://schemas.openxmlformats.org/officeDocument/2006/relationships/notesMaster" Target="/ppt/notesMasters/notesMaster1.xml" Id="R6517842c8f5141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statement: the 24.9-second corridor clip provides a defensible arrival snapshot, but it does not measure time-of-day demand, stage-service behaviour or observed staffing.</a:t>
            </a:r>
          </a:p>
          <a:p xmlns:a="http://schemas.openxmlformats.org/drawingml/2006/main">
            <a:r>
              <a:t>Objective: build an auditable traveller-level DES that combines measured arrivals with editable service assumptions to stress-test queues, delays and bottleneck shifts.</a:t>
            </a:r>
          </a:p>
          <a:p xmlns:a="http://schemas.openxmlformats.org/drawingml/2006/main">
            <a:r>
              <a:t>The resulting sandbox supports conditional operating questions; it is not a site demand forecast or staffing recommendation.</a:t>
            </a:r>
          </a:p>
          <a:p xmlns:a="http://schemas.openxmlformats.org/drawingml/2006/main">
            <a:r>
              <a:t>The main AnyLogic evidence comprises 600 confirmatory, 2,700 capacity-surface, 450 service-variability and 1,000 peak-duration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docs/task3_service_variability_sensitivity_design.md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simulation/anylogic/HTXCheckpointSimulation/HTXCheckpointSimulation.alpx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keeps the evidence layers separate so each claim can be traced to its source and assumptions.</a:t>
            </a:r>
          </a:p>
          <a:p xmlns:a="http://schemas.openxmlformats.org/drawingml/2006/main">
            <a:r>
              <a:t>The production-reference detector/tracker is licence-permissive YOLOX-S + ByteTrack; the YOLO26m + BoT-SORT run is retained only as a rapid technical-assessment demonstration.</a:t>
            </a:r>
          </a:p>
          <a:p xmlns:a="http://schemas.openxmlformats.org/drawingml/2006/main">
            <a:r>
              <a:t>The queue-layout result is an offline exact-gated conditional replay. The AnyLogic model and UI implement pooled FCFS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- results/analysis/service_variability/validation.json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heatmap is the decision surface: flat regions show one stage masking the other; steep regions expose the active bottleneck.</a:t>
            </a:r>
          </a:p>
          <a:p xmlns:a="http://schemas.openxmlformats.org/drawingml/2006/main">
            <a:r>
              <a:t>The deterministic oracle remains useful as a counterfactual: at the 36/21 model reference it predicts zero wait, whereas HPP arrivals create a 3.93-second P95.</a:t>
            </a:r>
          </a:p>
          <a:p xmlns:a="http://schemas.openxmlformats.org/drawingml/2006/main">
            <a:r>
              <a:t>36/21 is a derived pooled capacity reference, not observed staffing or a recommended roster.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results/analysis/capacity_response_surface/heatmap.csv</a:t>
            </a:r>
          </a:p>
          <a:p xmlns:a="http://schemas.openxmlformats.org/drawingml/2006/main">
            <a:r>
              <a:t>- results/analysis/capacity_response_surface/stage_bottleneck_map.csv</a:t>
            </a:r>
          </a:p>
          <a:p xmlns:a="http://schemas.openxmlformats.org/drawingml/2006/main">
            <a:r>
              <a:t>- results/analysis/capacity_response_surface/ideal_case_comparator.csv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Duration changes the interpretation. The stable model reference remains bounded, the near-critical case has a long transient, and rho above one accumulates travellers over the finite exposure.</a:t>
            </a:r>
          </a:p>
          <a:p xmlns:a="http://schemas.openxmlformats.org/drawingml/2006/main">
            <a:r>
              <a:t>The two robustness checks identify different operational levers: service variability mainly affects tail and recovery, while pooling absorbs randomness that separate queues cannot share.</a:t>
            </a:r>
          </a:p>
          <a:p xmlns:a="http://schemas.openxmlformats.org/drawingml/2006/main">
            <a:r>
              <a:t>The stationary-HPP extension is a conditional sensitivity, not an observed two-hour peak or a steady-state forecast.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results/analysis/peak_duration_sensitivity/peak_duration_queue_sensitivity.csv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results/analysis/service_variability/paired_contrasts.csv</a:t>
            </a:r>
          </a:p>
          <a:p xmlns:a="http://schemas.openxmlformats.org/drawingml/2006/main">
            <a:r>
              <a:t>- results/analysis/queue_policy_sensitivity/paired_contrasts.csv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output is a decision sequence, not a roster recommendation.</a:t>
            </a:r>
          </a:p>
          <a:p xmlns:a="http://schemas.openxmlformats.org/drawingml/2006/main">
            <a:r>
              <a:t>First calibrate actual time-of-day arrivals, routing, open resources and stage service distributions. Then locate the operating regime and active bottleneck before choosing a lever.</a:t>
            </a:r>
          </a:p>
          <a:p xmlns:a="http://schemas.openxmlformats.org/drawingml/2006/main">
            <a:r>
              <a:t>The pilot must validate queue, tail, recovery, cost, layout and security constraints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cb48e0a2f4b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12d68b199a402c" /><Relationship Type="http://schemas.openxmlformats.org/officeDocument/2006/relationships/slideLayout" Target="/ppt/slideLayouts/slideLayout1.xml" Id="Rb7f985fa2d5642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985fa2d5642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46d0538da49f8" /><Relationship Type="http://schemas.openxmlformats.org/officeDocument/2006/relationships/image" Target="/ppt/media/image.png" Id="R37da2eaefd3a49fa" /><Relationship Type="http://schemas.openxmlformats.org/officeDocument/2006/relationships/notesSlide" Target="/ppt/notesSlides/notesSlide1.xml" Id="Rf8bc77c5908444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f00ee71ce4d97" /><Relationship Type="http://schemas.openxmlformats.org/officeDocument/2006/relationships/notesSlide" Target="/ppt/notesSlides/notesSlide2.xml" Id="Rc602839c430148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884b1367f417b" /><Relationship Type="http://schemas.openxmlformats.org/officeDocument/2006/relationships/image" Target="/ppt/media/image2.png" Id="R2fbeddb3023141c8" /><Relationship Type="http://schemas.openxmlformats.org/officeDocument/2006/relationships/notesSlide" Target="/ppt/notesSlides/notesSlide3.xml" Id="R8056c04d36f740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d25ddc7af42fb" /><Relationship Type="http://schemas.openxmlformats.org/officeDocument/2006/relationships/image" Target="/ppt/media/image3.png" Id="Rd7a4729e931343dc" /><Relationship Type="http://schemas.openxmlformats.org/officeDocument/2006/relationships/notesSlide" Target="/ppt/notesSlides/notesSlide4.xml" Id="Rd5a6288825f540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68d94a06448c6" /><Relationship Type="http://schemas.openxmlformats.org/officeDocument/2006/relationships/notesSlide" Target="/ppt/notesSlides/notesSlide5.xml" Id="Rb26dadaaf07a40e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09700"/>
            <a:ext cx="6048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Evidence-Driven Checkpoint Simulation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0"/>
            <a:ext cx="581025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7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OBJECTIVE</a:t>
            </a:r>
          </a:p>
          <a:p xmlns:a="http://schemas.openxmlformats.org/drawingml/2006/main">
            <a:pPr algn="l">
              <a:spcAft>
                <a:spcPts val="10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Build an auditable traveller-level DES that combines measured arrivals with editable service assumptions to stress-test queues, delays and bottleneck shifts.</a:t>
            </a:r>
          </a:p>
          <a:p xmlns:a="http://schemas.openxmlformats.org/drawingml/2006/main">
            <a:pPr algn="l"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  |  34 accepted R→L · 4,750 validated runs · exact-gated replay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81000"/>
            <a:ext cx="857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 xmlns:a="http://schemas.openxmlformats.org/drawingml/2006/main"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5124450" cy="3905250"/>
          </a:xfrm>
          <a:prstGeom xmlns:a="http://schemas.openxmlformats.org/drawingml/2006/main" prst="roundRect">
            <a:avLst>
              <a:gd name="adj" fmla="val 341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a2eaefd3a49fa"/>
          <a:srcRect xmlns:a="http://schemas.openxmlformats.org/drawingml/2006/main" l="0" t="8696" r="0" b="86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390650"/>
            <a:ext cx="5048250" cy="2838450"/>
          </a:xfrm>
          <a:prstGeom xmlns:a="http://schemas.openxmlformats.org/drawingml/2006/main" prst="roundRect">
            <a:avLst/>
          </a:prstGeom>
        </p:spPr>
      </p:pic>
      <p:sp>
        <p:nvSpPr>
          <p:cNvPr id="7" name="hero-metric-count">
            <a:extLst xmlns:a="http://schemas.openxmlformats.org/drawingml/2006/main"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8" name="hero-metric-count-label">
            <a:extLst xmlns:a="http://schemas.openxmlformats.org/drawingml/2006/main"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2975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9" name="hero-metric-divider">
            <a:extLst xmlns:a="http://schemas.openxmlformats.org/drawingml/2006/main"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hero-metric-rate">
            <a:extLst xmlns:a="http://schemas.openxmlformats.org/drawingml/2006/main"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910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1" name="hero-metric-rate-label">
            <a:extLst xmlns:a="http://schemas.openxmlformats.org/drawingml/2006/main"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529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short-window anchor</a:t>
            </a:r>
          </a:p>
        </p:txBody>
      </p:sp>
      <p:sp>
        <p:nvSpPr>
          <p:cNvPr id="12" name="hero-boundary">
            <a:extLst xmlns:a="http://schemas.openxmlformats.org/drawingml/2006/main"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675"/>
            <a:ext cx="470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Human-adjudicated short-window aggregate · not a long-run demand estimate</a:t>
            </a:r>
          </a:p>
        </p:txBody>
      </p:sp>
      <p:sp>
        <p:nvSpPr>
          <p:cNvPr id="1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02F7C1E-79AD-46F9-838D-8F539C78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5810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7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PROBLEM STATEMENT</a:t>
            </a:r>
          </a:p>
          <a:p xmlns:a="http://schemas.openxmlformats.org/drawingml/2006/main">
            <a:pPr algn="l"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A 24.9-second corridor video provides a defensible arrival snapshot—not time-of-day demand, service behaviour or observed staffing.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Measurement, mechanism and inference stay separate—and auditable</a:t>
            </a:r>
          </a:p>
        </p:txBody>
      </p:sp>
      <p:cxnSp>
        <p:nvCxnSpPr>
          <p:cNvPr id="119" name="Google-Shape-2259-p159-4"/>
          <p:cNvCxnSpPr/>
          <p:nvPr/>
        </p:nvCxnSpPr>
        <p:spPr>
          <a:xfrm xmlns:a="http://schemas.openxmlformats.org/drawingml/2006/main">
            <a:off x="337757" y="285750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Executable two-stage DES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Pooled FCFS · finite resources · full drain.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derived model reference.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34 accepted R→L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CV-assisted; human-adjudicated.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YOLOX-S + ByteTrack deployment reference.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validated AnyLogic studies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CRN + strict gates; queue replay exact-gated.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staffing, SLA or site-forecast claim.</a:t>
            </a:r>
          </a:p>
        </p:txBody>
      </p:sp>
      <p:sp>
        <p:nvSpPr>
          <p:cNvPr id="34" name="measure-visual-frame">
            <a:extLst xmlns:a="http://schemas.openxmlformats.org/drawingml/2006/main"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6" name="model-visual-frame">
            <a:extLst xmlns:a="http://schemas.openxmlformats.org/drawingml/2006/main"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8" name="infer-grid-frame">
            <a:extLst xmlns:a="http://schemas.openxmlformats.org/drawingml/2006/main"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infer-grid-equation">
            <a:extLst xmlns:a="http://schemas.openxmlformats.org/drawingml/2006/main">
              <a:ext uri="{FF2B5EF4-FFF2-40B4-BE49-F238E27FC236}">
                <a16:creationId xmlns:a16="http://schemas.microsoft.com/office/drawing/2014/main" id="{F1DE746B-A337-4C37-9DB6-3F6DE0C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181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VALIDATED ANYLOGIC STUDIES</a:t>
            </a:r>
          </a:p>
        </p:txBody>
      </p:sp>
      <p:sp>
        <p:nvSpPr>
          <p:cNvPr id="40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AF16CA2A-689F-4EEA-B50E-0C2F476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RUNS</a:t>
            </a:r>
          </a:p>
        </p:txBody>
      </p:sp>
      <p:sp>
        <p:nvSpPr>
          <p:cNvPr id="41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55D7DED6-9946-4155-AFA3-9D5D6BB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CRN</a:t>
            </a:r>
          </a:p>
        </p:txBody>
      </p:sp>
      <p:sp>
        <p:nvSpPr>
          <p:cNvPr id="42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AC7D9101-4265-456C-B2AF-0BD589A2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sp>
        <p:nvSpPr>
          <p:cNvPr id="43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C4F040C5-535E-44AD-9340-43E1F2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385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CONF</a:t>
            </a:r>
          </a:p>
        </p:txBody>
      </p:sp>
      <p:sp>
        <p:nvSpPr>
          <p:cNvPr id="44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797CB83C-DD50-4CFD-A969-E38D3FD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600</a:t>
            </a:r>
          </a:p>
        </p:txBody>
      </p:sp>
      <p:sp>
        <p:nvSpPr>
          <p:cNvPr id="45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3758280C-E085-415F-86CB-FBE6F85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6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AB43D57A-7C35-4CA3-866E-414AFA3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7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1D98B5A6-A17C-4362-8967-C3C5C0A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CAP</a:t>
            </a:r>
          </a:p>
        </p:txBody>
      </p:sp>
      <p:sp>
        <p:nvSpPr>
          <p:cNvPr id="48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06A884C2-2DEB-4C55-B02F-162412B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2,700</a:t>
            </a:r>
          </a:p>
        </p:txBody>
      </p:sp>
      <p:sp>
        <p:nvSpPr>
          <p:cNvPr id="49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352B562C-E52E-4313-B6E0-C293AB0A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0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055605D0-6D7D-4784-9016-C8DF9AA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1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B09D421D-A364-40AB-AA09-278169CE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CV</a:t>
            </a:r>
          </a:p>
        </p:txBody>
      </p:sp>
      <p:sp>
        <p:nvSpPr>
          <p:cNvPr id="52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B7FF171F-9420-4AA0-A27D-C5C58E3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450</a:t>
            </a:r>
          </a:p>
        </p:txBody>
      </p:sp>
      <p:sp>
        <p:nvSpPr>
          <p:cNvPr id="53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95C83C43-7688-4286-BAC5-92EE2B6E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87931BCE-61EF-45DE-AC82-F3214155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5" name="matrix-row-3">
            <a:extLst xmlns:a="http://schemas.openxmlformats.org/drawingml/2006/main">
              <a:ext uri="{FF2B5EF4-FFF2-40B4-BE49-F238E27FC236}">
                <a16:creationId xmlns:a16="http://schemas.microsoft.com/office/drawing/2014/main" id="{D32483B3-C94B-4ADF-8A1D-8ABB6DD9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958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PEAK</a:t>
            </a:r>
          </a:p>
        </p:txBody>
      </p:sp>
      <p:sp>
        <p:nvSpPr>
          <p:cNvPr id="56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709705E3-6709-46DB-B69A-068838B3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57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D580DDFF-D8DD-4F4D-A764-2890DEA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8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FF462A06-0A87-4952-A9CF-C428ED9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9" name="infer-grid-footer">
            <a:extLst xmlns:a="http://schemas.openxmlformats.org/drawingml/2006/main">
              <a:ext uri="{FF2B5EF4-FFF2-40B4-BE49-F238E27FC236}">
                <a16:creationId xmlns:a16="http://schemas.microsoft.com/office/drawing/2014/main" id="{F4B05477-1CD9-44E8-A650-91B3CF5E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QUEUE REPLAY · 2 × 50 paired · exact gate PASS</a:t>
            </a:r>
          </a:p>
        </p:txBody>
      </p:sp>
      <p:sp>
        <p:nvSpPr>
          <p:cNvPr id="100" name="measure-r2l-value">
            <a:extLst xmlns:a="http://schemas.openxmlformats.org/drawingml/2006/main">
              <a:ext uri="{FF2B5EF4-FFF2-40B4-BE49-F238E27FC236}">
                <a16:creationId xmlns:a16="http://schemas.microsoft.com/office/drawing/2014/main" id="{1AD6F9AB-3B95-4EBE-8870-44ADB9DC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71825"/>
            <a:ext cx="138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01" name="measure-r2l-label">
            <a:extLst xmlns:a="http://schemas.openxmlformats.org/drawingml/2006/main">
              <a:ext uri="{FF2B5EF4-FFF2-40B4-BE49-F238E27FC236}">
                <a16:creationId xmlns:a16="http://schemas.microsoft.com/office/drawing/2014/main" id="{072C557A-5B2F-490D-B12B-BA429137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02" name="measure-l2r-value">
            <a:extLst xmlns:a="http://schemas.openxmlformats.org/drawingml/2006/main">
              <a:ext uri="{FF2B5EF4-FFF2-40B4-BE49-F238E27FC236}">
                <a16:creationId xmlns:a16="http://schemas.microsoft.com/office/drawing/2014/main" id="{659EABDE-9269-42A2-8097-47179DD9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57550"/>
            <a:ext cx="1095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03" name="measure-l2r-label">
            <a:extLst xmlns:a="http://schemas.openxmlformats.org/drawingml/2006/main">
              <a:ext uri="{FF2B5EF4-FFF2-40B4-BE49-F238E27FC236}">
                <a16:creationId xmlns:a16="http://schemas.microsoft.com/office/drawing/2014/main" id="{DFA3461E-90F0-4773-9450-B9A0D1C5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57625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opposite direction</a:t>
            </a:r>
          </a:p>
        </p:txBody>
      </p:sp>
      <p:sp>
        <p:nvSpPr>
          <p:cNvPr id="104" name="measure-adjudication-flow">
            <a:extLst xmlns:a="http://schemas.openxmlformats.org/drawingml/2006/main">
              <a:ext uri="{FF2B5EF4-FFF2-40B4-BE49-F238E27FC236}">
                <a16:creationId xmlns:a16="http://schemas.microsoft.com/office/drawing/2014/main" id="{9412E7DE-6D34-4598-A24F-AF54075F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CV-assisted  →  human accepted</a:t>
            </a:r>
          </a:p>
        </p:txBody>
      </p:sp>
      <p:sp>
        <p:nvSpPr>
          <p:cNvPr id="112" name="measure-r2l-value">
            <a:extLst xmlns:a="http://schemas.openxmlformats.org/drawingml/2006/main">
              <a:ext uri="{FF2B5EF4-FFF2-40B4-BE49-F238E27FC236}">
                <a16:creationId xmlns:a16="http://schemas.microsoft.com/office/drawing/2014/main" id="{82DB0D08-AA9C-4035-A88B-E0F1C24D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71825"/>
            <a:ext cx="138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13" name="measure-r2l-label">
            <a:extLst xmlns:a="http://schemas.openxmlformats.org/drawingml/2006/main">
              <a:ext uri="{FF2B5EF4-FFF2-40B4-BE49-F238E27FC236}">
                <a16:creationId xmlns:a16="http://schemas.microsoft.com/office/drawing/2014/main" id="{86FEDFB1-8D3C-4B1B-ABF9-F697D078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14" name="measure-l2r-value">
            <a:extLst xmlns:a="http://schemas.openxmlformats.org/drawingml/2006/main">
              <a:ext uri="{FF2B5EF4-FFF2-40B4-BE49-F238E27FC236}">
                <a16:creationId xmlns:a16="http://schemas.microsoft.com/office/drawing/2014/main" id="{F83AC8B7-C023-4E2E-9E14-FB2F073F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57550"/>
            <a:ext cx="1095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15" name="measure-l2r-label">
            <a:extLst xmlns:a="http://schemas.openxmlformats.org/drawingml/2006/main">
              <a:ext uri="{FF2B5EF4-FFF2-40B4-BE49-F238E27FC236}">
                <a16:creationId xmlns:a16="http://schemas.microsoft.com/office/drawing/2014/main" id="{25631FFB-BC31-490D-9C0C-2DF944B0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57625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opposite direction</a:t>
            </a:r>
          </a:p>
        </p:txBody>
      </p:sp>
      <p:sp>
        <p:nvSpPr>
          <p:cNvPr id="116" name="measure-adjudication-flow">
            <a:extLst xmlns:a="http://schemas.openxmlformats.org/drawingml/2006/main">
              <a:ext uri="{FF2B5EF4-FFF2-40B4-BE49-F238E27FC236}">
                <a16:creationId xmlns:a16="http://schemas.microsoft.com/office/drawing/2014/main" id="{E02ED123-935F-44EC-9722-95125D7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CV-assisted  →  human accepted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early—and the active bottleneck shifts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54-cell capacity surface ·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36/21, ideal P95 is 0 s; HPP arrivals produce 3.93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bottleneck shifts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I16, Security is masked; at S28, Immigration is masked.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Interpret the regime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Near ρ ≈ 1, one lost position creates a much larger delay penalty.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300-s Base cohort · pooled FCFS · fixed service · empty/idle start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54 cells × 50; 2,700 COMPLETE; CRN + validation PASS—not a site forecast.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eddb3023141c8"/>
          <a:srcRect xmlns:a="http://schemas.openxmlformats.org/drawingml/2006/main" l="0" t="19554" r="0" b="195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992894"/>
            <a:ext cx="7620000" cy="3396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Duration exposes the operating regime around ρ ≈ 1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Stationary-HPP duration sensitivity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Stable / near-critical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ρ=.845: 4.47 s at 120 min. ρ=.992: 55.91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Accumulating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ρ=1.043: 307 s. ρ=1.108: 748 s.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Robustness checks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Joint CV1: +96.0 s clearance. Separate queues: +7.58 s P95.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Only 5/15/30/60/120 min simulated · 1,000/1,000 runs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Stationary-HPP sensitivity—not observed time-of-day, steady-state SLA or staffing advice.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4729e931343dc"/>
          <a:stretch xmlns:a="http://schemas.openxmlformats.org/drawingml/2006/main"/>
        </p:blipFill>
        <p:spPr>
          <a:xfrm xmlns:a="http://schemas.openxmlformats.org/drawingml/2006/main">
            <a:off x="400050" y="1992894"/>
            <a:ext cx="7620000" cy="3396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Calibrate the site, locate the regime, then pilot the right lever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Time-of-day arrivals + signed event ledger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5528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0"/>
            <a:ext cx="619125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DECISION NOW</a:t>
            </a:r>
          </a:p>
          <a:p xmlns:a="http://schemas.openxmlformats.org/drawingml/2006/main">
            <a:pPr algn="l">
              <a:spcAft>
                <a:spcPts val="10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Advance the validated mechanism to site calibration.</a:t>
            </a:r>
          </a:p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THIS MATTERS</a:t>
            </a:r>
          </a:p>
          <a:p xmlns:a="http://schemas.openxmlformats.org/drawingml/2006/main">
            <a:pPr algn="l">
              <a:spcAft>
                <a:spcPts val="10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model exposes three levers: capacity margin, service variability and queue pooling.</a:t>
            </a:r>
          </a:p>
          <a:p xmlns:a="http://schemas.openxmlformats.org/drawingml/2006/main">
            <a:pPr algn="l">
              <a:spcAft>
                <a:spcPts val="4"/>
              </a:spcAft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 algn="l"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is a derived pooled reference—not observed staffing; routing, open-resource schedules and service distributions remain unobserved.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Corridor-to-processing-unit allocation + routing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03860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1960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Stage service distributions + exceptions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52437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0537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Observed queue policy + physical capacity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01015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911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CV licence + security controls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959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6" name="phase-gate-1">
            <a:extLst xmlns:a="http://schemas.openxmlformats.org/drawingml/2006/main"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1  CALIBRATE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Time-of-day arrivals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+ stage service</a:t>
            </a:r>
          </a:p>
        </p:txBody>
      </p:sp>
      <p:sp>
        <p:nvSpPr>
          <p:cNvPr id="17" name="phase-gate-2">
            <a:extLst xmlns:a="http://schemas.openxmlformats.org/drawingml/2006/main"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2  LOCATE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ρ + active bottleneck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+ duration regime</a:t>
            </a:r>
          </a:p>
        </p:txBody>
      </p:sp>
      <p:sp>
        <p:nvSpPr>
          <p:cNvPr id="18" name="phase-gate-3">
            <a:extLst xmlns:a="http://schemas.openxmlformats.org/drawingml/2006/main"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245FCB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3  PILOT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Capacity, pooling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or variability relief</a:t>
            </a:r>
          </a:p>
        </p:txBody>
      </p:sp>
      <p:sp>
        <p:nvSpPr>
          <p:cNvPr id="19" name="phase-gate-4">
            <a:extLst xmlns:a="http://schemas.openxmlformats.org/drawingml/2006/main"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9ECF2"/>
          </a:solidFill>
          <a:ln xmlns:a="http://schemas.openxmlformats.org/drawingml/2006/main" w="9525">
            <a:solidFill>
              <a:srgbClr val="AAB3C2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  VALIDATE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Tail, recovery, cost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+ physical constraints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2026-07-29T11:58:27.7220000Z</dcterms:created>
  <dcterms:modified xsi:type="dcterms:W3CDTF">2026-07-29T11:58:27.7220000Z</dcterms:modified>
</coreProperties>
</file>