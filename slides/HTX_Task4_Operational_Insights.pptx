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Immigration bottleneck S36/I16</c:v>
          </c:tx>
          <c:spPr>
            <a:ln w="28575">
              <a:solidFill>
                <a:srgbClr val="EC5B05"/>
              </a:solidFill>
              <a:prstDash val="solid"/>
            </a:ln>
          </c:spPr>
          <c:marker>
            <c:symbol val="circle"/>
            <c:size val="8"/>
          </c:marker>
          <c:dLbls>
            <c:dLbl>
              <c:idx val="1"/>
              <c:layout>
                <c:manualLayout>
                  <c:x val="-4.3010752688172832E-3"/>
                  <c:y val="-5.376344086021505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996-4A56-A8AA-622EC67D32F9}"/>
                </c:ext>
              </c:extLst>
            </c:dLbl>
            <c:dLbl>
              <c:idx val="2"/>
              <c:layout>
                <c:manualLayout>
                  <c:x val="-8.6021505376344086E-3"/>
                  <c:y val="-8.60215053763440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A996-4A56-A8AA-622EC67D32F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638" b="1">
                    <a:solidFill>
                      <a:srgbClr val="EC5B05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25</c:v>
              </c:pt>
              <c:pt idx="1">
                <c:v>50</c:v>
              </c:pt>
              <c:pt idx="2">
                <c:v>100</c:v>
              </c:pt>
              <c:pt idx="3">
                <c:v>5000 guard</c:v>
              </c:pt>
            </c:strLit>
          </c:cat>
          <c:val>
            <c:numLit>
              <c:formatCode>0.00</c:formatCode>
              <c:ptCount val="4"/>
              <c:pt idx="0">
                <c:v>6.6576000000000004</c:v>
              </c:pt>
              <c:pt idx="1">
                <c:v>1.0068999999999999</c:v>
              </c:pt>
              <c:pt idx="2">
                <c:v>0</c:v>
              </c:pt>
              <c:pt idx="3">
                <c:v>0</c:v>
              </c:pt>
            </c:numLit>
          </c:val>
          <c:smooth val="1"/>
          <c:extLst>
            <c:ext xmlns:c16="http://schemas.microsoft.com/office/drawing/2014/chart" uri="{C3380CC4-5D6E-409C-BE32-E72D297353CC}">
              <c16:uniqueId val="{00000000-A996-4A56-A8AA-622EC67D32F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 sz="638">
                    <a:solidFill>
                      <a:srgbClr val="596579"/>
                    </a:solidFill>
                  </a:rPr>
                  <a:t>Security→Immigration waiting-space capacity B</a:t>
                </a:r>
              </a:p>
            </c:rich>
          </c:tx>
          <c:overlay val="1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8E0EB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596579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8"/>
          <c:min val="0"/>
        </c:scaling>
        <c:delete val="0"/>
        <c:axPos val="l"/>
        <c:majorGridlines>
          <c:spPr>
            <a:ln w="9525">
              <a:solidFill>
                <a:srgbClr val="E7EBF2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 lang="en-SG" sz="638">
                    <a:solidFill>
                      <a:srgbClr val="596579"/>
                    </a:solidFill>
                  </a:rPr>
                  <a:t>Security resource-time blocked (%)</a:t>
                </a:r>
              </a:p>
            </c:rich>
          </c:tx>
          <c:layout>
            <c:manualLayout>
              <c:xMode val="edge"/>
              <c:yMode val="edge"/>
              <c:x val="4.5161290322580643E-2"/>
              <c:y val="0.11827956989247312"/>
            </c:manualLayout>
          </c:layout>
          <c:overlay val="1"/>
        </c:title>
        <c:numFmt formatCode="0.00" sourceLinked="1"/>
        <c:majorTickMark val="none"/>
        <c:minorTickMark val="none"/>
        <c:tickLblPos val="nextTo"/>
        <c:spPr>
          <a:ln w="9525">
            <a:solidFill>
              <a:srgbClr val="D8E0EB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596579"/>
                </a:solidFill>
              </a:defRPr>
            </a:pPr>
            <a:endParaRPr lang="en-US"/>
          </a:p>
        </c:txPr>
        <c:crossAx val="48650112"/>
        <c:crosses val="autoZero"/>
        <c:crossBetween val="between"/>
        <c:majorUnit val="2"/>
      </c:valAx>
      <c:spPr>
        <a:noFill/>
      </c:spPr>
    </c:plotArea>
    <c:plotVisOnly val="1"/>
    <c:dispBlanksAs val="zero"/>
    <c:showDLblsOverMax val="1"/>
  </c:chart>
  <c:spPr>
    <a:noFill/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1 defines the supplied evidence and the measurement geometry; it deliberately does not present the accepted traveller count or arrival-rate output.</a:t>
            </a:r>
          </a:p>
          <a:p>
            <a:r>
              <a:t>The supplied video is 1280×720 pixels, 748 frames and 24.922788889 seconds long. The recorded frame rate is 30.012692534 FPS, shown as approximately 30 FPS.</a:t>
            </a:r>
          </a:p>
          <a:p>
            <a:r>
              <a:t>The analysis ROI is the full width and top 310 pixels: [0,0,1280,310], described as y&lt;310. The vertical count line is x=640.</a:t>
            </a:r>
          </a:p>
          <a:p>
            <a:r>
              <a:t>Accepted results—34 R→L / 12 L→R and the 1.364213 travellers/s short-window anchor—are presented on slide 2.</a:t>
            </a:r>
          </a:p>
          <a:p>
            <a:r>
              <a:t>The 5,150 AnyLogic runs comprise 600 confirmatory, 2,700 capacity-surface, 450 service-variability, 1,000 peak-duration and 400 finite-buffer runs.</a:t>
            </a:r>
          </a:p>
          <a:p>
            <a:endParaRPr/>
          </a:p>
          <a:p>
            <a:r>
              <a:t>[Sources]</a:t>
            </a:r>
          </a:p>
          <a:p>
            <a:r>
              <a:t>- TechnicalTestVideo-main/TestVidTask.mov</a:t>
            </a:r>
          </a:p>
          <a:p>
            <a:r>
              <a:t>- _work/tracker_ab_yolo26m_20260727/botsort/run_summary.json</a:t>
            </a:r>
          </a:p>
          <a:p>
            <a:r>
              <a:t>- docs/task1_measurement.md</a:t>
            </a:r>
          </a:p>
          <a:p>
            <a:r>
              <a:t>- docs/task3_confirmatory_design.md</a:t>
            </a:r>
          </a:p>
          <a:p>
            <a:r>
              <a:t>- docs/task3_capacity_response_surface_design.md</a:t>
            </a:r>
          </a:p>
          <a:p>
            <a:r>
              <a:t>- docs/task3_service_variability_sensitivity_design.md</a:t>
            </a:r>
          </a:p>
          <a:p>
            <a:r>
              <a:t>- docs/task3_peak_duration_sensitivity_design.md</a:t>
            </a:r>
          </a:p>
          <a:p>
            <a:r>
              <a:t>- config/interstage_buffer_study.json</a:t>
            </a:r>
          </a:p>
          <a:p>
            <a:r>
              <a:t>- results/analysis/interstage_buffer/validation.json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Task 1 implements a basic AI inference pipeline for data collection: supplied video → YOLO26m ONNX person detections → BoT-SORT tracking → crossing ledger → full-video human audit → simulation input.</a:t>
            </a:r>
          </a:p>
          <a:p>
            <a:r>
              <a:t>The screenshot is a literal ROI crop at 14.9 seconds from the executed run. It shows a running count of 18 R→L and 7 L→R at that frame.</a:t>
            </a:r>
          </a:p>
          <a:p>
            <a:r>
              <a:t>The completed BoT-SORT machine candidate ledger contains 30 R→L and 8 L→R candidates. These are not ground truth.</a:t>
            </a:r>
          </a:p>
          <a:p>
            <a:r>
              <a:t>Full-video human review accepts an aggregate of 34 R→L and 12 L→R. The 34 R→L events over 24.922788889 seconds yield the 1.364213 travellers/s short-window simulation anchor.</a:t>
            </a:r>
          </a:p>
          <a:p>
            <a:r>
              <a:t>Detector sensitivity, holding Hungarian association fixed: YOLOX-S 28/8, YOLO26s 38/14, YOLO26m 34/12 (R→L/L→R).</a:t>
            </a:r>
          </a:p>
          <a:p>
            <a:r>
              <a:t>Tracker sensitivity, holding the YOLO26m detection cache fixed: Hungarian 34/12, ByteTrack 27/9, BoT-SORT 30/8.</a:t>
            </a:r>
          </a:p>
          <a:p>
            <a:r>
              <a:t>The exact aggregate match from YOLO26m plus Hungarian is not validation; it can contain compensating misses and duplicates. No signed human event-time ledger exists, so no model accuracy is claimed.</a:t>
            </a:r>
          </a:p>
          <a:p>
            <a:r>
              <a:t>YOLO26m and the Ultralytics BoT-SORT implementation are retained as research/demo benchmarks. Production deployment requires appropriate licensing and security review; YOLOX-S plus Supervision ByteTrack is the licence-friendlier cross-check, not a fully production-cleared system.</a:t>
            </a:r>
          </a:p>
          <a:p>
            <a:endParaRPr/>
          </a:p>
          <a:p>
            <a:r>
              <a:rPr b="1"/>
              <a:t>GMC off：</a:t>
            </a:r>
            <a:r>
              <a:t> Global Motion Compensation</a:t>
            </a:r>
          </a:p>
          <a:p>
            <a:r>
              <a:t>ReID off： Re-identification</a:t>
            </a:r>
          </a:p>
          <a:p>
            <a:endParaRPr/>
          </a:p>
          <a:p>
            <a:r>
              <a:t>[Sources]</a:t>
            </a:r>
          </a:p>
          <a:p>
            <a:r>
              <a:t>- TechnicalTestVideo-main/TestVidTask.mov</a:t>
            </a:r>
          </a:p>
          <a:p>
            <a:r>
              <a:t>- src/cv/yolo26_onnx.py</a:t>
            </a:r>
          </a:p>
          <a:p>
            <a:r>
              <a:t>- src/cv/audit_crossings.py</a:t>
            </a:r>
          </a:p>
          <a:p>
            <a:r>
              <a:t>- _work/tracker_ab_yolo26m_20260727/botsort/annotated_crossings.mp4</a:t>
            </a:r>
          </a:p>
          <a:p>
            <a:r>
              <a:t>- _work/tracker_ab_yolo26m_20260727/botsort/crossing_ledger.csv</a:t>
            </a:r>
          </a:p>
          <a:p>
            <a:r>
              <a:t>- _work/tracker_ab_yolo26m_20260727/botsort/run_summary.json</a:t>
            </a:r>
          </a:p>
          <a:p>
            <a:r>
              <a:t>- data/derived/task1_final_aggregate.csv</a:t>
            </a:r>
          </a:p>
          <a:p>
            <a:r>
              <a:t>- docs/task1_measurement.md</a:t>
            </a:r>
          </a:p>
          <a:p>
            <a:r>
              <a:t>- docs/yolo26_detector_ab.md</a:t>
            </a:r>
          </a:p>
          <a:p>
            <a:r>
              <a:t>- docs/yolo26m_tracker_sensitivity.md</a:t>
            </a:r>
          </a:p>
          <a:p>
            <a:r>
              <a:t>- LICENSING.md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3 exposes the implemented traveller-level DES and separates measured, externally contextualised and assumed inputs.</a:t>
            </a:r>
          </a:p>
          <a:p>
            <a:r>
              <a:t>The 1.364213 travellers/s arrival anchor is the accepted 34 right-to-left crossings divided by the 24.922788889-second supplied clip. The stationary HPP timing and 300-second arrival window are modelling assumptions, not time-of-day calibration.</a:t>
            </a:r>
          </a:p>
          <a:p>
            <a:r>
              <a:t>The Security proxy is 21.818181818 seconds, the reciprocal of the conservative 165 passengers/hour/lane external throughput context. It is not a measured local individual-service distribution.</a:t>
            </a:r>
          </a:p>
          <a:p>
            <a:r>
              <a:t>The Immigration proxy is the named 13-second Singapore bus-hall passport-clearance context. It is a deterministic scenario input, not a measurement from the supplied corridor.</a:t>
            </a:r>
          </a:p>
          <a:p>
            <a:r>
              <a:t>The target utilisation rho &lt;= 0.85 is a design rule retaining at least 15% nominal headroom. Applying ceil(lambda times service demand divided by 0.85) yields the derived pooled reference capacities 36/21; these are not observed staffing.</a:t>
            </a:r>
          </a:p>
          <a:p>
            <a:r>
              <a:t>The model implements two finite-resource stages, pooled FCFS, full drain and explicit logging. Routing, automation, service variability, capacity and arrival duration are controlled experimental assumptions.</a:t>
            </a:r>
          </a:p>
          <a:p>
            <a:endParaRPr/>
          </a:p>
          <a:p>
            <a:r>
              <a:t>[Sources]</a:t>
            </a:r>
          </a:p>
          <a:p>
            <a:r>
              <a:t>- config/provenance_registry.csv</a:t>
            </a:r>
          </a:p>
          <a:p>
            <a:r>
              <a:t>- config/parameter_registry.csv</a:t>
            </a:r>
          </a:p>
          <a:p>
            <a:r>
              <a:t>- docs/task2_system_design.md</a:t>
            </a:r>
          </a:p>
          <a:p>
            <a:r>
              <a:t>- docs/task3_results.md</a:t>
            </a:r>
          </a:p>
          <a:p>
            <a:r>
              <a:t>- https://www.gao.gov/assets/a257263.html</a:t>
            </a:r>
          </a:p>
          <a:p>
            <a:r>
              <a:t>- https://www.mha.gov.sg/media-room/newsroom/average-duration-to-process-travellers-at-bus-halls-of-land-checkpoints-using-qr-code-or-passport/</a:t>
            </a:r>
          </a:p>
          <a:p>
            <a:r>
              <a:t>- results/analysis/capacity_response_surface/validation.json</a:t>
            </a:r>
          </a:p>
          <a:p>
            <a:r>
              <a:t>- results/analysis/service_variability/validation.json</a:t>
            </a:r>
          </a:p>
          <a:p>
            <a:r>
              <a:t>- results/analysis/peak_duration_sensitivity/validation.json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Slide-reading logic:</a:t>
            </a:r>
          </a:p>
          <a:p>
            <a:r>
              <a:t>A tests which capacity combinations cross the congestion threshold.</a:t>
            </a:r>
          </a:p>
          <a:p>
            <a:r>
              <a:t>B tests how each capacity configuration responds as the peak lasts longer.</a:t>
            </a:r>
          </a:p>
          <a:p>
            <a:r>
              <a:t>C tests whether work is cleared or remains at the arrival cutoff.</a:t>
            </a:r>
          </a:p>
          <a:p>
            <a:r>
              <a:t>D tests whether finite interstage space changes traveller delay or relocates congestion upstream.</a:t>
            </a:r>
          </a:p>
          <a:p>
            <a:r>
              <a:t>The 3D surface is built from 54 integer-capacity cells: Security 36 through 28 crossed with Immigration 21 through 16, with 50 replications per cell. The continuous surface only joins simulated cells as a visual guide.</a:t>
            </a:r>
          </a:p>
          <a:p>
            <a:r>
              <a:t>The duration panels retain the executed experiment's Student-t 95% confidence intervals and log-scaled axes. Only 5, 15, 30, 60 and 120 minutes were simulated; connecting lines are visual guides.</a:t>
            </a:r>
          </a:p>
          <a:p>
            <a:r>
              <a:t>The stable 36/21 reference remains bounded. The 30/18 case is below the rho=1 proxy but displays a long near-critical transient as exposure grows. The 29/17 and 28/16 cases exceed the rho=1 proxy and accumulate travellers over the finite arrival window.</a:t>
            </a:r>
          </a:p>
          <a:p>
            <a:r>
              <a:t>The deterministic ideal comparator is a mechanism oracle, not a stochastic forecast: at 36/21 it yields zero wait while HPP arrivals yield a mean replication-level P95 total wait of 3.9288 seconds.</a:t>
            </a:r>
          </a:p>
          <a:p>
            <a:endParaRPr/>
          </a:p>
          <a:p>
            <a:r>
              <a:t>Finite-buffer experiment: 2 regimes × B={25,50,100,5000} × 50 replications = 400 gate-passing runs.</a:t>
            </a:r>
          </a:p>
          <a:p>
            <a:r>
              <a:t>Under the Immigration bottleneck S36/I16, mean Security resource-time blocked is 6.6576% at B25, 1.0069% at B50 and 0% at B100/B5000. B25 and B50 therefore relocate waiting upstream and lock Security capacity.</a:t>
            </a:r>
          </a:p>
          <a:p>
            <a:r>
              <a:t>The mean of replication-level system-time P95s is 70.4274 seconds at every B. All 50 paired replications have an exact P95 delta of 0.000 seconds. This invariance is conditional on the current no-loss, single-path, work-conserving, full-drain tandem assumptions.</a:t>
            </a:r>
          </a:p>
          <a:p>
            <a:r>
              <a:t>The Security-bottleneck control S30/I21 has 0% blocked resource-time at every B. B100 exactly replays the non-binding B5000 comparator in 50/50 pairs in both regimes.</a:t>
            </a:r>
          </a:p>
          <a:p>
            <a:endParaRPr/>
          </a:p>
          <a:p>
            <a:r>
              <a:t>[Sources]</a:t>
            </a:r>
          </a:p>
          <a:p>
            <a:r>
              <a:t>- docs/task3_capacity_response_surface_design.md</a:t>
            </a:r>
          </a:p>
          <a:p>
            <a:r>
              <a:t>- results/analysis/capacity_response_surface/cell_estimates.csv</a:t>
            </a:r>
          </a:p>
          <a:p>
            <a:r>
              <a:t>- results/analysis/capacity_response_surface/ideal_case_comparator.csv</a:t>
            </a:r>
          </a:p>
          <a:p>
            <a:r>
              <a:t>- results/analysis/capacity_response_surface/validation.json</a:t>
            </a:r>
          </a:p>
          <a:p>
            <a:r>
              <a:t>- docs/task3_peak_duration_sensitivity_design.md</a:t>
            </a:r>
          </a:p>
          <a:p>
            <a:r>
              <a:t>- results/analysis/peak_duration_sensitivity/cell_estimates.csv</a:t>
            </a:r>
          </a:p>
          <a:p>
            <a:r>
              <a:t>- results/analysis/peak_duration_sensitivity/validation.json</a:t>
            </a:r>
          </a:p>
          <a:p>
            <a:r>
              <a:t>- results/analysis/interstage_buffer/analysis_manifest.json</a:t>
            </a:r>
          </a:p>
          <a:p>
            <a:r>
              <a:t>- results/analysis/interstage_buffer/cell_estimates.csv</a:t>
            </a:r>
          </a:p>
          <a:p>
            <a:r>
              <a:t>- results/analysis/interstage_buffer/replication_kpis.csv</a:t>
            </a:r>
          </a:p>
          <a:p>
            <a:r>
              <a:t>- results/analysis/interstage_buffer/exact_replay_validation.json</a:t>
            </a:r>
          </a:p>
          <a:p>
            <a:r>
              <a:t>- results/analysis/interstage_buffer/negative_control_invariance.json</a:t>
            </a:r>
          </a:p>
          <a:p>
            <a:r>
              <a:t>- results/analysis/interstage_buffer/validation.json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Closing logic:</a:t>
            </a:r>
          </a:p>
          <a:p>
            <a:r>
              <a:t>The prototype establishes an auditable measurement-to-simulation pipeline and identifies conditional operating mechanisms.</a:t>
            </a:r>
          </a:p>
          <a:p>
            <a:r>
              <a:t>It does not establish a field SLA, causal staffing effect, site forecast or production SOP.</a:t>
            </a:r>
          </a:p>
          <a:p>
            <a:r>
              <a:t>The next gate is representative site instrumentation, calibration and held-out validation. A pilot should begin only after the calibrated model reproduces held-out queue and bottleneck behaviour, with service, recovery, cost, safety and physical-constraint KPIs.</a:t>
            </a:r>
          </a:p>
          <a:p>
            <a:r>
              <a:t>Do not treat 36/21 as a staffing prescription.</a:t>
            </a:r>
          </a:p>
          <a:p>
            <a:endParaRPr/>
          </a:p>
          <a:p>
            <a:r>
              <a:t>[Sources]</a:t>
            </a:r>
          </a:p>
          <a:p>
            <a:r>
              <a:t>- docs/task1_measurement.md</a:t>
            </a:r>
          </a:p>
          <a:p>
            <a:r>
              <a:t>- docs/task2_system_design.md</a:t>
            </a:r>
          </a:p>
          <a:p>
            <a:r>
              <a:t>- docs/task3_results.md</a:t>
            </a:r>
          </a:p>
          <a:p>
            <a:r>
              <a:t>- docs/task3_peak_duration_sensitivity_design.md</a:t>
            </a:r>
          </a:p>
          <a:p>
            <a:r>
              <a:t>- results/analysis/service_variability/validation.json</a:t>
            </a:r>
          </a:p>
          <a:p>
            <a:r>
              <a:t>- results/analysis/peak_duration_sensitivity/validation.json</a:t>
            </a:r>
          </a:p>
          <a:p>
            <a:r>
              <a:t>- results/analysis/interstage_buffer/analysis_manifest.json</a:t>
            </a:r>
          </a:p>
          <a:p>
            <a:r>
              <a:t>- results/analysis/interstage_buffer/cell_estimates.csv</a:t>
            </a:r>
          </a:p>
          <a:p>
            <a:r>
              <a:t>- LICENSING.md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3-1">
            <a:extLst>
              <a:ext uri="{FF2B5EF4-FFF2-40B4-BE49-F238E27FC236}">
                <a16:creationId xmlns:a16="http://schemas.microsoft.com/office/drawing/2014/main" id="{9288D322-DDC7-4465-82AC-EDF830779CE5}"/>
              </a:ext>
            </a:extLst>
          </p:cNvPr>
          <p:cNvSpPr>
            <a:spLocks noGrp="1"/>
          </p:cNvSpPr>
          <p:nvPr/>
        </p:nvSpPr>
        <p:spPr>
          <a:xfrm>
            <a:off x="400050" y="1076325"/>
            <a:ext cx="4206875" cy="552450"/>
          </a:xfrm>
          <a:prstGeom prst="rect">
            <a:avLst/>
          </a:prstGeom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4000"/>
              </a:lnSpc>
              <a:buNone/>
              <a:def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 dirty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Evidence-Driven Checkpoint</a:t>
            </a:r>
            <a:endParaRPr lang="en-US" sz="2850" b="1" dirty="0">
              <a:solidFill>
                <a:srgbClr val="111318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lnSpc>
                <a:spcPct val="94000"/>
              </a:lnSpc>
              <a:buNone/>
              <a:def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 dirty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Simulation</a:t>
            </a:r>
          </a:p>
        </p:txBody>
      </p:sp>
      <p:sp>
        <p:nvSpPr>
          <p:cNvPr id="2" name="Subtitle-4-2">
            <a:extLst>
              <a:ext uri="{FF2B5EF4-FFF2-40B4-BE49-F238E27FC236}">
                <a16:creationId xmlns:a16="http://schemas.microsoft.com/office/drawing/2014/main" id="{339B7715-2F50-423E-A74B-06CA95BAB84F}"/>
              </a:ext>
            </a:extLst>
          </p:cNvPr>
          <p:cNvSpPr>
            <a:spLocks noGrp="1"/>
          </p:cNvSpPr>
          <p:nvPr/>
        </p:nvSpPr>
        <p:spPr>
          <a:xfrm>
            <a:off x="390525" y="3333750"/>
            <a:ext cx="5810250" cy="13811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7"/>
              </a:spcAft>
              <a:buNone/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dirty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OBJECTIVE</a:t>
            </a:r>
          </a:p>
          <a:p>
            <a:pPr marL="285750" indent="-285750" algn="l">
              <a:spcAft>
                <a:spcPts val="10"/>
              </a:spcAft>
              <a:buFont typeface="Arial" panose="020B0604020202020204" pitchFamily="34" charset="0"/>
              <a:buChar char="•"/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dirty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Build an auditable </a:t>
            </a:r>
            <a:r>
              <a:rPr sz="1350" dirty="0" err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traveller</a:t>
            </a:r>
            <a:r>
              <a:rPr sz="1350" dirty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-level DES decision sandbox to compare operational scenarios and SOPs, quantifying queues, delays, clearance time and bottleneck shifts before implementation.</a:t>
            </a:r>
          </a:p>
        </p:txBody>
      </p:sp>
      <p:sp>
        <p:nvSpPr>
          <p:cNvPr id="3" name="Subtitle-4-3">
            <a:extLst>
              <a:ext uri="{FF2B5EF4-FFF2-40B4-BE49-F238E27FC236}">
                <a16:creationId xmlns:a16="http://schemas.microsoft.com/office/drawing/2014/main" id="{259ADD88-C8CE-4179-B463-D903CA998FDC}"/>
              </a:ext>
            </a:extLst>
          </p:cNvPr>
          <p:cNvSpPr>
            <a:spLocks noGrp="1"/>
          </p:cNvSpPr>
          <p:nvPr/>
        </p:nvSpPr>
        <p:spPr>
          <a:xfrm>
            <a:off x="393668" y="381000"/>
            <a:ext cx="8572500" cy="457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WANG YU · HTX DSAI TECHNICAL ASSESSMENT · TASK 4</a:t>
            </a:r>
          </a:p>
        </p:txBody>
      </p:sp>
      <p:sp>
        <p:nvSpPr>
          <p:cNvPr id="5" name="hero-evidence-card">
            <a:extLst>
              <a:ext uri="{FF2B5EF4-FFF2-40B4-BE49-F238E27FC236}">
                <a16:creationId xmlns:a16="http://schemas.microsoft.com/office/drawing/2014/main" id="{3CCBDDF3-2F4D-45B2-A30E-873909BDFA1C}"/>
              </a:ext>
            </a:extLst>
          </p:cNvPr>
          <p:cNvSpPr>
            <a:spLocks noGrp="1"/>
          </p:cNvSpPr>
          <p:nvPr/>
        </p:nvSpPr>
        <p:spPr>
          <a:xfrm>
            <a:off x="6667500" y="1352550"/>
            <a:ext cx="5124450" cy="3905250"/>
          </a:xfrm>
          <a:prstGeom prst="roundRect">
            <a:avLst>
              <a:gd name="adj" fmla="val 3415"/>
            </a:avLst>
          </a:prstGeom>
          <a:noFill/>
          <a:ln w="9525">
            <a:solidFill>
              <a:srgbClr val="DCE2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4" name="Picture 1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705600" y="1390650"/>
            <a:ext cx="5048250" cy="2838450"/>
          </a:xfrm>
          <a:prstGeom prst="roundRect">
            <a:avLst/>
          </a:prstGeom>
        </p:spPr>
      </p:pic>
      <p:sp>
        <p:nvSpPr>
          <p:cNvPr id="7" name="hero-metric-count">
            <a:extLst>
              <a:ext uri="{FF2B5EF4-FFF2-40B4-BE49-F238E27FC236}">
                <a16:creationId xmlns:a16="http://schemas.microsoft.com/office/drawing/2014/main" id="{39E43281-25B5-49FC-9F8A-5E6336B3A9E7}"/>
              </a:ext>
            </a:extLst>
          </p:cNvPr>
          <p:cNvSpPr>
            <a:spLocks noGrp="1"/>
          </p:cNvSpPr>
          <p:nvPr/>
        </p:nvSpPr>
        <p:spPr>
          <a:xfrm>
            <a:off x="6858000" y="4371975"/>
            <a:ext cx="1428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00"/>
          </a:bodyPr>
          <a:lstStyle/>
          <a:p>
            <a:pPr>
              <a:buNone/>
              <a:def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rPr>
              <a:t>1280×720</a:t>
            </a:r>
          </a:p>
        </p:txBody>
      </p:sp>
      <p:sp>
        <p:nvSpPr>
          <p:cNvPr id="8" name="hero-metric-count-label">
            <a:extLst>
              <a:ext uri="{FF2B5EF4-FFF2-40B4-BE49-F238E27FC236}">
                <a16:creationId xmlns:a16="http://schemas.microsoft.com/office/drawing/2014/main" id="{0A560E4F-ED58-4ADA-B33E-722C5F0A54FE}"/>
              </a:ext>
            </a:extLst>
          </p:cNvPr>
          <p:cNvSpPr>
            <a:spLocks noGrp="1"/>
          </p:cNvSpPr>
          <p:nvPr/>
        </p:nvSpPr>
        <p:spPr>
          <a:xfrm>
            <a:off x="6858000" y="4752975"/>
            <a:ext cx="1476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source frame (px)</a:t>
            </a:r>
          </a:p>
        </p:txBody>
      </p:sp>
      <p:sp>
        <p:nvSpPr>
          <p:cNvPr id="9" name="hero-metric-divider">
            <a:extLst>
              <a:ext uri="{FF2B5EF4-FFF2-40B4-BE49-F238E27FC236}">
                <a16:creationId xmlns:a16="http://schemas.microsoft.com/office/drawing/2014/main" id="{4BE490AD-B1DB-444D-856D-C7A947492001}"/>
              </a:ext>
            </a:extLst>
          </p:cNvPr>
          <p:cNvSpPr>
            <a:spLocks noGrp="1"/>
          </p:cNvSpPr>
          <p:nvPr/>
        </p:nvSpPr>
        <p:spPr>
          <a:xfrm>
            <a:off x="8429625" y="4410075"/>
            <a:ext cx="0" cy="552450"/>
          </a:xfrm>
          <a:prstGeom prst="line">
            <a:avLst/>
          </a:prstGeom>
          <a:noFill/>
          <a:ln w="9525">
            <a:solidFill>
              <a:srgbClr val="DC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hero-metric-rate">
            <a:extLst>
              <a:ext uri="{FF2B5EF4-FFF2-40B4-BE49-F238E27FC236}">
                <a16:creationId xmlns:a16="http://schemas.microsoft.com/office/drawing/2014/main" id="{E07274EC-5D66-427C-B24F-94A759BC3756}"/>
              </a:ext>
            </a:extLst>
          </p:cNvPr>
          <p:cNvSpPr>
            <a:spLocks noGrp="1"/>
          </p:cNvSpPr>
          <p:nvPr/>
        </p:nvSpPr>
        <p:spPr>
          <a:xfrm>
            <a:off x="8648700" y="4391025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>
              <a:buNone/>
              <a:def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748 frames</a:t>
            </a:r>
          </a:p>
        </p:txBody>
      </p:sp>
      <p:sp>
        <p:nvSpPr>
          <p:cNvPr id="11" name="hero-metric-rate-label">
            <a:extLst>
              <a:ext uri="{FF2B5EF4-FFF2-40B4-BE49-F238E27FC236}">
                <a16:creationId xmlns:a16="http://schemas.microsoft.com/office/drawing/2014/main" id="{588D3695-C85F-42A9-B865-12D8FB9413DC}"/>
              </a:ext>
            </a:extLst>
          </p:cNvPr>
          <p:cNvSpPr>
            <a:spLocks noGrp="1"/>
          </p:cNvSpPr>
          <p:nvPr/>
        </p:nvSpPr>
        <p:spPr>
          <a:xfrm>
            <a:off x="8648700" y="4752975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24.923 s · ≈30 FPS</a:t>
            </a:r>
          </a:p>
        </p:txBody>
      </p:sp>
      <p:sp>
        <p:nvSpPr>
          <p:cNvPr id="12" name="hero-boundary">
            <a:extLst>
              <a:ext uri="{FF2B5EF4-FFF2-40B4-BE49-F238E27FC236}">
                <a16:creationId xmlns:a16="http://schemas.microsoft.com/office/drawing/2014/main" id="{1AE69F7F-F4C7-42C1-9BC0-4F5E82BECE8B}"/>
              </a:ext>
            </a:extLst>
          </p:cNvPr>
          <p:cNvSpPr>
            <a:spLocks noGrp="1"/>
          </p:cNvSpPr>
          <p:nvPr/>
        </p:nvSpPr>
        <p:spPr>
          <a:xfrm>
            <a:off x="6858000" y="5019675"/>
            <a:ext cx="4705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ROI 1280×310 px (y&lt;310) · count line x=640</a:t>
            </a:r>
          </a:p>
        </p:txBody>
      </p:sp>
      <p:sp>
        <p:nvSpPr>
          <p:cNvPr id="14" name="cover-subtitle">
            <a:extLst>
              <a:ext uri="{FF2B5EF4-FFF2-40B4-BE49-F238E27FC236}">
                <a16:creationId xmlns:a16="http://schemas.microsoft.com/office/drawing/2014/main" id="{302F7C1E-79AD-46F9-838D-8F539C78353D}"/>
              </a:ext>
            </a:extLst>
          </p:cNvPr>
          <p:cNvSpPr>
            <a:spLocks noGrp="1"/>
          </p:cNvSpPr>
          <p:nvPr/>
        </p:nvSpPr>
        <p:spPr>
          <a:xfrm>
            <a:off x="390525" y="2133600"/>
            <a:ext cx="5810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7"/>
              </a:spcAft>
              <a:buNone/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dirty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PROBLEM STATEMENT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dirty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For peak and holiday periods, checkpoint leaders need to understand how traveler demand, staffing and queue/SOP choices interact to create bottlenecks and delays.</a:t>
            </a:r>
          </a:p>
        </p:txBody>
      </p:sp>
      <p:sp>
        <p:nvSpPr>
          <p:cNvPr id="13" name="Subtitle-4-2">
            <a:extLst>
              <a:ext uri="{FF2B5EF4-FFF2-40B4-BE49-F238E27FC236}">
                <a16:creationId xmlns:a16="http://schemas.microsoft.com/office/drawing/2014/main" id="{7DFDC8A2-06FF-4CB8-E1E1-F1F62A330469}"/>
              </a:ext>
            </a:extLst>
          </p:cNvPr>
          <p:cNvSpPr>
            <a:spLocks noGrp="1"/>
          </p:cNvSpPr>
          <p:nvPr/>
        </p:nvSpPr>
        <p:spPr>
          <a:xfrm>
            <a:off x="400050" y="4660392"/>
            <a:ext cx="6229350" cy="138112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120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dirty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EVIDENCE</a:t>
            </a:r>
          </a:p>
          <a:p>
            <a:pPr marL="171450" indent="-171450" algn="l">
              <a:buFont typeface="Arial" panose="020B0604020202020204" pitchFamily="34" charset="0"/>
              <a:buChar char="•"/>
              <a:defRPr sz="120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dirty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Supplied corridor video defines a bounded measurement window—not time-of-day demand</a:t>
            </a:r>
          </a:p>
          <a:p>
            <a:pPr marL="171450" indent="-171450" algn="l">
              <a:buFont typeface="Arial" panose="020B0604020202020204" pitchFamily="34" charset="0"/>
              <a:buChar char="•"/>
              <a:defRPr sz="120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dirty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5,150 gate-passing </a:t>
            </a:r>
            <a:r>
              <a:rPr sz="1200" dirty="0" err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AnyLogic</a:t>
            </a:r>
            <a:r>
              <a:rPr sz="1200" dirty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 runs + separate exact-gated queue replay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84666-A9B8-799A-B234-1362C7D8F84D}"/>
              </a:ext>
            </a:extLst>
          </p:cNvPr>
          <p:cNvSpPr>
            <a:spLocks noGrp="1"/>
          </p:cNvSpPr>
          <p:nvPr/>
        </p:nvSpPr>
        <p:spPr>
          <a:xfrm>
            <a:off x="876300" y="5715000"/>
            <a:ext cx="2209800" cy="457200"/>
          </a:xfrm>
          <a:prstGeom prst="roundRect">
            <a:avLst>
              <a:gd name="adj" fmla="val 45833"/>
            </a:avLst>
          </a:prstGeom>
          <a:solidFill>
            <a:srgbClr val="EAF0FF"/>
          </a:solidFill>
          <a:ln w="11906">
            <a:solidFill>
              <a:srgbClr val="315CE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wrap="none" lIns="76200" tIns="38100" rIns="76200" bIns="38100" anchor="ctr">
            <a:noAutofit/>
          </a:bodyPr>
          <a:lstStyle/>
          <a:p>
            <a:pPr algn="ctr">
              <a:buNone/>
              <a:defRPr sz="1350" b="1">
                <a:solidFill>
                  <a:srgbClr val="315C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15CE8"/>
                </a:solidFill>
                <a:latin typeface="Helvetica Neue"/>
                <a:ea typeface="Helvetica Neue"/>
                <a:cs typeface="Helvetica Neue"/>
              </a:rPr>
              <a:t>01  MEASURE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7D683D-606F-3CB7-EE4B-6EAA30675124}"/>
              </a:ext>
            </a:extLst>
          </p:cNvPr>
          <p:cNvSpPr>
            <a:spLocks noGrp="1"/>
          </p:cNvSpPr>
          <p:nvPr/>
        </p:nvSpPr>
        <p:spPr>
          <a:xfrm>
            <a:off x="4991100" y="5715000"/>
            <a:ext cx="2209800" cy="457200"/>
          </a:xfrm>
          <a:prstGeom prst="roundRect">
            <a:avLst>
              <a:gd name="adj" fmla="val 45833"/>
            </a:avLst>
          </a:prstGeom>
          <a:solidFill>
            <a:srgbClr val="EEF2F7"/>
          </a:solidFill>
          <a:ln w="11906">
            <a:solidFill>
              <a:srgbClr val="27364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wrap="none" lIns="76200" tIns="38100" rIns="76200" bIns="38100" anchor="ctr">
            <a:noAutofit/>
          </a:bodyPr>
          <a:lstStyle/>
          <a:p>
            <a:pPr algn="ctr">
              <a:buNone/>
              <a:defRPr sz="1350" b="1">
                <a:solidFill>
                  <a:srgbClr val="2736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7364D"/>
                </a:solidFill>
                <a:latin typeface="Helvetica Neue"/>
                <a:ea typeface="Helvetica Neue"/>
                <a:cs typeface="Helvetica Neue"/>
              </a:rPr>
              <a:t>02  SIMULATE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AB0A34-1123-D5DB-4C10-71D633348CB2}"/>
              </a:ext>
            </a:extLst>
          </p:cNvPr>
          <p:cNvSpPr>
            <a:spLocks noGrp="1"/>
          </p:cNvSpPr>
          <p:nvPr/>
        </p:nvSpPr>
        <p:spPr>
          <a:xfrm>
            <a:off x="9105900" y="5715000"/>
            <a:ext cx="2209800" cy="457200"/>
          </a:xfrm>
          <a:prstGeom prst="roundRect">
            <a:avLst>
              <a:gd name="adj" fmla="val 45833"/>
            </a:avLst>
          </a:prstGeom>
          <a:solidFill>
            <a:srgbClr val="EAF8EF"/>
          </a:solidFill>
          <a:ln w="11906">
            <a:solidFill>
              <a:srgbClr val="0A984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wrap="none" lIns="76200" tIns="38100" rIns="76200" bIns="38100" anchor="ctr">
            <a:noAutofit/>
          </a:bodyPr>
          <a:lstStyle/>
          <a:p>
            <a:pPr algn="ctr">
              <a:buNone/>
              <a:defRPr sz="1350" b="1">
                <a:solidFill>
                  <a:srgbClr val="0A98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A9848"/>
                </a:solidFill>
                <a:latin typeface="Helvetica Neue"/>
                <a:ea typeface="Helvetica Neue"/>
                <a:cs typeface="Helvetica Neue"/>
              </a:rPr>
              <a:t>03  DECIDE</a:t>
            </a:r>
          </a:p>
        </p:txBody>
      </p:sp>
      <p:cxnSp>
        <p:nvCxnSpPr>
          <p:cNvPr id="196" name="Straight Arrow Connector 20"/>
          <p:cNvCxnSpPr>
            <a:stCxn id="6" idx="3"/>
            <a:endCxn id="16" idx="1"/>
          </p:cNvCxnSpPr>
          <p:nvPr/>
        </p:nvCxnSpPr>
        <p:spPr>
          <a:xfrm>
            <a:off x="3086100" y="5943600"/>
            <a:ext cx="1905000" cy="0"/>
          </a:xfrm>
          <a:prstGeom prst="straightConnector1">
            <a:avLst/>
          </a:prstGeom>
          <a:ln w="19050">
            <a:solidFill>
              <a:srgbClr val="AAB4C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22"/>
          <p:cNvCxnSpPr>
            <a:stCxn id="16" idx="3"/>
            <a:endCxn id="18" idx="1"/>
          </p:cNvCxnSpPr>
          <p:nvPr/>
        </p:nvCxnSpPr>
        <p:spPr>
          <a:xfrm>
            <a:off x="7200900" y="5943600"/>
            <a:ext cx="1905000" cy="0"/>
          </a:xfrm>
          <a:prstGeom prst="straightConnector1">
            <a:avLst/>
          </a:prstGeom>
          <a:ln w="19050">
            <a:solidFill>
              <a:srgbClr val="AAB4C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nav-measure-subtitle">
            <a:extLst>
              <a:ext uri="{FF2B5EF4-FFF2-40B4-BE49-F238E27FC236}">
                <a16:creationId xmlns:a16="http://schemas.microsoft.com/office/drawing/2014/main" id="{7ED1FEE2-30CD-4BE6-88DF-48D889FD3957}"/>
              </a:ext>
            </a:extLst>
          </p:cNvPr>
          <p:cNvSpPr>
            <a:spLocks noGrp="1"/>
          </p:cNvSpPr>
          <p:nvPr/>
        </p:nvSpPr>
        <p:spPr>
          <a:xfrm>
            <a:off x="742950" y="6257925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buNone/>
              <a:defRPr sz="10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Video → audited arrival anchor</a:t>
            </a:r>
          </a:p>
        </p:txBody>
      </p:sp>
      <p:sp>
        <p:nvSpPr>
          <p:cNvPr id="26" name="nav-simulate-subtitle">
            <a:extLst>
              <a:ext uri="{FF2B5EF4-FFF2-40B4-BE49-F238E27FC236}">
                <a16:creationId xmlns:a16="http://schemas.microsoft.com/office/drawing/2014/main" id="{955B9D4F-3F13-444A-AC29-4C5A5AAEBCBC}"/>
              </a:ext>
            </a:extLst>
          </p:cNvPr>
          <p:cNvSpPr>
            <a:spLocks noGrp="1"/>
          </p:cNvSpPr>
          <p:nvPr/>
        </p:nvSpPr>
        <p:spPr>
          <a:xfrm>
            <a:off x="4857750" y="6257925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buNone/>
              <a:defRPr sz="10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Traveller-level DES</a:t>
            </a:r>
          </a:p>
        </p:txBody>
      </p:sp>
      <p:sp>
        <p:nvSpPr>
          <p:cNvPr id="27" name="nav-decide-subtitle">
            <a:extLst>
              <a:ext uri="{FF2B5EF4-FFF2-40B4-BE49-F238E27FC236}">
                <a16:creationId xmlns:a16="http://schemas.microsoft.com/office/drawing/2014/main" id="{5D67B3D4-1EDB-4B6C-BE9A-10CF88BEC11F}"/>
              </a:ext>
            </a:extLst>
          </p:cNvPr>
          <p:cNvSpPr>
            <a:spLocks noGrp="1"/>
          </p:cNvSpPr>
          <p:nvPr/>
        </p:nvSpPr>
        <p:spPr>
          <a:xfrm>
            <a:off x="8972550" y="6257925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ctr">
              <a:buNone/>
              <a:defRPr sz="10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Stress-test → operational choices</a:t>
            </a:r>
          </a:p>
        </p:txBody>
      </p:sp>
    </p:spTree>
    <p:extLst>
      <p:ext uri="{BB962C8B-B14F-4D97-AF65-F5344CB8AC3E}">
        <p14:creationId xmlns:p14="http://schemas.microsoft.com/office/powerpoint/2010/main" val="1153344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Number-Placeholder-3-2">
            <a:extLst>
              <a:ext uri="{FF2B5EF4-FFF2-40B4-BE49-F238E27FC236}">
                <a16:creationId xmlns:a16="http://schemas.microsoft.com/office/drawing/2014/main" id="{D38DAD70-2A86-4BD4-978B-BD273F8C6E2F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>
              <a:ext uri="{FF2B5EF4-FFF2-40B4-BE49-F238E27FC236}">
                <a16:creationId xmlns:a16="http://schemas.microsoft.com/office/drawing/2014/main" id="{129D017A-65A3-4E55-9F0E-DC4DBDDAD9A6}"/>
              </a:ext>
            </a:extLst>
          </p:cNvPr>
          <p:cNvSpPr>
            <a:spLocks noGrp="1"/>
          </p:cNvSpPr>
          <p:nvPr/>
        </p:nvSpPr>
        <p:spPr>
          <a:xfrm>
            <a:off x="393668" y="323850"/>
            <a:ext cx="11404568" cy="7620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7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inference turns video into an auditable flow anchor</a:t>
            </a:r>
          </a:p>
        </p:txBody>
      </p:sp>
      <p:cxnSp>
        <p:nvCxnSpPr>
          <p:cNvPr id="242" name="Google-Shape-2259-p159-4"/>
          <p:cNvCxnSpPr/>
          <p:nvPr/>
        </p:nvCxnSpPr>
        <p:spPr>
          <a:xfrm>
            <a:off x="337757" y="2857500"/>
            <a:ext cx="11460479" cy="0"/>
          </a:xfrm>
          <a:prstGeom prst="straightConnector1">
            <a:avLst/>
          </a:prstGeom>
          <a:ln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>
              <a:ext uri="{FF2B5EF4-FFF2-40B4-BE49-F238E27FC236}">
                <a16:creationId xmlns:a16="http://schemas.microsoft.com/office/drawing/2014/main" id="{487547AA-ECC4-4531-BD08-1C372AD76A8D}"/>
              </a:ext>
            </a:extLst>
          </p:cNvPr>
          <p:cNvSpPr>
            <a:spLocks noGrp="1"/>
          </p:cNvSpPr>
          <p:nvPr/>
        </p:nvSpPr>
        <p:spPr>
          <a:xfrm>
            <a:off x="337757" y="2803970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/>
          </a:p>
        </p:txBody>
      </p:sp>
      <p:sp>
        <p:nvSpPr>
          <p:cNvPr id="5" name="Google-Shape-2261-p159-6">
            <a:extLst>
              <a:ext uri="{FF2B5EF4-FFF2-40B4-BE49-F238E27FC236}">
                <a16:creationId xmlns:a16="http://schemas.microsoft.com/office/drawing/2014/main" id="{A71D475A-EDF8-4616-87BD-C163D054565C}"/>
              </a:ext>
            </a:extLst>
          </p:cNvPr>
          <p:cNvSpPr>
            <a:spLocks noGrp="1"/>
          </p:cNvSpPr>
          <p:nvPr/>
        </p:nvSpPr>
        <p:spPr>
          <a:xfrm>
            <a:off x="4251770" y="2803970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/>
          </a:p>
        </p:txBody>
      </p:sp>
      <p:sp>
        <p:nvSpPr>
          <p:cNvPr id="6" name="Google-Shape-2262-p159-7">
            <a:extLst>
              <a:ext uri="{FF2B5EF4-FFF2-40B4-BE49-F238E27FC236}">
                <a16:creationId xmlns:a16="http://schemas.microsoft.com/office/drawing/2014/main" id="{948C384B-9230-4861-A686-4C8CA9CCD478}"/>
              </a:ext>
            </a:extLst>
          </p:cNvPr>
          <p:cNvSpPr>
            <a:spLocks noGrp="1"/>
          </p:cNvSpPr>
          <p:nvPr/>
        </p:nvSpPr>
        <p:spPr>
          <a:xfrm>
            <a:off x="8176070" y="2803970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/>
          </a:p>
        </p:txBody>
      </p:sp>
      <p:sp>
        <p:nvSpPr>
          <p:cNvPr id="7" name="Content-Placeholder-15-8">
            <a:extLst>
              <a:ext uri="{FF2B5EF4-FFF2-40B4-BE49-F238E27FC236}">
                <a16:creationId xmlns:a16="http://schemas.microsoft.com/office/drawing/2014/main" id="{A90C8628-8309-4514-ABFD-80131C52A1EB}"/>
              </a:ext>
            </a:extLst>
          </p:cNvPr>
          <p:cNvSpPr>
            <a:spLocks noGrp="1"/>
          </p:cNvSpPr>
          <p:nvPr/>
        </p:nvSpPr>
        <p:spPr>
          <a:xfrm>
            <a:off x="393668" y="2324100"/>
            <a:ext cx="1714500" cy="285750"/>
          </a:xfrm>
          <a:prstGeom prst="rect">
            <a:avLst/>
          </a:prstGeom>
        </p:spPr>
        <p:txBody>
          <a:bodyPr wrap="square" lIns="0" tIns="0" rIns="0" bIns="0" anchor="t">
            <a:normAutofit fontScale="92500"/>
          </a:bodyPr>
          <a:lstStyle/>
          <a:p>
            <a:pPr algn="l">
              <a:buNone/>
              <a:defRPr sz="12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EXECUTED INFERENCE</a:t>
            </a:r>
          </a:p>
        </p:txBody>
      </p:sp>
      <p:sp>
        <p:nvSpPr>
          <p:cNvPr id="8" name="Content-Placeholder-15-9">
            <a:extLst>
              <a:ext uri="{FF2B5EF4-FFF2-40B4-BE49-F238E27FC236}">
                <a16:creationId xmlns:a16="http://schemas.microsoft.com/office/drawing/2014/main" id="{8AC50856-0B9B-495F-B745-200E4DC80846}"/>
              </a:ext>
            </a:extLst>
          </p:cNvPr>
          <p:cNvSpPr>
            <a:spLocks noGrp="1"/>
          </p:cNvSpPr>
          <p:nvPr/>
        </p:nvSpPr>
        <p:spPr>
          <a:xfrm>
            <a:off x="4314825" y="2324100"/>
            <a:ext cx="1714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METHOD SENSITIVITY</a:t>
            </a:r>
          </a:p>
        </p:txBody>
      </p:sp>
      <p:sp>
        <p:nvSpPr>
          <p:cNvPr id="9" name="Content-Placeholder-15-10">
            <a:extLst>
              <a:ext uri="{FF2B5EF4-FFF2-40B4-BE49-F238E27FC236}">
                <a16:creationId xmlns:a16="http://schemas.microsoft.com/office/drawing/2014/main" id="{B60960C8-3730-4C31-9AE0-C17FFA195361}"/>
              </a:ext>
            </a:extLst>
          </p:cNvPr>
          <p:cNvSpPr>
            <a:spLocks noGrp="1"/>
          </p:cNvSpPr>
          <p:nvPr/>
        </p:nvSpPr>
        <p:spPr>
          <a:xfrm>
            <a:off x="8229600" y="2324100"/>
            <a:ext cx="1714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ACCEPTED INPUT</a:t>
            </a:r>
          </a:p>
        </p:txBody>
      </p:sp>
      <p:sp>
        <p:nvSpPr>
          <p:cNvPr id="10" name="Text-Placeholder-16-11">
            <a:extLst>
              <a:ext uri="{FF2B5EF4-FFF2-40B4-BE49-F238E27FC236}">
                <a16:creationId xmlns:a16="http://schemas.microsoft.com/office/drawing/2014/main" id="{2353D8EF-2AB9-4BC4-83C6-DCEEEB69E9BE}"/>
              </a:ext>
            </a:extLst>
          </p:cNvPr>
          <p:cNvSpPr>
            <a:spLocks noGrp="1"/>
          </p:cNvSpPr>
          <p:nvPr/>
        </p:nvSpPr>
        <p:spPr>
          <a:xfrm>
            <a:off x="4314825" y="5105400"/>
            <a:ext cx="3524250" cy="1543050"/>
          </a:xfrm>
          <a:prstGeom prst="rect">
            <a:avLst/>
          </a:prstGeom>
        </p:spPr>
        <p:txBody>
          <a:bodyPr wrap="square" lIns="0" tIns="0" rIns="0" bIns="0" anchor="t">
            <a:normAutofit fontScale="92500"/>
          </a:bodyPr>
          <a:lstStyle/>
          <a:p>
            <a:pPr algn="l">
              <a:spcAft>
                <a:spcPts val="1"/>
              </a:spcAft>
              <a:buNone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endParaRPr/>
          </a:p>
          <a:p>
            <a:pPr>
              <a:spcAft>
                <a:spcPts val="1"/>
              </a:spcAft>
              <a:buNone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THIS PATH</a:t>
            </a:r>
          </a:p>
          <a:p>
            <a:pPr marL="171450" indent="-171450">
              <a:buFont typeface="Arial"/>
              <a:buChar char="•"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YOLO26m: </a:t>
            </a:r>
            <a:r>
              <a:rPr sz="10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small/occluded evidence than YOLOX-S;</a:t>
            </a:r>
          </a:p>
          <a:p>
            <a:pPr>
              <a:buNone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	fewer raw crossings than YOLO26s.</a:t>
            </a:r>
          </a:p>
          <a:p>
            <a:pPr marL="171450" indent="-171450">
              <a:buFont typeface="Arial"/>
              <a:buChar char="•"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BoT-SORT: </a:t>
            </a:r>
            <a:r>
              <a:rPr sz="11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R-&gt;L candidates than ByteTrack;</a:t>
            </a:r>
          </a:p>
          <a:p>
            <a:pPr>
              <a:buNone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	fewer obvious identity jumps than Hungarian.</a:t>
            </a:r>
          </a:p>
          <a:p>
            <a:pPr marL="171450" indent="-171450">
              <a:buFont typeface="Arial"/>
              <a:buChar char="•"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00" b="1"/>
              <a:t>Classical CV:</a:t>
            </a:r>
            <a:r>
              <a:rPr sz="1100"/>
              <a:t> retained as an independent audit channel.</a:t>
            </a:r>
          </a:p>
          <a:p>
            <a:pPr marL="171450" indent="-171450">
              <a:buFont typeface="Arial"/>
              <a:buChar char="•"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00" b="1"/>
              <a:t>Human review:</a:t>
            </a:r>
            <a:r>
              <a:rPr sz="1100"/>
              <a:t> sets the accepted 34/12; method spread is sensitivity evidence, not an accuracy estimate.</a:t>
            </a:r>
          </a:p>
        </p:txBody>
      </p:sp>
      <p:sp>
        <p:nvSpPr>
          <p:cNvPr id="11" name="Text-Placeholder-16-12">
            <a:extLst>
              <a:ext uri="{FF2B5EF4-FFF2-40B4-BE49-F238E27FC236}">
                <a16:creationId xmlns:a16="http://schemas.microsoft.com/office/drawing/2014/main" id="{9AA59D89-3FCE-416F-9E9C-2F45161A0EC6}"/>
              </a:ext>
            </a:extLst>
          </p:cNvPr>
          <p:cNvSpPr>
            <a:spLocks noGrp="1"/>
          </p:cNvSpPr>
          <p:nvPr/>
        </p:nvSpPr>
        <p:spPr>
          <a:xfrm>
            <a:off x="390525" y="5105400"/>
            <a:ext cx="3524250" cy="838200"/>
          </a:xfrm>
          <a:prstGeom prst="rect">
            <a:avLst/>
          </a:prstGeom>
        </p:spPr>
        <p:txBody>
          <a:bodyPr wrap="square" lIns="0" tIns="0" rIns="0" bIns="0" anchor="t">
            <a:normAutofit fontScale="92500" lnSpcReduction="20000"/>
          </a:bodyPr>
          <a:lstStyle/>
          <a:p>
            <a:pPr algn="l">
              <a:spcAft>
                <a:spcPts val="1"/>
              </a:spcAft>
              <a:buNone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inference implemented</a:t>
            </a:r>
          </a:p>
          <a:p>
            <a:pPr marL="171450" indent="-171450" algn="l">
              <a:spcAft>
                <a:spcPts val="1"/>
              </a:spcAft>
              <a:buFont typeface="Arial"/>
              <a:buChar char="•"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Pretrained detector + tracker generated a persisted candidate ledger.</a:t>
            </a:r>
          </a:p>
          <a:p>
            <a:pPr marL="171450" indent="-171450" algn="l">
              <a:spcAft>
                <a:spcPts val="1"/>
              </a:spcAft>
              <a:buFont typeface="Arial"/>
              <a:buChar char="•"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endParaRPr sz="1005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>
              <a:buNone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SCOPE BOUNDARY</a:t>
            </a:r>
          </a:p>
          <a:p>
            <a:pPr marL="171450" indent="-171450">
              <a:buFont typeface="Arial"/>
              <a:buChar char="•"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/>
              <a:t>Metric speed/spacing excluded: no ground-plane calibration.</a:t>
            </a:r>
          </a:p>
          <a:p>
            <a:pPr marL="171450" indent="-171450">
              <a:buFont typeface="Arial"/>
              <a:buChar char="•"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/>
              <a:t>Party size excluded: no human-labelled membership.</a:t>
            </a:r>
          </a:p>
        </p:txBody>
      </p:sp>
      <p:sp>
        <p:nvSpPr>
          <p:cNvPr id="12" name="Text-Placeholder-16-13">
            <a:extLst>
              <a:ext uri="{FF2B5EF4-FFF2-40B4-BE49-F238E27FC236}">
                <a16:creationId xmlns:a16="http://schemas.microsoft.com/office/drawing/2014/main" id="{5D61E3C9-CDBA-4B52-866E-004F630827F8}"/>
              </a:ext>
            </a:extLst>
          </p:cNvPr>
          <p:cNvSpPr>
            <a:spLocks noGrp="1"/>
          </p:cNvSpPr>
          <p:nvPr/>
        </p:nvSpPr>
        <p:spPr>
          <a:xfrm>
            <a:off x="8229600" y="5105399"/>
            <a:ext cx="3524250" cy="1173861"/>
          </a:xfrm>
          <a:prstGeom prst="rect">
            <a:avLst/>
          </a:prstGeom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spcAft>
                <a:spcPts val="1"/>
              </a:spcAft>
              <a:buNone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Human-in-the-loop acceptance</a:t>
            </a:r>
          </a:p>
          <a:p>
            <a:pPr algn="l">
              <a:spcAft>
                <a:spcPts val="1"/>
              </a:spcAft>
              <a:buNone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34 R→L / 12 L→R → 1.364213/s.</a:t>
            </a:r>
          </a:p>
          <a:p>
            <a:pPr algn="l">
              <a:buNone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24.9-s clip only; not time-of-day demand.</a:t>
            </a:r>
          </a:p>
          <a:p>
            <a:pPr algn="l">
              <a:buNone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endParaRPr sz="1005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buNone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Next Validation</a:t>
            </a:r>
          </a:p>
          <a:p>
            <a:pPr marL="171450" indent="-171450">
              <a:buFont typeface="Arial"/>
              <a:buChar char="•"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/>
              <a:t>Collect representative time-of-day clips and build a signed crossing-event ledger.</a:t>
            </a:r>
          </a:p>
          <a:p>
            <a:pPr marL="171450" indent="-171450">
              <a:buFont typeface="Arial"/>
              <a:buChar char="•"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/>
              <a:t>Select or fine-tune the production CV stack using precision/recall, ID switches, runtime, licence and security.</a:t>
            </a:r>
          </a:p>
        </p:txBody>
      </p:sp>
      <p:sp>
        <p:nvSpPr>
          <p:cNvPr id="34" name="measure-visual-frame">
            <a:extLst>
              <a:ext uri="{FF2B5EF4-FFF2-40B4-BE49-F238E27FC236}">
                <a16:creationId xmlns:a16="http://schemas.microsoft.com/office/drawing/2014/main" id="{CE96F3AF-84D3-4A9A-B41B-4E1C7EAD2563}"/>
              </a:ext>
            </a:extLst>
          </p:cNvPr>
          <p:cNvSpPr>
            <a:spLocks noGrp="1"/>
          </p:cNvSpPr>
          <p:nvPr/>
        </p:nvSpPr>
        <p:spPr>
          <a:xfrm>
            <a:off x="390525" y="2990850"/>
            <a:ext cx="3524250" cy="1952625"/>
          </a:xfrm>
          <a:prstGeom prst="roundRect">
            <a:avLst>
              <a:gd name="adj" fmla="val 6829"/>
            </a:avLst>
          </a:prstGeom>
          <a:noFill/>
          <a:ln w="9525">
            <a:solidFill>
              <a:srgbClr val="DC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model-visual-frame">
            <a:extLst>
              <a:ext uri="{FF2B5EF4-FFF2-40B4-BE49-F238E27FC236}">
                <a16:creationId xmlns:a16="http://schemas.microsoft.com/office/drawing/2014/main" id="{4821BA4B-F775-4FEE-88F9-0B0D0EB70FBF}"/>
              </a:ext>
            </a:extLst>
          </p:cNvPr>
          <p:cNvSpPr>
            <a:spLocks noGrp="1"/>
          </p:cNvSpPr>
          <p:nvPr/>
        </p:nvSpPr>
        <p:spPr>
          <a:xfrm>
            <a:off x="4314825" y="2990850"/>
            <a:ext cx="3524250" cy="1952625"/>
          </a:xfrm>
          <a:prstGeom prst="roundRect">
            <a:avLst>
              <a:gd name="adj" fmla="val 6829"/>
            </a:avLst>
          </a:prstGeom>
          <a:noFill/>
          <a:ln w="9525">
            <a:solidFill>
              <a:srgbClr val="DC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infer-grid-frame">
            <a:extLst>
              <a:ext uri="{FF2B5EF4-FFF2-40B4-BE49-F238E27FC236}">
                <a16:creationId xmlns:a16="http://schemas.microsoft.com/office/drawing/2014/main" id="{25FB288A-58F4-4CD6-BF41-781A0030B3E6}"/>
              </a:ext>
            </a:extLst>
          </p:cNvPr>
          <p:cNvSpPr>
            <a:spLocks noGrp="1"/>
          </p:cNvSpPr>
          <p:nvPr/>
        </p:nvSpPr>
        <p:spPr>
          <a:xfrm>
            <a:off x="8229600" y="2990850"/>
            <a:ext cx="3524250" cy="1952625"/>
          </a:xfrm>
          <a:prstGeom prst="roundRect">
            <a:avLst>
              <a:gd name="adj" fmla="val 6829"/>
            </a:avLst>
          </a:prstGeom>
          <a:noFill/>
          <a:ln w="9525">
            <a:solidFill>
              <a:srgbClr val="DC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4" name="task1-eyebrow">
            <a:extLst>
              <a:ext uri="{FF2B5EF4-FFF2-40B4-BE49-F238E27FC236}">
                <a16:creationId xmlns:a16="http://schemas.microsoft.com/office/drawing/2014/main" id="{F87598E4-9275-4FE5-A594-28873EE0E8ED}"/>
              </a:ext>
            </a:extLst>
          </p:cNvPr>
          <p:cNvSpPr>
            <a:spLocks noGrp="1"/>
          </p:cNvSpPr>
          <p:nvPr/>
        </p:nvSpPr>
        <p:spPr>
          <a:xfrm>
            <a:off x="390525" y="133350"/>
            <a:ext cx="2476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TASK 1 · DATA COLLECTION</a:t>
            </a:r>
          </a:p>
        </p:txBody>
      </p:sp>
      <p:sp>
        <p:nvSpPr>
          <p:cNvPr id="155" name="task1-process-panel">
            <a:extLst>
              <a:ext uri="{FF2B5EF4-FFF2-40B4-BE49-F238E27FC236}">
                <a16:creationId xmlns:a16="http://schemas.microsoft.com/office/drawing/2014/main" id="{A806D1E1-EB02-413C-A2EC-CB7F209B5BD6}"/>
              </a:ext>
            </a:extLst>
          </p:cNvPr>
          <p:cNvSpPr>
            <a:spLocks noGrp="1"/>
          </p:cNvSpPr>
          <p:nvPr/>
        </p:nvSpPr>
        <p:spPr>
          <a:xfrm>
            <a:off x="390525" y="1257300"/>
            <a:ext cx="11363325" cy="628650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9525">
            <a:solidFill>
              <a:srgbClr val="DCE3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6" name="task1-process-chain">
            <a:extLst>
              <a:ext uri="{FF2B5EF4-FFF2-40B4-BE49-F238E27FC236}">
                <a16:creationId xmlns:a16="http://schemas.microsoft.com/office/drawing/2014/main" id="{71ACD994-2A70-4896-B552-23C532085334}"/>
              </a:ext>
            </a:extLst>
          </p:cNvPr>
          <p:cNvSpPr>
            <a:spLocks noGrp="1"/>
          </p:cNvSpPr>
          <p:nvPr/>
        </p:nvSpPr>
        <p:spPr>
          <a:xfrm>
            <a:off x="581025" y="1352550"/>
            <a:ext cx="109823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VIDEO  →  YOLO26m ONNX DETECT  →  BoT-SORT TRACK  →  CROSSING LEDGER  →  FULL-VIDEO AUDIT  →  DES INPUT</a:t>
            </a:r>
          </a:p>
        </p:txBody>
      </p:sp>
      <p:sp>
        <p:nvSpPr>
          <p:cNvPr id="157" name="task1-process-boundary">
            <a:extLst>
              <a:ext uri="{FF2B5EF4-FFF2-40B4-BE49-F238E27FC236}">
                <a16:creationId xmlns:a16="http://schemas.microsoft.com/office/drawing/2014/main" id="{89C20D1E-2C14-430A-AB9B-D09E7F9FA99B}"/>
              </a:ext>
            </a:extLst>
          </p:cNvPr>
          <p:cNvSpPr>
            <a:spLocks noGrp="1"/>
          </p:cNvSpPr>
          <p:nvPr/>
        </p:nvSpPr>
        <p:spPr>
          <a:xfrm>
            <a:off x="581025" y="1609725"/>
            <a:ext cx="109823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938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38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Machine inference proposes candidates; human full-video review owns the accepted aggregate.</a:t>
            </a:r>
          </a:p>
        </p:txBody>
      </p:sp>
      <p:pic>
        <p:nvPicPr>
          <p:cNvPr id="259" name="task1-yolo26m-botsort-roi-fram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66811" y="3057525"/>
            <a:ext cx="3371678" cy="816578"/>
          </a:xfrm>
          <a:prstGeom prst="roundRect">
            <a:avLst>
              <a:gd name="adj" fmla="val 5832"/>
            </a:avLst>
          </a:prstGeom>
        </p:spPr>
      </p:pic>
      <p:sp>
        <p:nvSpPr>
          <p:cNvPr id="159" name="task1-left-card-accent">
            <a:extLst>
              <a:ext uri="{FF2B5EF4-FFF2-40B4-BE49-F238E27FC236}">
                <a16:creationId xmlns:a16="http://schemas.microsoft.com/office/drawing/2014/main" id="{535EDD11-CD33-4486-B894-D352F866C9AB}"/>
              </a:ext>
            </a:extLst>
          </p:cNvPr>
          <p:cNvSpPr>
            <a:spLocks noGrp="1"/>
          </p:cNvSpPr>
          <p:nvPr/>
        </p:nvSpPr>
        <p:spPr>
          <a:xfrm>
            <a:off x="466725" y="3943350"/>
            <a:ext cx="38100" cy="838200"/>
          </a:xfrm>
          <a:prstGeom prst="rect">
            <a:avLst/>
          </a:prstGeom>
          <a:solidFill>
            <a:srgbClr val="2854E8"/>
          </a:solidFill>
          <a:ln w="0">
            <a:solidFill>
              <a:srgbClr val="2854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0" name="task1-executed-stack">
            <a:extLst>
              <a:ext uri="{FF2B5EF4-FFF2-40B4-BE49-F238E27FC236}">
                <a16:creationId xmlns:a16="http://schemas.microsoft.com/office/drawing/2014/main" id="{5B002600-4365-4389-9AB0-3A1F1C538CE0}"/>
              </a:ext>
            </a:extLst>
          </p:cNvPr>
          <p:cNvSpPr>
            <a:spLocks noGrp="1"/>
          </p:cNvSpPr>
          <p:nvPr/>
        </p:nvSpPr>
        <p:spPr>
          <a:xfrm>
            <a:off x="581026" y="3943350"/>
            <a:ext cx="3333749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282"/>
          </a:bodyPr>
          <a:lstStyle/>
          <a:p>
            <a:pPr algn="l">
              <a:buNone/>
              <a:defRPr sz="94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4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Detection: </a:t>
            </a:r>
          </a:p>
          <a:p>
            <a:pPr marL="171450" indent="-171450" algn="l">
              <a:buFont typeface="Arial"/>
              <a:buChar char="•"/>
              <a:defRPr sz="94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4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YOLO26m ONNX · CPU inference · 748 frames processed</a:t>
            </a:r>
          </a:p>
          <a:p>
            <a:pPr algn="l">
              <a:buNone/>
              <a:defRPr sz="94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4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Tracking: </a:t>
            </a:r>
          </a:p>
          <a:p>
            <a:pPr marL="171450" indent="-171450" algn="l">
              <a:buFont typeface="Arial"/>
              <a:buChar char="•"/>
              <a:defRPr sz="94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4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BoT-SORT · 24.923-s clip · ROI y&lt;310 · count line x=640</a:t>
            </a:r>
          </a:p>
          <a:p>
            <a:pPr algn="l">
              <a:buNone/>
              <a:defRPr sz="94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4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14.9 s: </a:t>
            </a:r>
            <a:r>
              <a:rPr sz="94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18 R→L / 7 L→R cumulative machine candidates</a:t>
            </a:r>
          </a:p>
          <a:p>
            <a:pPr algn="l">
              <a:buNone/>
              <a:defRPr sz="94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4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End of clip: </a:t>
            </a:r>
            <a:r>
              <a:rPr sz="94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30 R→L / 8 L→R machine candidates</a:t>
            </a:r>
          </a:p>
        </p:txBody>
      </p:sp>
      <p:sp>
        <p:nvSpPr>
          <p:cNvPr id="161" name="task1-method-sensitivity">
            <a:extLst>
              <a:ext uri="{FF2B5EF4-FFF2-40B4-BE49-F238E27FC236}">
                <a16:creationId xmlns:a16="http://schemas.microsoft.com/office/drawing/2014/main" id="{37225E93-117C-4D28-A1C4-C90363729E97}"/>
              </a:ext>
            </a:extLst>
          </p:cNvPr>
          <p:cNvSpPr>
            <a:spLocks noGrp="1"/>
          </p:cNvSpPr>
          <p:nvPr/>
        </p:nvSpPr>
        <p:spPr>
          <a:xfrm>
            <a:off x="4448175" y="3991441"/>
            <a:ext cx="3257550" cy="9896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buNone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8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CANDIDATE COUNTS (R→L / L→R)</a:t>
            </a:r>
          </a:p>
          <a:p>
            <a:pPr>
              <a:buNone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8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Detector / Hungarian</a:t>
            </a:r>
          </a:p>
          <a:p>
            <a:pPr marL="171450" indent="-171450">
              <a:buFont typeface="Arial"/>
              <a:buChar char="•"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YOLOX-S 28/8 · YOLO 26s 38/14 · YOLO 26m 34/12</a:t>
            </a:r>
          </a:p>
          <a:p>
            <a:pPr>
              <a:buNone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8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Tracker / </a:t>
            </a:r>
            <a:r>
              <a:rPr sz="1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YOLO26m</a:t>
            </a:r>
            <a:r>
              <a:rPr sz="968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· </a:t>
            </a:r>
          </a:p>
          <a:p>
            <a:pPr marL="171450" indent="-171450">
              <a:buFont typeface="Arial"/>
              <a:buChar char="•"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Hungarian. 34/12 · ByteTrack 27/9 · BoT-SORT 30/8</a:t>
            </a:r>
          </a:p>
          <a:p>
            <a:pPr>
              <a:spcAft>
                <a:spcPts val="1"/>
              </a:spcAft>
              <a:buNone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Method choice changes candidates</a:t>
            </a:r>
          </a:p>
          <a:p>
            <a:pPr marL="171450" indent="-171450">
              <a:spcAft>
                <a:spcPts val="1"/>
              </a:spcAft>
              <a:buFont typeface="Arial"/>
              <a:buChar char="•"/>
              <a:defRPr sz="100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R→L candidates span 27–38 across tested methods.</a:t>
            </a:r>
          </a:p>
          <a:p>
            <a:pPr marL="171450" indent="-171450">
              <a:buFont typeface="Arial"/>
              <a:buChar char="•"/>
              <a:defRPr sz="968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endParaRPr sz="100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62" name="task1-audit-label">
            <a:extLst>
              <a:ext uri="{FF2B5EF4-FFF2-40B4-BE49-F238E27FC236}">
                <a16:creationId xmlns:a16="http://schemas.microsoft.com/office/drawing/2014/main" id="{7B3C3E9B-FEB0-4329-AEAC-9C4A856E744F}"/>
              </a:ext>
            </a:extLst>
          </p:cNvPr>
          <p:cNvSpPr>
            <a:spLocks noGrp="1"/>
          </p:cNvSpPr>
          <p:nvPr/>
        </p:nvSpPr>
        <p:spPr>
          <a:xfrm>
            <a:off x="8420100" y="3133725"/>
            <a:ext cx="3143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FULL-VIDEO HUMAN AUDIT</a:t>
            </a:r>
          </a:p>
        </p:txBody>
      </p:sp>
      <p:sp>
        <p:nvSpPr>
          <p:cNvPr id="163" name="task1-accepted-r2l">
            <a:extLst>
              <a:ext uri="{FF2B5EF4-FFF2-40B4-BE49-F238E27FC236}">
                <a16:creationId xmlns:a16="http://schemas.microsoft.com/office/drawing/2014/main" id="{B497A1DD-F4AA-490C-9FA7-E6C23C544F81}"/>
              </a:ext>
            </a:extLst>
          </p:cNvPr>
          <p:cNvSpPr>
            <a:spLocks noGrp="1"/>
          </p:cNvSpPr>
          <p:nvPr/>
        </p:nvSpPr>
        <p:spPr>
          <a:xfrm>
            <a:off x="8448675" y="3343275"/>
            <a:ext cx="11049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33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164" name="task1-accepted-r2l-label">
            <a:extLst>
              <a:ext uri="{FF2B5EF4-FFF2-40B4-BE49-F238E27FC236}">
                <a16:creationId xmlns:a16="http://schemas.microsoft.com/office/drawing/2014/main" id="{FF8772E0-9CDB-4D19-B0DC-DC97938C5F95}"/>
              </a:ext>
            </a:extLst>
          </p:cNvPr>
          <p:cNvSpPr>
            <a:spLocks noGrp="1"/>
          </p:cNvSpPr>
          <p:nvPr/>
        </p:nvSpPr>
        <p:spPr>
          <a:xfrm>
            <a:off x="8353425" y="3886200"/>
            <a:ext cx="1295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93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3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accepted R→L</a:t>
            </a:r>
          </a:p>
        </p:txBody>
      </p:sp>
      <p:sp>
        <p:nvSpPr>
          <p:cNvPr id="165" name="task1-accepted-l2r">
            <a:extLst>
              <a:ext uri="{FF2B5EF4-FFF2-40B4-BE49-F238E27FC236}">
                <a16:creationId xmlns:a16="http://schemas.microsoft.com/office/drawing/2014/main" id="{02E9C26A-E9D7-4B20-BE01-F56D00369D72}"/>
              </a:ext>
            </a:extLst>
          </p:cNvPr>
          <p:cNvSpPr>
            <a:spLocks noGrp="1"/>
          </p:cNvSpPr>
          <p:nvPr/>
        </p:nvSpPr>
        <p:spPr>
          <a:xfrm>
            <a:off x="10315575" y="3400425"/>
            <a:ext cx="8382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270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166" name="task1-accepted-l2r-label">
            <a:extLst>
              <a:ext uri="{FF2B5EF4-FFF2-40B4-BE49-F238E27FC236}">
                <a16:creationId xmlns:a16="http://schemas.microsoft.com/office/drawing/2014/main" id="{99059DCF-1A2A-4BE9-8FC7-CCA0ABFB4EB4}"/>
              </a:ext>
            </a:extLst>
          </p:cNvPr>
          <p:cNvSpPr>
            <a:spLocks noGrp="1"/>
          </p:cNvSpPr>
          <p:nvPr/>
        </p:nvSpPr>
        <p:spPr>
          <a:xfrm>
            <a:off x="10077450" y="3886200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938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38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accepted L→R</a:t>
            </a:r>
          </a:p>
        </p:txBody>
      </p:sp>
      <p:sp>
        <p:nvSpPr>
          <p:cNvPr id="167" name="task1-input-divider">
            <a:extLst>
              <a:ext uri="{FF2B5EF4-FFF2-40B4-BE49-F238E27FC236}">
                <a16:creationId xmlns:a16="http://schemas.microsoft.com/office/drawing/2014/main" id="{CF1F8F51-82ED-4F4C-AC09-CB6A16EDF3C7}"/>
              </a:ext>
            </a:extLst>
          </p:cNvPr>
          <p:cNvSpPr>
            <a:spLocks noGrp="1"/>
          </p:cNvSpPr>
          <p:nvPr/>
        </p:nvSpPr>
        <p:spPr>
          <a:xfrm>
            <a:off x="8496300" y="4210050"/>
            <a:ext cx="2876550" cy="14288"/>
          </a:xfrm>
          <a:prstGeom prst="rect">
            <a:avLst/>
          </a:prstGeom>
          <a:solidFill>
            <a:srgbClr val="DCE3ED"/>
          </a:solidFill>
          <a:ln w="0">
            <a:solidFill>
              <a:srgbClr val="DCE3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8" name="task1-input-anchor-panel">
            <a:extLst>
              <a:ext uri="{FF2B5EF4-FFF2-40B4-BE49-F238E27FC236}">
                <a16:creationId xmlns:a16="http://schemas.microsoft.com/office/drawing/2014/main" id="{4D475075-8C23-46D0-99E7-9E2CF8F2F35C}"/>
              </a:ext>
            </a:extLst>
          </p:cNvPr>
          <p:cNvSpPr>
            <a:spLocks noGrp="1"/>
          </p:cNvSpPr>
          <p:nvPr/>
        </p:nvSpPr>
        <p:spPr>
          <a:xfrm>
            <a:off x="8629650" y="4305300"/>
            <a:ext cx="2619375" cy="495300"/>
          </a:xfrm>
          <a:prstGeom prst="roundRect">
            <a:avLst>
              <a:gd name="adj" fmla="val 11538"/>
            </a:avLst>
          </a:prstGeom>
          <a:solidFill>
            <a:srgbClr val="F1FAF5"/>
          </a:solidFill>
          <a:ln w="9525">
            <a:solidFill>
              <a:srgbClr val="CDEB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9" name="task1-input-anchor-value">
            <a:extLst>
              <a:ext uri="{FF2B5EF4-FFF2-40B4-BE49-F238E27FC236}">
                <a16:creationId xmlns:a16="http://schemas.microsoft.com/office/drawing/2014/main" id="{A0ED60C5-50E5-41B6-AAF6-DAE8E00619AC}"/>
              </a:ext>
            </a:extLst>
          </p:cNvPr>
          <p:cNvSpPr>
            <a:spLocks noGrp="1"/>
          </p:cNvSpPr>
          <p:nvPr/>
        </p:nvSpPr>
        <p:spPr>
          <a:xfrm>
            <a:off x="8763000" y="4324350"/>
            <a:ext cx="1066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1.364/s</a:t>
            </a:r>
          </a:p>
        </p:txBody>
      </p:sp>
      <p:sp>
        <p:nvSpPr>
          <p:cNvPr id="170" name="task1-input-anchor-label">
            <a:extLst>
              <a:ext uri="{FF2B5EF4-FFF2-40B4-BE49-F238E27FC236}">
                <a16:creationId xmlns:a16="http://schemas.microsoft.com/office/drawing/2014/main" id="{EA80DD4B-6232-420E-8A9D-E068BC603FD4}"/>
              </a:ext>
            </a:extLst>
          </p:cNvPr>
          <p:cNvSpPr>
            <a:spLocks noGrp="1"/>
          </p:cNvSpPr>
          <p:nvPr/>
        </p:nvSpPr>
        <p:spPr>
          <a:xfrm>
            <a:off x="9839325" y="4371975"/>
            <a:ext cx="12858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863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R→L observed</a:t>
            </a:r>
          </a:p>
          <a:p>
            <a:pPr algn="l">
              <a:buNone/>
              <a:defRPr sz="863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arrival anchor</a:t>
            </a:r>
          </a:p>
        </p:txBody>
      </p:sp>
      <p:pic>
        <p:nvPicPr>
          <p:cNvPr id="272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8831" y="3028482"/>
            <a:ext cx="3431781" cy="8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39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Number-Placeholder-3-2">
            <a:extLst>
              <a:ext uri="{FF2B5EF4-FFF2-40B4-BE49-F238E27FC236}">
                <a16:creationId xmlns:a16="http://schemas.microsoft.com/office/drawing/2014/main" id="{D38DAD70-2A86-4BD4-978B-BD273F8C6E2F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8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" name="Title-10-3">
            <a:extLst>
              <a:ext uri="{FF2B5EF4-FFF2-40B4-BE49-F238E27FC236}">
                <a16:creationId xmlns:a16="http://schemas.microsoft.com/office/drawing/2014/main" id="{129D017A-65A3-4E55-9F0E-DC4DBDDAD9A6}"/>
              </a:ext>
            </a:extLst>
          </p:cNvPr>
          <p:cNvSpPr>
            <a:spLocks noGrp="1"/>
          </p:cNvSpPr>
          <p:nvPr/>
        </p:nvSpPr>
        <p:spPr>
          <a:xfrm>
            <a:off x="393668" y="323850"/>
            <a:ext cx="11404568" cy="514350"/>
          </a:xfrm>
          <a:prstGeom prst="rect">
            <a:avLst/>
          </a:prstGeom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2213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13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A traveller-level DES turns operational assumptions into auditable queue outcomes</a:t>
            </a:r>
          </a:p>
        </p:txBody>
      </p:sp>
      <p:sp>
        <p:nvSpPr>
          <p:cNvPr id="14" name="model-subtitle">
            <a:extLst>
              <a:ext uri="{FF2B5EF4-FFF2-40B4-BE49-F238E27FC236}">
                <a16:creationId xmlns:a16="http://schemas.microsoft.com/office/drawing/2014/main" id="{EF2A7104-FA1B-4A0D-ADF7-352FE84556FA}"/>
              </a:ext>
            </a:extLst>
          </p:cNvPr>
          <p:cNvSpPr>
            <a:spLocks noGrp="1"/>
          </p:cNvSpPr>
          <p:nvPr/>
        </p:nvSpPr>
        <p:spPr>
          <a:xfrm>
            <a:off x="400050" y="914400"/>
            <a:ext cx="11391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163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63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OperationalInteractive | two finite-resource stages | pooled FCFS | full drain</a:t>
            </a:r>
          </a:p>
        </p:txBody>
      </p:sp>
      <p:sp>
        <p:nvSpPr>
          <p:cNvPr id="15" name="runtime-screenshot-frame">
            <a:extLst>
              <a:ext uri="{FF2B5EF4-FFF2-40B4-BE49-F238E27FC236}">
                <a16:creationId xmlns:a16="http://schemas.microsoft.com/office/drawing/2014/main" id="{669244C3-3197-4156-9535-C82507E72CA1}"/>
              </a:ext>
            </a:extLst>
          </p:cNvPr>
          <p:cNvSpPr>
            <a:spLocks noGrp="1"/>
          </p:cNvSpPr>
          <p:nvPr/>
        </p:nvSpPr>
        <p:spPr>
          <a:xfrm>
            <a:off x="400050" y="1352550"/>
            <a:ext cx="6330061" cy="398145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1430">
            <a:solidFill>
              <a:srgbClr val="D8E0E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arrival-card">
            <a:extLst>
              <a:ext uri="{FF2B5EF4-FFF2-40B4-BE49-F238E27FC236}">
                <a16:creationId xmlns:a16="http://schemas.microsoft.com/office/drawing/2014/main" id="{FB6DC24E-BFB2-457B-A8C3-3306F1C5323E}"/>
              </a:ext>
            </a:extLst>
          </p:cNvPr>
          <p:cNvSpPr>
            <a:spLocks noGrp="1"/>
          </p:cNvSpPr>
          <p:nvPr/>
        </p:nvSpPr>
        <p:spPr>
          <a:xfrm>
            <a:off x="6823337" y="1352550"/>
            <a:ext cx="2568314" cy="914400"/>
          </a:xfrm>
          <a:prstGeom prst="roundRect">
            <a:avLst>
              <a:gd name="adj" fmla="val 18750"/>
            </a:avLst>
          </a:prstGeom>
          <a:solidFill>
            <a:srgbClr val="EEF3FF"/>
          </a:solidFill>
          <a:ln w="11430">
            <a:solidFill>
              <a:srgbClr val="315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arrival-accent">
            <a:extLst>
              <a:ext uri="{FF2B5EF4-FFF2-40B4-BE49-F238E27FC236}">
                <a16:creationId xmlns:a16="http://schemas.microsoft.com/office/drawing/2014/main" id="{DF6B8566-24F2-4537-82AF-511A7B043703}"/>
              </a:ext>
            </a:extLst>
          </p:cNvPr>
          <p:cNvSpPr>
            <a:spLocks noGrp="1"/>
          </p:cNvSpPr>
          <p:nvPr/>
        </p:nvSpPr>
        <p:spPr>
          <a:xfrm>
            <a:off x="6823336" y="1352550"/>
            <a:ext cx="57150" cy="914400"/>
          </a:xfrm>
          <a:prstGeom prst="roundRect">
            <a:avLst>
              <a:gd name="adj" fmla="val 50000"/>
            </a:avLst>
          </a:prstGeom>
          <a:solidFill>
            <a:srgbClr val="315CE8"/>
          </a:solidFill>
          <a:ln w="0">
            <a:solidFill>
              <a:srgbClr val="315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arrival-heading">
            <a:extLst>
              <a:ext uri="{FF2B5EF4-FFF2-40B4-BE49-F238E27FC236}">
                <a16:creationId xmlns:a16="http://schemas.microsoft.com/office/drawing/2014/main" id="{3570F893-DCBD-4DF1-A428-97646BDCD0E1}"/>
              </a:ext>
            </a:extLst>
          </p:cNvPr>
          <p:cNvSpPr>
            <a:spLocks noGrp="1"/>
          </p:cNvSpPr>
          <p:nvPr/>
        </p:nvSpPr>
        <p:spPr>
          <a:xfrm>
            <a:off x="6910142" y="1466850"/>
            <a:ext cx="3943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315C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15CE8"/>
                </a:solidFill>
                <a:latin typeface="Helvetica Neue"/>
                <a:ea typeface="Helvetica Neue"/>
                <a:cs typeface="Helvetica Neue"/>
              </a:rPr>
              <a:t>1  ARRIVAL</a:t>
            </a:r>
          </a:p>
        </p:txBody>
      </p:sp>
      <p:sp>
        <p:nvSpPr>
          <p:cNvPr id="20" name="arrival-body">
            <a:extLst>
              <a:ext uri="{FF2B5EF4-FFF2-40B4-BE49-F238E27FC236}">
                <a16:creationId xmlns:a16="http://schemas.microsoft.com/office/drawing/2014/main" id="{E4E2BCDF-726A-4A31-9682-04522BCD0CC5}"/>
              </a:ext>
            </a:extLst>
          </p:cNvPr>
          <p:cNvSpPr>
            <a:spLocks noGrp="1"/>
          </p:cNvSpPr>
          <p:nvPr/>
        </p:nvSpPr>
        <p:spPr>
          <a:xfrm>
            <a:off x="7013836" y="1724025"/>
            <a:ext cx="2552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19050" bIns="0" anchor="t">
            <a:normAutofit/>
          </a:bodyPr>
          <a:lstStyle/>
          <a:p>
            <a:pPr marL="171450" indent="-171450" algn="l">
              <a:buFont typeface="Arial"/>
              <a:buChar char="•"/>
              <a:defRPr sz="9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Measured anchor: 1.364213 travelers/s</a:t>
            </a:r>
          </a:p>
          <a:p>
            <a:pPr marL="171450" indent="-171450" algn="l">
              <a:buFont typeface="Arial"/>
              <a:buChar char="•"/>
              <a:defRPr sz="9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HPP timing and 300-s window are assumptions</a:t>
            </a:r>
          </a:p>
        </p:txBody>
      </p:sp>
      <p:sp>
        <p:nvSpPr>
          <p:cNvPr id="21" name="security-card">
            <a:extLst>
              <a:ext uri="{FF2B5EF4-FFF2-40B4-BE49-F238E27FC236}">
                <a16:creationId xmlns:a16="http://schemas.microsoft.com/office/drawing/2014/main" id="{59DEA38D-9C10-4A43-AE6C-64E07CAE067C}"/>
              </a:ext>
            </a:extLst>
          </p:cNvPr>
          <p:cNvSpPr>
            <a:spLocks noGrp="1"/>
          </p:cNvSpPr>
          <p:nvPr/>
        </p:nvSpPr>
        <p:spPr>
          <a:xfrm>
            <a:off x="9466524" y="1352550"/>
            <a:ext cx="2568314" cy="914400"/>
          </a:xfrm>
          <a:prstGeom prst="roundRect">
            <a:avLst>
              <a:gd name="adj" fmla="val 18750"/>
            </a:avLst>
          </a:prstGeom>
          <a:solidFill>
            <a:srgbClr val="EAF8EF"/>
          </a:solidFill>
          <a:ln w="11430">
            <a:solidFill>
              <a:srgbClr val="0A98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ecurity-accent">
            <a:extLst>
              <a:ext uri="{FF2B5EF4-FFF2-40B4-BE49-F238E27FC236}">
                <a16:creationId xmlns:a16="http://schemas.microsoft.com/office/drawing/2014/main" id="{2DA77EF2-D243-462A-8AF8-7CF0CFE2421B}"/>
              </a:ext>
            </a:extLst>
          </p:cNvPr>
          <p:cNvSpPr>
            <a:spLocks noGrp="1"/>
          </p:cNvSpPr>
          <p:nvPr/>
        </p:nvSpPr>
        <p:spPr>
          <a:xfrm>
            <a:off x="9466523" y="1352550"/>
            <a:ext cx="57150" cy="914400"/>
          </a:xfrm>
          <a:prstGeom prst="roundRect">
            <a:avLst>
              <a:gd name="adj" fmla="val 50000"/>
            </a:avLst>
          </a:prstGeom>
          <a:solidFill>
            <a:srgbClr val="0A9848"/>
          </a:solidFill>
          <a:ln w="0">
            <a:solidFill>
              <a:srgbClr val="0A98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ecurity-heading">
            <a:extLst>
              <a:ext uri="{FF2B5EF4-FFF2-40B4-BE49-F238E27FC236}">
                <a16:creationId xmlns:a16="http://schemas.microsoft.com/office/drawing/2014/main" id="{28AC02BA-3B0F-40E9-A4CF-22C0F065C4A5}"/>
              </a:ext>
            </a:extLst>
          </p:cNvPr>
          <p:cNvSpPr>
            <a:spLocks noGrp="1"/>
          </p:cNvSpPr>
          <p:nvPr/>
        </p:nvSpPr>
        <p:spPr>
          <a:xfrm>
            <a:off x="9947536" y="1466850"/>
            <a:ext cx="3943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0A98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A9848"/>
                </a:solidFill>
                <a:latin typeface="Helvetica Neue"/>
                <a:ea typeface="Helvetica Neue"/>
                <a:cs typeface="Helvetica Neue"/>
              </a:rPr>
              <a:t>2  SECURITY</a:t>
            </a:r>
          </a:p>
        </p:txBody>
      </p:sp>
      <p:sp>
        <p:nvSpPr>
          <p:cNvPr id="24" name="security-body">
            <a:extLst>
              <a:ext uri="{FF2B5EF4-FFF2-40B4-BE49-F238E27FC236}">
                <a16:creationId xmlns:a16="http://schemas.microsoft.com/office/drawing/2014/main" id="{E585BEDF-46A0-46EA-B594-FC7C21AE7397}"/>
              </a:ext>
            </a:extLst>
          </p:cNvPr>
          <p:cNvSpPr>
            <a:spLocks noGrp="1"/>
          </p:cNvSpPr>
          <p:nvPr/>
        </p:nvSpPr>
        <p:spPr>
          <a:xfrm>
            <a:off x="9657023" y="1724025"/>
            <a:ext cx="2293537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19050" bIns="0" anchor="t">
            <a:normAutofit/>
          </a:bodyPr>
          <a:lstStyle/>
          <a:p>
            <a:pPr marL="171450" indent="-171450" algn="l">
              <a:buFont typeface="Arial"/>
              <a:buChar char="•"/>
              <a:defRPr sz="9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Derived</a:t>
            </a:r>
            <a:r>
              <a:rPr sz="90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 input: 36 finite homogeneous service positions</a:t>
            </a:r>
          </a:p>
          <a:p>
            <a:pPr marL="171450" indent="-171450" algn="l">
              <a:buFont typeface="Arial"/>
              <a:buChar char="•"/>
              <a:defRPr sz="9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21.818-s service demand | pooled FCFS</a:t>
            </a:r>
          </a:p>
        </p:txBody>
      </p:sp>
      <p:sp>
        <p:nvSpPr>
          <p:cNvPr id="25" name="immigration-card">
            <a:extLst>
              <a:ext uri="{FF2B5EF4-FFF2-40B4-BE49-F238E27FC236}">
                <a16:creationId xmlns:a16="http://schemas.microsoft.com/office/drawing/2014/main" id="{5D9EB9C6-BDC2-46DC-9B52-85B404327838}"/>
              </a:ext>
            </a:extLst>
          </p:cNvPr>
          <p:cNvSpPr>
            <a:spLocks noGrp="1"/>
          </p:cNvSpPr>
          <p:nvPr/>
        </p:nvSpPr>
        <p:spPr>
          <a:xfrm>
            <a:off x="6789998" y="2434590"/>
            <a:ext cx="2601653" cy="914400"/>
          </a:xfrm>
          <a:prstGeom prst="roundRect">
            <a:avLst>
              <a:gd name="adj" fmla="val 18750"/>
            </a:avLst>
          </a:prstGeom>
          <a:solidFill>
            <a:srgbClr val="FFF3EA"/>
          </a:solidFill>
          <a:ln w="11430">
            <a:solidFill>
              <a:srgbClr val="E85D0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immigration-accent">
            <a:extLst>
              <a:ext uri="{FF2B5EF4-FFF2-40B4-BE49-F238E27FC236}">
                <a16:creationId xmlns:a16="http://schemas.microsoft.com/office/drawing/2014/main" id="{0B5B9474-C2AB-4242-A273-09EEA8613A00}"/>
              </a:ext>
            </a:extLst>
          </p:cNvPr>
          <p:cNvSpPr>
            <a:spLocks noGrp="1"/>
          </p:cNvSpPr>
          <p:nvPr/>
        </p:nvSpPr>
        <p:spPr>
          <a:xfrm>
            <a:off x="6791079" y="2434590"/>
            <a:ext cx="57150" cy="914400"/>
          </a:xfrm>
          <a:prstGeom prst="roundRect">
            <a:avLst>
              <a:gd name="adj" fmla="val 50000"/>
            </a:avLst>
          </a:prstGeom>
          <a:solidFill>
            <a:srgbClr val="E85D04"/>
          </a:solidFill>
          <a:ln w="0">
            <a:solidFill>
              <a:srgbClr val="E85D0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immigration-heading">
            <a:extLst>
              <a:ext uri="{FF2B5EF4-FFF2-40B4-BE49-F238E27FC236}">
                <a16:creationId xmlns:a16="http://schemas.microsoft.com/office/drawing/2014/main" id="{532DFEF9-10C3-4AE1-A647-DA59F61C38B4}"/>
              </a:ext>
            </a:extLst>
          </p:cNvPr>
          <p:cNvSpPr>
            <a:spLocks noGrp="1"/>
          </p:cNvSpPr>
          <p:nvPr/>
        </p:nvSpPr>
        <p:spPr>
          <a:xfrm>
            <a:off x="6896936" y="2484120"/>
            <a:ext cx="3943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E85D0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E85D04"/>
                </a:solidFill>
                <a:latin typeface="Helvetica Neue"/>
                <a:ea typeface="Helvetica Neue"/>
                <a:cs typeface="Helvetica Neue"/>
              </a:rPr>
              <a:t>3  IMMIGRATION</a:t>
            </a:r>
          </a:p>
        </p:txBody>
      </p:sp>
      <p:sp>
        <p:nvSpPr>
          <p:cNvPr id="28" name="immigration-body">
            <a:extLst>
              <a:ext uri="{FF2B5EF4-FFF2-40B4-BE49-F238E27FC236}">
                <a16:creationId xmlns:a16="http://schemas.microsoft.com/office/drawing/2014/main" id="{C34F5357-FD46-4408-A000-BB7146EF1AB9}"/>
              </a:ext>
            </a:extLst>
          </p:cNvPr>
          <p:cNvSpPr>
            <a:spLocks noGrp="1"/>
          </p:cNvSpPr>
          <p:nvPr/>
        </p:nvSpPr>
        <p:spPr>
          <a:xfrm>
            <a:off x="6980498" y="2750058"/>
            <a:ext cx="246971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19050" bIns="0" anchor="t">
            <a:noAutofit/>
          </a:bodyPr>
          <a:lstStyle/>
          <a:p>
            <a:pPr marL="171450" indent="-171450">
              <a:buFont typeface="Arial"/>
              <a:buChar char="•"/>
              <a:defRPr sz="9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Derived input: 21 finite homogeneous service positions</a:t>
            </a:r>
          </a:p>
          <a:p>
            <a:pPr marL="171450" indent="-171450">
              <a:buFont typeface="Arial"/>
              <a:buChar char="•"/>
              <a:defRPr sz="9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13-s service demand | routing toggles are scenarios</a:t>
            </a:r>
          </a:p>
        </p:txBody>
      </p:sp>
      <p:sp>
        <p:nvSpPr>
          <p:cNvPr id="29" name="exit-card">
            <a:extLst>
              <a:ext uri="{FF2B5EF4-FFF2-40B4-BE49-F238E27FC236}">
                <a16:creationId xmlns:a16="http://schemas.microsoft.com/office/drawing/2014/main" id="{B5D755EA-5BD0-44A4-8E48-F1255D0A80A8}"/>
              </a:ext>
            </a:extLst>
          </p:cNvPr>
          <p:cNvSpPr>
            <a:spLocks noGrp="1"/>
          </p:cNvSpPr>
          <p:nvPr/>
        </p:nvSpPr>
        <p:spPr>
          <a:xfrm>
            <a:off x="9450211" y="2428874"/>
            <a:ext cx="2584627" cy="914401"/>
          </a:xfrm>
          <a:prstGeom prst="roundRect">
            <a:avLst>
              <a:gd name="adj" fmla="val 16667"/>
            </a:avLst>
          </a:prstGeom>
          <a:solidFill>
            <a:srgbClr val="F1F4F8"/>
          </a:solidFill>
          <a:ln w="11430">
            <a:solidFill>
              <a:srgbClr val="59657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exit-accent">
            <a:extLst>
              <a:ext uri="{FF2B5EF4-FFF2-40B4-BE49-F238E27FC236}">
                <a16:creationId xmlns:a16="http://schemas.microsoft.com/office/drawing/2014/main" id="{A9596DF7-4492-432E-B5A9-6EA7D492A447}"/>
              </a:ext>
            </a:extLst>
          </p:cNvPr>
          <p:cNvSpPr>
            <a:spLocks noGrp="1"/>
          </p:cNvSpPr>
          <p:nvPr/>
        </p:nvSpPr>
        <p:spPr>
          <a:xfrm>
            <a:off x="9450211" y="2362200"/>
            <a:ext cx="51521" cy="1028700"/>
          </a:xfrm>
          <a:prstGeom prst="roundRect">
            <a:avLst>
              <a:gd name="adj" fmla="val 50000"/>
            </a:avLst>
          </a:prstGeom>
          <a:solidFill>
            <a:srgbClr val="596579"/>
          </a:solidFill>
          <a:ln w="0">
            <a:solidFill>
              <a:srgbClr val="59657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exit-heading">
            <a:extLst>
              <a:ext uri="{FF2B5EF4-FFF2-40B4-BE49-F238E27FC236}">
                <a16:creationId xmlns:a16="http://schemas.microsoft.com/office/drawing/2014/main" id="{32AE79D8-9D50-4D2A-835B-B123379554EC}"/>
              </a:ext>
            </a:extLst>
          </p:cNvPr>
          <p:cNvSpPr>
            <a:spLocks noGrp="1"/>
          </p:cNvSpPr>
          <p:nvPr/>
        </p:nvSpPr>
        <p:spPr>
          <a:xfrm>
            <a:off x="9537017" y="2476500"/>
            <a:ext cx="355493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4  EXIT &amp; MEASUREMENT</a:t>
            </a:r>
          </a:p>
        </p:txBody>
      </p:sp>
      <p:sp>
        <p:nvSpPr>
          <p:cNvPr id="32" name="exit-body">
            <a:extLst>
              <a:ext uri="{FF2B5EF4-FFF2-40B4-BE49-F238E27FC236}">
                <a16:creationId xmlns:a16="http://schemas.microsoft.com/office/drawing/2014/main" id="{7E67AD49-DEC1-4BAE-941A-8DB2DA5154A6}"/>
              </a:ext>
            </a:extLst>
          </p:cNvPr>
          <p:cNvSpPr>
            <a:spLocks noGrp="1"/>
          </p:cNvSpPr>
          <p:nvPr/>
        </p:nvSpPr>
        <p:spPr>
          <a:xfrm>
            <a:off x="9640711" y="2733675"/>
            <a:ext cx="2309849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19050" bIns="0" anchor="t">
            <a:normAutofit/>
          </a:bodyPr>
          <a:lstStyle/>
          <a:p>
            <a:pPr marL="171450" indent="-171450" algn="l">
              <a:buFont typeface="Arial"/>
              <a:buChar char="•"/>
              <a:defRPr sz="9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Close arrivals at cutoff; drain every admitted traveler</a:t>
            </a:r>
          </a:p>
          <a:p>
            <a:pPr marL="171450" indent="-171450" algn="l">
              <a:buFont typeface="Arial"/>
              <a:buChar char="•"/>
              <a:defRPr sz="9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Log queue waits, system time, utilization and clearance</a:t>
            </a:r>
          </a:p>
        </p:txBody>
      </p:sp>
      <p:sp>
        <p:nvSpPr>
          <p:cNvPr id="33" name="measured-pill">
            <a:extLst>
              <a:ext uri="{FF2B5EF4-FFF2-40B4-BE49-F238E27FC236}">
                <a16:creationId xmlns:a16="http://schemas.microsoft.com/office/drawing/2014/main" id="{18179922-3E7D-4DE7-B967-D19C298F422C}"/>
              </a:ext>
            </a:extLst>
          </p:cNvPr>
          <p:cNvSpPr>
            <a:spLocks noGrp="1"/>
          </p:cNvSpPr>
          <p:nvPr/>
        </p:nvSpPr>
        <p:spPr>
          <a:xfrm>
            <a:off x="400050" y="5657850"/>
            <a:ext cx="3000375" cy="457200"/>
          </a:xfrm>
          <a:prstGeom prst="roundRect">
            <a:avLst>
              <a:gd name="adj" fmla="val 29167"/>
            </a:avLst>
          </a:prstGeom>
          <a:solidFill>
            <a:srgbClr val="EEF3FF"/>
          </a:solidFill>
          <a:ln w="9525">
            <a:solidFill>
              <a:srgbClr val="315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measured-label">
            <a:extLst>
              <a:ext uri="{FF2B5EF4-FFF2-40B4-BE49-F238E27FC236}">
                <a16:creationId xmlns:a16="http://schemas.microsoft.com/office/drawing/2014/main" id="{A5A7F0C3-90C7-4C74-BE0C-BDC78EA6DC09}"/>
              </a:ext>
            </a:extLst>
          </p:cNvPr>
          <p:cNvSpPr>
            <a:spLocks noGrp="1"/>
          </p:cNvSpPr>
          <p:nvPr/>
        </p:nvSpPr>
        <p:spPr>
          <a:xfrm>
            <a:off x="533400" y="5734050"/>
            <a:ext cx="8191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863" b="1">
                <a:solidFill>
                  <a:srgbClr val="315C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1">
                <a:solidFill>
                  <a:srgbClr val="315CE8"/>
                </a:solidFill>
                <a:latin typeface="Helvetica Neue"/>
                <a:ea typeface="Helvetica Neue"/>
                <a:cs typeface="Helvetica Neue"/>
              </a:rPr>
              <a:t>MEASURED</a:t>
            </a:r>
          </a:p>
        </p:txBody>
      </p:sp>
      <p:sp>
        <p:nvSpPr>
          <p:cNvPr id="35" name="measured-value">
            <a:extLst>
              <a:ext uri="{FF2B5EF4-FFF2-40B4-BE49-F238E27FC236}">
                <a16:creationId xmlns:a16="http://schemas.microsoft.com/office/drawing/2014/main" id="{5BED4C82-F391-4F42-9B1A-149A5C31C2D7}"/>
              </a:ext>
            </a:extLst>
          </p:cNvPr>
          <p:cNvSpPr>
            <a:spLocks noGrp="1"/>
          </p:cNvSpPr>
          <p:nvPr/>
        </p:nvSpPr>
        <p:spPr>
          <a:xfrm>
            <a:off x="533400" y="5905500"/>
            <a:ext cx="2733675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848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34 R-to-L / 24.923 s = 1.364213/s</a:t>
            </a:r>
          </a:p>
        </p:txBody>
      </p:sp>
      <p:sp>
        <p:nvSpPr>
          <p:cNvPr id="36" name="assumed-pill">
            <a:extLst>
              <a:ext uri="{FF2B5EF4-FFF2-40B4-BE49-F238E27FC236}">
                <a16:creationId xmlns:a16="http://schemas.microsoft.com/office/drawing/2014/main" id="{E89738DC-19F7-4E96-A9F2-2F20AD8AE9D9}"/>
              </a:ext>
            </a:extLst>
          </p:cNvPr>
          <p:cNvSpPr>
            <a:spLocks noGrp="1"/>
          </p:cNvSpPr>
          <p:nvPr/>
        </p:nvSpPr>
        <p:spPr>
          <a:xfrm>
            <a:off x="3514725" y="5657850"/>
            <a:ext cx="5181600" cy="457200"/>
          </a:xfrm>
          <a:prstGeom prst="roundRect">
            <a:avLst>
              <a:gd name="adj" fmla="val 29167"/>
            </a:avLst>
          </a:prstGeom>
          <a:solidFill>
            <a:srgbClr val="F1F4F8"/>
          </a:solidFill>
          <a:ln w="9525">
            <a:solidFill>
              <a:srgbClr val="59657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assumed-label">
            <a:extLst>
              <a:ext uri="{FF2B5EF4-FFF2-40B4-BE49-F238E27FC236}">
                <a16:creationId xmlns:a16="http://schemas.microsoft.com/office/drawing/2014/main" id="{19978EBD-E76B-4C55-9C2E-D58936FD4BFB}"/>
              </a:ext>
            </a:extLst>
          </p:cNvPr>
          <p:cNvSpPr>
            <a:spLocks noGrp="1"/>
          </p:cNvSpPr>
          <p:nvPr/>
        </p:nvSpPr>
        <p:spPr>
          <a:xfrm>
            <a:off x="3648075" y="5734050"/>
            <a:ext cx="8191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ASSUMED</a:t>
            </a:r>
          </a:p>
        </p:txBody>
      </p:sp>
      <p:sp>
        <p:nvSpPr>
          <p:cNvPr id="38" name="assumed-value">
            <a:extLst>
              <a:ext uri="{FF2B5EF4-FFF2-40B4-BE49-F238E27FC236}">
                <a16:creationId xmlns:a16="http://schemas.microsoft.com/office/drawing/2014/main" id="{0F40D677-8FE8-4D0E-8217-4F71AAF9407E}"/>
              </a:ext>
            </a:extLst>
          </p:cNvPr>
          <p:cNvSpPr>
            <a:spLocks noGrp="1"/>
          </p:cNvSpPr>
          <p:nvPr/>
        </p:nvSpPr>
        <p:spPr>
          <a:xfrm>
            <a:off x="3648075" y="5905500"/>
            <a:ext cx="49149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848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HPP timing | capacity | service demand | pooled FCFS | routing / SOP</a:t>
            </a:r>
          </a:p>
        </p:txBody>
      </p:sp>
      <p:sp>
        <p:nvSpPr>
          <p:cNvPr id="39" name="claim-pill">
            <a:extLst>
              <a:ext uri="{FF2B5EF4-FFF2-40B4-BE49-F238E27FC236}">
                <a16:creationId xmlns:a16="http://schemas.microsoft.com/office/drawing/2014/main" id="{78D706CA-5553-4BAC-9C86-51D858374A20}"/>
              </a:ext>
            </a:extLst>
          </p:cNvPr>
          <p:cNvSpPr>
            <a:spLocks noGrp="1"/>
          </p:cNvSpPr>
          <p:nvPr/>
        </p:nvSpPr>
        <p:spPr>
          <a:xfrm>
            <a:off x="8810625" y="5657850"/>
            <a:ext cx="2981325" cy="457200"/>
          </a:xfrm>
          <a:prstGeom prst="roundRect">
            <a:avLst>
              <a:gd name="adj" fmla="val 29167"/>
            </a:avLst>
          </a:prstGeom>
          <a:solidFill>
            <a:srgbClr val="EAF8EF"/>
          </a:solidFill>
          <a:ln w="9525">
            <a:solidFill>
              <a:srgbClr val="0A98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claim-label">
            <a:extLst>
              <a:ext uri="{FF2B5EF4-FFF2-40B4-BE49-F238E27FC236}">
                <a16:creationId xmlns:a16="http://schemas.microsoft.com/office/drawing/2014/main" id="{ADDC7DE6-E94A-4C43-95A6-C33043FBBDE9}"/>
              </a:ext>
            </a:extLst>
          </p:cNvPr>
          <p:cNvSpPr>
            <a:spLocks noGrp="1"/>
          </p:cNvSpPr>
          <p:nvPr/>
        </p:nvSpPr>
        <p:spPr>
          <a:xfrm>
            <a:off x="8943975" y="5734050"/>
            <a:ext cx="8191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863" b="1">
                <a:solidFill>
                  <a:srgbClr val="0A98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1">
                <a:solidFill>
                  <a:srgbClr val="0A9848"/>
                </a:solidFill>
                <a:latin typeface="Helvetica Neue"/>
                <a:ea typeface="Helvetica Neue"/>
                <a:cs typeface="Helvetica Neue"/>
              </a:rPr>
              <a:t>CLAIM</a:t>
            </a:r>
          </a:p>
        </p:txBody>
      </p:sp>
      <p:sp>
        <p:nvSpPr>
          <p:cNvPr id="41" name="claim-value">
            <a:extLst>
              <a:ext uri="{FF2B5EF4-FFF2-40B4-BE49-F238E27FC236}">
                <a16:creationId xmlns:a16="http://schemas.microsoft.com/office/drawing/2014/main" id="{037477F0-C4F8-499C-A5DB-865615CD5415}"/>
              </a:ext>
            </a:extLst>
          </p:cNvPr>
          <p:cNvSpPr>
            <a:spLocks noGrp="1"/>
          </p:cNvSpPr>
          <p:nvPr/>
        </p:nvSpPr>
        <p:spPr>
          <a:xfrm>
            <a:off x="8943975" y="5905500"/>
            <a:ext cx="2714625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848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8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Comparative evidence only - not a site forecast</a:t>
            </a:r>
          </a:p>
        </p:txBody>
      </p:sp>
      <p:sp>
        <p:nvSpPr>
          <p:cNvPr id="42" name="model-validation-strip">
            <a:extLst>
              <a:ext uri="{FF2B5EF4-FFF2-40B4-BE49-F238E27FC236}">
                <a16:creationId xmlns:a16="http://schemas.microsoft.com/office/drawing/2014/main" id="{17458D84-C871-4C36-B7BE-5B4A09FE27C8}"/>
              </a:ext>
            </a:extLst>
          </p:cNvPr>
          <p:cNvSpPr>
            <a:spLocks noGrp="1"/>
          </p:cNvSpPr>
          <p:nvPr/>
        </p:nvSpPr>
        <p:spPr>
          <a:xfrm>
            <a:off x="400050" y="6210300"/>
            <a:ext cx="113919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878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78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Configuration-driven experiments | explicit random seeds | replicated runs | full-drain and validation gates</a:t>
            </a:r>
          </a:p>
        </p:txBody>
      </p:sp>
      <p:pic>
        <p:nvPicPr>
          <p:cNvPr id="74" name="Picture 3"/>
          <p:cNvPicPr>
            <a:picLocks noChangeAspect="1"/>
          </p:cNvPicPr>
          <p:nvPr/>
        </p:nvPicPr>
        <p:blipFill>
          <a:blip r:embed="rId3"/>
          <a:srcRect l="12031" t="3468" r="11250" b="8923"/>
          <a:stretch>
            <a:fillRect/>
          </a:stretch>
        </p:blipFill>
        <p:spPr>
          <a:xfrm>
            <a:off x="466979" y="1445131"/>
            <a:ext cx="6147181" cy="36890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44875A-5F9F-934C-550B-D824C6309D94}"/>
              </a:ext>
            </a:extLst>
          </p:cNvPr>
          <p:cNvSpPr>
            <a:spLocks noGrp="1"/>
          </p:cNvSpPr>
          <p:nvPr/>
        </p:nvSpPr>
        <p:spPr>
          <a:xfrm>
            <a:off x="6896936" y="3552825"/>
            <a:ext cx="5295064" cy="3931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20" b="1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EXTERNAL CONTEXT</a:t>
            </a:r>
          </a:p>
          <a:p>
            <a:pPr algn="l">
              <a:buNone/>
              <a:def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•  Security: 165 pax/h/lane, conservative bound of 165–200</a:t>
            </a:r>
          </a:p>
          <a:p>
            <a:pPr algn="l">
              <a:buNone/>
              <a:def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    → service-time proxy = 3,600 / 165 = 21.818 s</a:t>
            </a:r>
          </a:p>
          <a:p>
            <a:pPr algn="l">
              <a:buNone/>
              <a:def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•  Immigration: 13 s/traveller, official SG bus-hall passport-clearance context</a:t>
            </a:r>
          </a:p>
          <a:p>
            <a:pPr algn="l">
              <a:buNone/>
              <a:def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20" b="1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DESIGN RULE — ASSUMED</a:t>
            </a:r>
          </a:p>
          <a:p>
            <a:pPr algn="l">
              <a:buNone/>
              <a:def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•  Target utilisation (ρ ≤ 0.85)</a:t>
            </a:r>
          </a:p>
          <a:p>
            <a:pPr algn="l">
              <a:buNone/>
              <a:def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•  Retain ≥15% nominal capacity headroom</a:t>
            </a:r>
          </a:p>
          <a:p>
            <a:pPr algn="l">
              <a:buNone/>
              <a:def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20" b="1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DERIVED REFERENCE CAPACITY</a:t>
            </a:r>
          </a:p>
          <a:p>
            <a:pPr algn="l">
              <a:buNone/>
              <a:def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•  Security: ceil(1.364213 × 21.818 / 0.85) = 36 concurrent service positions</a:t>
            </a:r>
          </a:p>
          <a:p>
            <a:pPr algn="l">
              <a:buNone/>
              <a:def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2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•  Immigration: ceil(1.364213 × 13 / 0.85) = 21 concurrent service positions</a:t>
            </a:r>
          </a:p>
        </p:txBody>
      </p:sp>
    </p:spTree>
    <p:extLst>
      <p:ext uri="{BB962C8B-B14F-4D97-AF65-F5344CB8AC3E}">
        <p14:creationId xmlns:p14="http://schemas.microsoft.com/office/powerpoint/2010/main" val="462397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sults-footer">
            <a:extLst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8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1" name="merged-insight-title">
            <a:extLst>
              <a:ext uri="{FF2B5EF4-FFF2-40B4-BE49-F238E27FC236}">
                <a16:creationId xmlns:a16="http://schemas.microsoft.com/office/drawing/2014/main" id="{4C2832E1-46DD-4A56-A60D-314985E8D77B}"/>
              </a:ext>
            </a:extLst>
          </p:cNvPr>
          <p:cNvSpPr>
            <a:spLocks noGrp="1"/>
          </p:cNvSpPr>
          <p:nvPr/>
        </p:nvSpPr>
        <p:spPr>
          <a:xfrm>
            <a:off x="393668" y="295275"/>
            <a:ext cx="11404568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2213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13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Capacity sets delay; finite space determines where congestion lands</a:t>
            </a:r>
          </a:p>
        </p:txBody>
      </p:sp>
      <p:sp>
        <p:nvSpPr>
          <p:cNvPr id="12" name="merged-insight-subtitle">
            <a:extLst>
              <a:ext uri="{FF2B5EF4-FFF2-40B4-BE49-F238E27FC236}">
                <a16:creationId xmlns:a16="http://schemas.microsoft.com/office/drawing/2014/main" id="{A7DB8186-479F-4F44-A369-33B7143CE935}"/>
              </a:ext>
            </a:extLst>
          </p:cNvPr>
          <p:cNvSpPr>
            <a:spLocks noGrp="1"/>
          </p:cNvSpPr>
          <p:nvPr/>
        </p:nvSpPr>
        <p:spPr>
          <a:xfrm>
            <a:off x="400050" y="781050"/>
            <a:ext cx="11391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Capacity: 54 × 50 | duration: 4 × 5 × 50 | finite buffer: 2 × 4 × 50 | replication means; 95% CIs shown where plotted</a:t>
            </a:r>
          </a:p>
        </p:txBody>
      </p:sp>
      <p:sp>
        <p:nvSpPr>
          <p:cNvPr id="13" name="surface-letter">
            <a:extLst>
              <a:ext uri="{FF2B5EF4-FFF2-40B4-BE49-F238E27FC236}">
                <a16:creationId xmlns:a16="http://schemas.microsoft.com/office/drawing/2014/main" id="{3FA0EEE5-E4D6-43F8-84AC-1DA64703398C}"/>
              </a:ext>
            </a:extLst>
          </p:cNvPr>
          <p:cNvSpPr>
            <a:spLocks noGrp="1"/>
          </p:cNvSpPr>
          <p:nvPr/>
        </p:nvSpPr>
        <p:spPr>
          <a:xfrm>
            <a:off x="419100" y="1057275"/>
            <a:ext cx="247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275" b="1">
                <a:solidFill>
                  <a:srgbClr val="315C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15CE8"/>
                </a:solidFill>
                <a:latin typeface="Helvetica Neue"/>
                <a:ea typeface="Helvetica Neue"/>
                <a:cs typeface="Helvetica Neue"/>
              </a:rPr>
              <a:t>A</a:t>
            </a:r>
          </a:p>
        </p:txBody>
      </p:sp>
      <p:sp>
        <p:nvSpPr>
          <p:cNvPr id="14" name="surface-title">
            <a:extLst>
              <a:ext uri="{FF2B5EF4-FFF2-40B4-BE49-F238E27FC236}">
                <a16:creationId xmlns:a16="http://schemas.microsoft.com/office/drawing/2014/main" id="{719B6493-CE1C-4B68-AF9C-77D2D3425B75}"/>
              </a:ext>
            </a:extLst>
          </p:cNvPr>
          <p:cNvSpPr>
            <a:spLocks noGrp="1"/>
          </p:cNvSpPr>
          <p:nvPr/>
        </p:nvSpPr>
        <p:spPr>
          <a:xfrm>
            <a:off x="676275" y="1047750"/>
            <a:ext cx="33623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125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CAPACITY RESPONSE SURFACE</a:t>
            </a:r>
          </a:p>
        </p:txBody>
      </p:sp>
      <p:sp>
        <p:nvSpPr>
          <p:cNvPr id="15" name="tail-letter">
            <a:extLst>
              <a:ext uri="{FF2B5EF4-FFF2-40B4-BE49-F238E27FC236}">
                <a16:creationId xmlns:a16="http://schemas.microsoft.com/office/drawing/2014/main" id="{9D667BE2-2028-4D08-81C5-7A390927F439}"/>
              </a:ext>
            </a:extLst>
          </p:cNvPr>
          <p:cNvSpPr>
            <a:spLocks noGrp="1"/>
          </p:cNvSpPr>
          <p:nvPr/>
        </p:nvSpPr>
        <p:spPr>
          <a:xfrm>
            <a:off x="4362450" y="1057275"/>
            <a:ext cx="247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275" b="1">
                <a:solidFill>
                  <a:srgbClr val="EC5B0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C5B05"/>
                </a:solidFill>
                <a:latin typeface="Helvetica Neue"/>
                <a:ea typeface="Helvetica Neue"/>
                <a:cs typeface="Helvetica Neue"/>
              </a:rPr>
              <a:t>B</a:t>
            </a:r>
          </a:p>
        </p:txBody>
      </p:sp>
      <p:sp>
        <p:nvSpPr>
          <p:cNvPr id="16" name="tail-title">
            <a:extLst>
              <a:ext uri="{FF2B5EF4-FFF2-40B4-BE49-F238E27FC236}">
                <a16:creationId xmlns:a16="http://schemas.microsoft.com/office/drawing/2014/main" id="{70C33E0F-8111-4708-94F1-3EC0E3425B3B}"/>
              </a:ext>
            </a:extLst>
          </p:cNvPr>
          <p:cNvSpPr>
            <a:spLocks noGrp="1"/>
          </p:cNvSpPr>
          <p:nvPr/>
        </p:nvSpPr>
        <p:spPr>
          <a:xfrm>
            <a:off x="4619625" y="1047750"/>
            <a:ext cx="33432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125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TRAVELLER P95 QUEUE-WAIT TAIL</a:t>
            </a:r>
          </a:p>
        </p:txBody>
      </p:sp>
      <p:sp>
        <p:nvSpPr>
          <p:cNvPr id="17" name="cutoff-letter">
            <a:extLst>
              <a:ext uri="{FF2B5EF4-FFF2-40B4-BE49-F238E27FC236}">
                <a16:creationId xmlns:a16="http://schemas.microsoft.com/office/drawing/2014/main" id="{FDE34FE2-3162-4006-A9C1-0166F2D61623}"/>
              </a:ext>
            </a:extLst>
          </p:cNvPr>
          <p:cNvSpPr>
            <a:spLocks noGrp="1"/>
          </p:cNvSpPr>
          <p:nvPr/>
        </p:nvSpPr>
        <p:spPr>
          <a:xfrm>
            <a:off x="8286750" y="1057275"/>
            <a:ext cx="247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275" b="1">
                <a:solidFill>
                  <a:srgbClr val="C51F1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C51F1A"/>
                </a:solidFill>
                <a:latin typeface="Helvetica Neue"/>
                <a:ea typeface="Helvetica Neue"/>
                <a:cs typeface="Helvetica Neue"/>
              </a:rPr>
              <a:t>C</a:t>
            </a:r>
          </a:p>
        </p:txBody>
      </p:sp>
      <p:sp>
        <p:nvSpPr>
          <p:cNvPr id="18" name="cutoff-title">
            <a:extLst>
              <a:ext uri="{FF2B5EF4-FFF2-40B4-BE49-F238E27FC236}">
                <a16:creationId xmlns:a16="http://schemas.microsoft.com/office/drawing/2014/main" id="{A5B598C2-899D-48AE-AF4C-A27021F8BF58}"/>
              </a:ext>
            </a:extLst>
          </p:cNvPr>
          <p:cNvSpPr>
            <a:spLocks noGrp="1"/>
          </p:cNvSpPr>
          <p:nvPr/>
        </p:nvSpPr>
        <p:spPr>
          <a:xfrm>
            <a:off x="8543925" y="1047750"/>
            <a:ext cx="32289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125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QUEUE REMAINING AT CUTOFF</a:t>
            </a:r>
          </a:p>
        </p:txBody>
      </p:sp>
      <p:sp>
        <p:nvSpPr>
          <p:cNvPr id="19" name="panel-frame-1">
            <a:extLst>
              <a:ext uri="{FF2B5EF4-FFF2-40B4-BE49-F238E27FC236}">
                <a16:creationId xmlns:a16="http://schemas.microsoft.com/office/drawing/2014/main" id="{716E94C0-2145-42AB-8F53-E16F1F5CBC7D}"/>
              </a:ext>
            </a:extLst>
          </p:cNvPr>
          <p:cNvSpPr>
            <a:spLocks noGrp="1"/>
          </p:cNvSpPr>
          <p:nvPr/>
        </p:nvSpPr>
        <p:spPr>
          <a:xfrm>
            <a:off x="323850" y="1333500"/>
            <a:ext cx="3810000" cy="2019300"/>
          </a:xfrm>
          <a:prstGeom prst="roundRect">
            <a:avLst>
              <a:gd name="adj" fmla="val 4094"/>
            </a:avLst>
          </a:prstGeom>
          <a:noFill/>
          <a:ln w="10478">
            <a:solidFill>
              <a:srgbClr val="D8E0E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0" name="panel-frame-2">
            <a:extLst>
              <a:ext uri="{FF2B5EF4-FFF2-40B4-BE49-F238E27FC236}">
                <a16:creationId xmlns:a16="http://schemas.microsoft.com/office/drawing/2014/main" id="{F4BE91E8-19CA-4DD7-9911-2909B15DC26D}"/>
              </a:ext>
            </a:extLst>
          </p:cNvPr>
          <p:cNvSpPr>
            <a:spLocks noGrp="1"/>
          </p:cNvSpPr>
          <p:nvPr/>
        </p:nvSpPr>
        <p:spPr>
          <a:xfrm>
            <a:off x="4267200" y="1333500"/>
            <a:ext cx="3790950" cy="2019300"/>
          </a:xfrm>
          <a:prstGeom prst="roundRect">
            <a:avLst>
              <a:gd name="adj" fmla="val 4094"/>
            </a:avLst>
          </a:prstGeom>
          <a:noFill/>
          <a:ln w="10478">
            <a:solidFill>
              <a:srgbClr val="D8E0E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1" name="panel-frame-3">
            <a:extLst>
              <a:ext uri="{FF2B5EF4-FFF2-40B4-BE49-F238E27FC236}">
                <a16:creationId xmlns:a16="http://schemas.microsoft.com/office/drawing/2014/main" id="{FE8FDC62-0DFE-42E0-8E26-62743D03D49D}"/>
              </a:ext>
            </a:extLst>
          </p:cNvPr>
          <p:cNvSpPr>
            <a:spLocks noGrp="1"/>
          </p:cNvSpPr>
          <p:nvPr/>
        </p:nvSpPr>
        <p:spPr>
          <a:xfrm>
            <a:off x="8191500" y="1333500"/>
            <a:ext cx="3676650" cy="2019300"/>
          </a:xfrm>
          <a:prstGeom prst="roundRect">
            <a:avLst>
              <a:gd name="adj" fmla="val 4094"/>
            </a:avLst>
          </a:prstGeom>
          <a:noFill/>
          <a:ln w="10478">
            <a:solidFill>
              <a:srgbClr val="D8E0E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pic>
        <p:nvPicPr>
          <p:cNvPr id="74" name="Picture 7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66775" y="1362075"/>
            <a:ext cx="2724150" cy="1609725"/>
          </a:xfrm>
          <a:prstGeom prst="rect">
            <a:avLst/>
          </a:prstGeom>
        </p:spPr>
      </p:pic>
      <p:sp>
        <p:nvSpPr>
          <p:cNvPr id="23" name="surface-axis-caption">
            <a:extLst>
              <a:ext uri="{FF2B5EF4-FFF2-40B4-BE49-F238E27FC236}">
                <a16:creationId xmlns:a16="http://schemas.microsoft.com/office/drawing/2014/main" id="{125AA24E-2E10-4F24-BE4F-C9AFF1EBD62A}"/>
              </a:ext>
            </a:extLst>
          </p:cNvPr>
          <p:cNvSpPr>
            <a:spLocks noGrp="1"/>
          </p:cNvSpPr>
          <p:nvPr/>
        </p:nvSpPr>
        <p:spPr>
          <a:xfrm>
            <a:off x="457200" y="3009900"/>
            <a:ext cx="35433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638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8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S36→28 | I21→16 | z = mean P95 wait (s)</a:t>
            </a:r>
          </a:p>
        </p:txBody>
      </p:sp>
      <p:sp>
        <p:nvSpPr>
          <p:cNvPr id="24" name="surface-reference-caption">
            <a:extLst>
              <a:ext uri="{FF2B5EF4-FFF2-40B4-BE49-F238E27FC236}">
                <a16:creationId xmlns:a16="http://schemas.microsoft.com/office/drawing/2014/main" id="{873E3889-9763-415D-8D02-4DBFDAD264D1}"/>
              </a:ext>
            </a:extLst>
          </p:cNvPr>
          <p:cNvSpPr>
            <a:spLocks noGrp="1"/>
          </p:cNvSpPr>
          <p:nvPr/>
        </p:nvSpPr>
        <p:spPr>
          <a:xfrm>
            <a:off x="457200" y="3181350"/>
            <a:ext cx="3543300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615" b="1">
                <a:solidFill>
                  <a:srgbClr val="315C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" b="1">
                <a:solidFill>
                  <a:srgbClr val="315CE8"/>
                </a:solidFill>
                <a:latin typeface="Helvetica Neue"/>
                <a:ea typeface="Helvetica Neue"/>
                <a:cs typeface="Helvetica Neue"/>
              </a:rPr>
              <a:t>36/21: HPP P95 3.93 s | ideal oracle 0 s</a:t>
            </a:r>
          </a:p>
        </p:txBody>
      </p:sp>
      <p:pic>
        <p:nvPicPr>
          <p:cNvPr id="77" name="Picture 76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343400" y="1581150"/>
            <a:ext cx="3638550" cy="1685925"/>
          </a:xfrm>
          <a:prstGeom prst="rect">
            <a:avLst/>
          </a:prstGeom>
        </p:spPr>
      </p:pic>
      <p:pic>
        <p:nvPicPr>
          <p:cNvPr id="78" name="Picture 77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267700" y="1628775"/>
            <a:ext cx="3429000" cy="1609725"/>
          </a:xfrm>
          <a:prstGeom prst="rect">
            <a:avLst/>
          </a:prstGeom>
        </p:spPr>
      </p:pic>
      <p:sp>
        <p:nvSpPr>
          <p:cNvPr id="27" name="legend-36/21  ρ=.845">
            <a:extLst>
              <a:ext uri="{FF2B5EF4-FFF2-40B4-BE49-F238E27FC236}">
                <a16:creationId xmlns:a16="http://schemas.microsoft.com/office/drawing/2014/main" id="{450A179A-1604-404E-8F8F-A67F0CE70852}"/>
              </a:ext>
            </a:extLst>
          </p:cNvPr>
          <p:cNvSpPr>
            <a:spLocks noGrp="1"/>
          </p:cNvSpPr>
          <p:nvPr/>
        </p:nvSpPr>
        <p:spPr>
          <a:xfrm>
            <a:off x="4305300" y="3378200"/>
            <a:ext cx="1809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713" b="1">
                <a:solidFill>
                  <a:srgbClr val="137E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713" b="1" dirty="0">
                <a:solidFill>
                  <a:srgbClr val="137E73"/>
                </a:solidFill>
                <a:latin typeface="Helvetica Neue"/>
                <a:ea typeface="Helvetica Neue"/>
                <a:cs typeface="Helvetica Neue"/>
              </a:rPr>
              <a:t>●  36/21  ρ=.845</a:t>
            </a:r>
          </a:p>
        </p:txBody>
      </p:sp>
      <p:sp>
        <p:nvSpPr>
          <p:cNvPr id="28" name="legend-30/18  ρ=.992">
            <a:extLst>
              <a:ext uri="{FF2B5EF4-FFF2-40B4-BE49-F238E27FC236}">
                <a16:creationId xmlns:a16="http://schemas.microsoft.com/office/drawing/2014/main" id="{BE85418A-3B61-4263-A5C4-08E798A5539D}"/>
              </a:ext>
            </a:extLst>
          </p:cNvPr>
          <p:cNvSpPr>
            <a:spLocks noGrp="1"/>
          </p:cNvSpPr>
          <p:nvPr/>
        </p:nvSpPr>
        <p:spPr>
          <a:xfrm>
            <a:off x="6115050" y="3378200"/>
            <a:ext cx="1809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713" b="1">
                <a:solidFill>
                  <a:srgbClr val="315C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713" b="1" dirty="0">
                <a:solidFill>
                  <a:srgbClr val="315CE8"/>
                </a:solidFill>
                <a:latin typeface="Helvetica Neue"/>
                <a:ea typeface="Helvetica Neue"/>
                <a:cs typeface="Helvetica Neue"/>
              </a:rPr>
              <a:t>●  30/18  ρ=.992</a:t>
            </a:r>
          </a:p>
        </p:txBody>
      </p:sp>
      <p:sp>
        <p:nvSpPr>
          <p:cNvPr id="29" name="legend-29/17  ρ=1.043">
            <a:extLst>
              <a:ext uri="{FF2B5EF4-FFF2-40B4-BE49-F238E27FC236}">
                <a16:creationId xmlns:a16="http://schemas.microsoft.com/office/drawing/2014/main" id="{42BC0DA6-4155-4749-9305-BE03B8075C3B}"/>
              </a:ext>
            </a:extLst>
          </p:cNvPr>
          <p:cNvSpPr>
            <a:spLocks noGrp="1"/>
          </p:cNvSpPr>
          <p:nvPr/>
        </p:nvSpPr>
        <p:spPr>
          <a:xfrm>
            <a:off x="7924800" y="3378200"/>
            <a:ext cx="1809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713" b="1">
                <a:solidFill>
                  <a:srgbClr val="EC5B05"/>
                </a:solidFill>
                <a:latin typeface="Helvetica Neue"/>
                <a:ea typeface="Helvetica Neue"/>
                <a:cs typeface="Helvetica Neue"/>
              </a:defRPr>
            </a:pPr>
            <a:r>
              <a:rPr sz="713" b="1" dirty="0">
                <a:solidFill>
                  <a:srgbClr val="EC5B05"/>
                </a:solidFill>
                <a:latin typeface="Helvetica Neue"/>
                <a:ea typeface="Helvetica Neue"/>
                <a:cs typeface="Helvetica Neue"/>
              </a:rPr>
              <a:t>●  29/17  ρ=1.043</a:t>
            </a:r>
          </a:p>
        </p:txBody>
      </p:sp>
      <p:sp>
        <p:nvSpPr>
          <p:cNvPr id="30" name="legend-28/16  ρ=1.108">
            <a:extLst>
              <a:ext uri="{FF2B5EF4-FFF2-40B4-BE49-F238E27FC236}">
                <a16:creationId xmlns:a16="http://schemas.microsoft.com/office/drawing/2014/main" id="{4341D9C1-4348-43FD-B791-D1F21AA88894}"/>
              </a:ext>
            </a:extLst>
          </p:cNvPr>
          <p:cNvSpPr>
            <a:spLocks noGrp="1"/>
          </p:cNvSpPr>
          <p:nvPr/>
        </p:nvSpPr>
        <p:spPr>
          <a:xfrm>
            <a:off x="9734550" y="3378200"/>
            <a:ext cx="1809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713" b="1">
                <a:solidFill>
                  <a:srgbClr val="C51F1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13" b="1" dirty="0">
                <a:solidFill>
                  <a:srgbClr val="C51F1A"/>
                </a:solidFill>
                <a:latin typeface="Helvetica Neue"/>
                <a:ea typeface="Helvetica Neue"/>
                <a:cs typeface="Helvetica Neue"/>
              </a:rPr>
              <a:t>●  28/16  ρ=1.108</a:t>
            </a:r>
          </a:p>
        </p:txBody>
      </p:sp>
      <p:sp>
        <p:nvSpPr>
          <p:cNvPr id="31" name="threshold-insight-strip">
            <a:extLst>
              <a:ext uri="{FF2B5EF4-FFF2-40B4-BE49-F238E27FC236}">
                <a16:creationId xmlns:a16="http://schemas.microsoft.com/office/drawing/2014/main" id="{3BF7059D-1299-4298-BAD5-DE65A8C6BA74}"/>
              </a:ext>
            </a:extLst>
          </p:cNvPr>
          <p:cNvSpPr>
            <a:spLocks noGrp="1"/>
          </p:cNvSpPr>
          <p:nvPr/>
        </p:nvSpPr>
        <p:spPr>
          <a:xfrm>
            <a:off x="400050" y="5572125"/>
            <a:ext cx="11391900" cy="381000"/>
          </a:xfrm>
          <a:prstGeom prst="roundRect">
            <a:avLst>
              <a:gd name="adj" fmla="val 22222"/>
            </a:avLst>
          </a:prstGeom>
          <a:noFill/>
          <a:ln w="9525">
            <a:solidFill>
              <a:srgbClr val="BFCDF6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2" name="threshold-insight">
            <a:extLst>
              <a:ext uri="{FF2B5EF4-FFF2-40B4-BE49-F238E27FC236}">
                <a16:creationId xmlns:a16="http://schemas.microsoft.com/office/drawing/2014/main" id="{695321D3-9477-4B01-B206-D5D083E82CB4}"/>
              </a:ext>
            </a:extLst>
          </p:cNvPr>
          <p:cNvSpPr>
            <a:spLocks noGrp="1"/>
          </p:cNvSpPr>
          <p:nvPr/>
        </p:nvSpPr>
        <p:spPr>
          <a:xfrm>
            <a:off x="552450" y="5648325"/>
            <a:ext cx="1108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96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DECISION INSIGHT  |  Identify the active bottleneck; test long-peak recovery; measure interstage space before sizing a pilot.</a:t>
            </a:r>
          </a:p>
        </p:txBody>
      </p:sp>
      <p:sp>
        <p:nvSpPr>
          <p:cNvPr id="33" name="merged-evidence-boundary">
            <a:extLst>
              <a:ext uri="{FF2B5EF4-FFF2-40B4-BE49-F238E27FC236}">
                <a16:creationId xmlns:a16="http://schemas.microsoft.com/office/drawing/2014/main" id="{8D0EA66C-CBBE-4B1F-8E6E-18F8DC9D3EAF}"/>
              </a:ext>
            </a:extLst>
          </p:cNvPr>
          <p:cNvSpPr>
            <a:spLocks noGrp="1"/>
          </p:cNvSpPr>
          <p:nvPr/>
        </p:nvSpPr>
        <p:spPr>
          <a:xfrm>
            <a:off x="400050" y="6029325"/>
            <a:ext cx="10572750" cy="333375"/>
          </a:xfrm>
          <a:prstGeom prst="roundRect">
            <a:avLst>
              <a:gd name="adj" fmla="val 16667"/>
            </a:avLst>
          </a:prstGeom>
          <a:noFill/>
          <a:ln w="9525">
            <a:solidFill>
              <a:srgbClr val="D8E0E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4" name="merged-evidence-boundary-text">
            <a:extLst>
              <a:ext uri="{FF2B5EF4-FFF2-40B4-BE49-F238E27FC236}">
                <a16:creationId xmlns:a16="http://schemas.microsoft.com/office/drawing/2014/main" id="{8E856523-8EAB-48FC-88C9-711F6BAF9990}"/>
              </a:ext>
            </a:extLst>
          </p:cNvPr>
          <p:cNvSpPr>
            <a:spLocks noGrp="1"/>
          </p:cNvSpPr>
          <p:nvPr/>
        </p:nvSpPr>
        <p:spPr>
          <a:xfrm>
            <a:off x="552450" y="6076950"/>
            <a:ext cx="102679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6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6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EVIDENCE BOUNDARY  |  Capacity: 2,700 runs; duration: 1,000; finite buffer: 400. B is assumed; B5000 is a non-binding guard.</a:t>
            </a:r>
          </a:p>
          <a:p>
            <a:pPr algn="l">
              <a:buNone/>
              <a:defRPr sz="6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66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Stationary HPP, empty/idle, pooled FCFS, no loss, single path and full drain; comparative evidence—not a site forecast.</a:t>
            </a:r>
          </a:p>
        </p:txBody>
      </p:sp>
      <p:sp>
        <p:nvSpPr>
          <p:cNvPr id="38" name="finite-buffer-panel-frame">
            <a:extLst>
              <a:ext uri="{FF2B5EF4-FFF2-40B4-BE49-F238E27FC236}">
                <a16:creationId xmlns:a16="http://schemas.microsoft.com/office/drawing/2014/main" id="{9AA27AA2-3D89-487D-BF7C-BC68F9A4F4FD}"/>
              </a:ext>
            </a:extLst>
          </p:cNvPr>
          <p:cNvSpPr>
            <a:spLocks noGrp="1"/>
          </p:cNvSpPr>
          <p:nvPr/>
        </p:nvSpPr>
        <p:spPr>
          <a:xfrm>
            <a:off x="400050" y="3971925"/>
            <a:ext cx="11391900" cy="1524000"/>
          </a:xfrm>
          <a:prstGeom prst="roundRect">
            <a:avLst>
              <a:gd name="adj" fmla="val 7500"/>
            </a:avLst>
          </a:prstGeom>
          <a:noFill/>
          <a:ln w="9525">
            <a:solidFill>
              <a:srgbClr val="D8E0E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9" name="finite-buffer-letter">
            <a:extLst>
              <a:ext uri="{FF2B5EF4-FFF2-40B4-BE49-F238E27FC236}">
                <a16:creationId xmlns:a16="http://schemas.microsoft.com/office/drawing/2014/main" id="{4408BDA7-BD8B-44A5-828D-BA74106EC69C}"/>
              </a:ext>
            </a:extLst>
          </p:cNvPr>
          <p:cNvSpPr>
            <a:spLocks noGrp="1"/>
          </p:cNvSpPr>
          <p:nvPr/>
        </p:nvSpPr>
        <p:spPr>
          <a:xfrm>
            <a:off x="533400" y="4019550"/>
            <a:ext cx="209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38" b="1">
                <a:solidFill>
                  <a:srgbClr val="EC5B0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38" b="1">
                <a:solidFill>
                  <a:srgbClr val="EC5B05"/>
                </a:solidFill>
                <a:latin typeface="Helvetica Neue"/>
                <a:ea typeface="Helvetica Neue"/>
                <a:cs typeface="Helvetica Neue"/>
              </a:rPr>
              <a:t>D</a:t>
            </a:r>
          </a:p>
        </p:txBody>
      </p:sp>
      <p:sp>
        <p:nvSpPr>
          <p:cNvPr id="40" name="finite-buffer-title">
            <a:extLst>
              <a:ext uri="{FF2B5EF4-FFF2-40B4-BE49-F238E27FC236}">
                <a16:creationId xmlns:a16="http://schemas.microsoft.com/office/drawing/2014/main" id="{619DC5BA-C7BB-4CCA-A816-DEB6431070B3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81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WHY | DOES FINITE SPACE ADD DELAY OR RELOCATE CONGESTION?</a:t>
            </a:r>
          </a:p>
        </p:txBody>
      </p:sp>
      <p:graphicFrame>
        <p:nvGraphicFramePr>
          <p:cNvPr id="90" name="Chart"/>
          <p:cNvGraphicFramePr/>
          <p:nvPr>
            <p:extLst>
              <p:ext uri="{D42A27DB-BD31-4B8C-83A1-F6EECF244321}">
                <p14:modId xmlns:p14="http://schemas.microsoft.com/office/powerpoint/2010/main" val="2564439028"/>
              </p:ext>
            </p:extLst>
          </p:nvPr>
        </p:nvGraphicFramePr>
        <p:xfrm>
          <a:off x="590550" y="4210050"/>
          <a:ext cx="5905500" cy="1181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42" name="finite-buffer-divider">
            <a:extLst>
              <a:ext uri="{FF2B5EF4-FFF2-40B4-BE49-F238E27FC236}">
                <a16:creationId xmlns:a16="http://schemas.microsoft.com/office/drawing/2014/main" id="{50B2E175-05C3-43A3-9CD2-B15399D1F117}"/>
              </a:ext>
            </a:extLst>
          </p:cNvPr>
          <p:cNvSpPr>
            <a:spLocks noGrp="1"/>
          </p:cNvSpPr>
          <p:nvPr/>
        </p:nvSpPr>
        <p:spPr>
          <a:xfrm>
            <a:off x="6724650" y="4181475"/>
            <a:ext cx="19050" cy="1133475"/>
          </a:xfrm>
          <a:prstGeom prst="rect">
            <a:avLst/>
          </a:prstGeom>
          <a:solidFill>
            <a:srgbClr val="D8E0EB"/>
          </a:solidFill>
          <a:ln w="0">
            <a:solidFill>
              <a:srgbClr val="D8E0EB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43" name="finite-buffer-regime-label">
            <a:extLst>
              <a:ext uri="{FF2B5EF4-FFF2-40B4-BE49-F238E27FC236}">
                <a16:creationId xmlns:a16="http://schemas.microsoft.com/office/drawing/2014/main" id="{AE803DF0-E914-4BBB-A1DF-B42E359E7F59}"/>
              </a:ext>
            </a:extLst>
          </p:cNvPr>
          <p:cNvSpPr>
            <a:spLocks noGrp="1"/>
          </p:cNvSpPr>
          <p:nvPr/>
        </p:nvSpPr>
        <p:spPr>
          <a:xfrm>
            <a:off x="6953250" y="4143375"/>
            <a:ext cx="4476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81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MODEL CASE | Immigration bottleneck S36 / I16</a:t>
            </a:r>
          </a:p>
        </p:txBody>
      </p:sp>
      <p:sp>
        <p:nvSpPr>
          <p:cNvPr id="44" name="finite-buffer-blocking-stat">
            <a:extLst>
              <a:ext uri="{FF2B5EF4-FFF2-40B4-BE49-F238E27FC236}">
                <a16:creationId xmlns:a16="http://schemas.microsoft.com/office/drawing/2014/main" id="{DEB0EACE-994B-4E64-A2B2-498FF0807835}"/>
              </a:ext>
            </a:extLst>
          </p:cNvPr>
          <p:cNvSpPr>
            <a:spLocks noGrp="1"/>
          </p:cNvSpPr>
          <p:nvPr/>
        </p:nvSpPr>
        <p:spPr>
          <a:xfrm>
            <a:off x="6953250" y="4324350"/>
            <a:ext cx="4476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EC5B0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EC5B05"/>
                </a:solidFill>
                <a:latin typeface="Helvetica Neue"/>
                <a:ea typeface="Helvetica Neue"/>
                <a:cs typeface="Helvetica Neue"/>
              </a:rPr>
              <a:t>6.66%  →  1.01%  →  0%</a:t>
            </a:r>
          </a:p>
        </p:txBody>
      </p:sp>
      <p:sp>
        <p:nvSpPr>
          <p:cNvPr id="45" name="finite-buffer-blocking-caption">
            <a:extLst>
              <a:ext uri="{FF2B5EF4-FFF2-40B4-BE49-F238E27FC236}">
                <a16:creationId xmlns:a16="http://schemas.microsoft.com/office/drawing/2014/main" id="{1F01F9AA-A309-4674-BA4C-7C4ECFD9B96F}"/>
              </a:ext>
            </a:extLst>
          </p:cNvPr>
          <p:cNvSpPr>
            <a:spLocks noGrp="1"/>
          </p:cNvSpPr>
          <p:nvPr/>
        </p:nvSpPr>
        <p:spPr>
          <a:xfrm>
            <a:off x="6953250" y="4591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81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EVIDENCE | Security locking falls from 6.66% to 0% by B100.</a:t>
            </a:r>
          </a:p>
        </p:txBody>
      </p:sp>
      <p:sp>
        <p:nvSpPr>
          <p:cNvPr id="46" name="finite-buffer-p95-stat">
            <a:extLst>
              <a:ext uri="{FF2B5EF4-FFF2-40B4-BE49-F238E27FC236}">
                <a16:creationId xmlns:a16="http://schemas.microsoft.com/office/drawing/2014/main" id="{6FF53F8D-5BBD-4910-9547-5A090BD9E137}"/>
              </a:ext>
            </a:extLst>
          </p:cNvPr>
          <p:cNvSpPr>
            <a:spLocks noGrp="1"/>
          </p:cNvSpPr>
          <p:nvPr/>
        </p:nvSpPr>
        <p:spPr>
          <a:xfrm>
            <a:off x="6953250" y="4829175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00"/>
          </a:bodyPr>
          <a:lstStyle/>
          <a:p>
            <a:pPr algn="l">
              <a:buNone/>
              <a:defRPr sz="1313" b="1">
                <a:solidFill>
                  <a:srgbClr val="137E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13" b="1">
                <a:solidFill>
                  <a:srgbClr val="137E73"/>
                </a:solidFill>
                <a:latin typeface="Helvetica Neue"/>
                <a:ea typeface="Helvetica Neue"/>
                <a:cs typeface="Helvetica Neue"/>
              </a:rPr>
              <a:t>Mean replication-level system-time P95 = 70.43 s at every B</a:t>
            </a:r>
          </a:p>
        </p:txBody>
      </p:sp>
      <p:sp>
        <p:nvSpPr>
          <p:cNvPr id="47" name="finite-buffer-p95-caption">
            <a:extLst>
              <a:ext uri="{FF2B5EF4-FFF2-40B4-BE49-F238E27FC236}">
                <a16:creationId xmlns:a16="http://schemas.microsoft.com/office/drawing/2014/main" id="{3CA7D9A2-7F35-4AF6-91FD-8FD33BCE6179}"/>
              </a:ext>
            </a:extLst>
          </p:cNvPr>
          <p:cNvSpPr>
            <a:spLocks noGrp="1"/>
          </p:cNvSpPr>
          <p:nvPr/>
        </p:nvSpPr>
        <p:spPr>
          <a:xfrm>
            <a:off x="6959600" y="5133975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773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773" b="0" dirty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EVIDENCE | B100 is non-binding; mean replication system-time P95 remains 70.43 s.</a:t>
            </a:r>
          </a:p>
        </p:txBody>
      </p:sp>
      <p:sp>
        <p:nvSpPr>
          <p:cNvPr id="52" name="panel-a-decision-test">
            <a:extLst>
              <a:ext uri="{FF2B5EF4-FFF2-40B4-BE49-F238E27FC236}">
                <a16:creationId xmlns:a16="http://schemas.microsoft.com/office/drawing/2014/main" id="{F42D7A73-7EFB-4CA6-9A17-568257F5B223}"/>
              </a:ext>
            </a:extLst>
          </p:cNvPr>
          <p:cNvSpPr>
            <a:spLocks noGrp="1"/>
          </p:cNvSpPr>
          <p:nvPr/>
        </p:nvSpPr>
        <p:spPr>
          <a:xfrm>
            <a:off x="457200" y="3590925"/>
            <a:ext cx="35433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81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WHY | Locate the joint Security–Immigration capacity threshold.</a:t>
            </a:r>
          </a:p>
        </p:txBody>
      </p:sp>
      <p:sp>
        <p:nvSpPr>
          <p:cNvPr id="53" name="panel-a-decision-result">
            <a:extLst>
              <a:ext uri="{FF2B5EF4-FFF2-40B4-BE49-F238E27FC236}">
                <a16:creationId xmlns:a16="http://schemas.microsoft.com/office/drawing/2014/main" id="{0864E843-E1E0-4466-AF02-0809F2DDC786}"/>
              </a:ext>
            </a:extLst>
          </p:cNvPr>
          <p:cNvSpPr>
            <a:spLocks noGrp="1"/>
          </p:cNvSpPr>
          <p:nvPr/>
        </p:nvSpPr>
        <p:spPr>
          <a:xfrm>
            <a:off x="457200" y="3743325"/>
            <a:ext cx="3543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00"/>
          </a:bodyPr>
          <a:lstStyle/>
          <a:p>
            <a:pPr algn="l">
              <a:buNone/>
              <a:defRPr sz="81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EVIDENCE | 36/21 stays low; Immigration cuts drive the steepest P95 rise.</a:t>
            </a:r>
          </a:p>
        </p:txBody>
      </p:sp>
      <p:sp>
        <p:nvSpPr>
          <p:cNvPr id="54" name="panel-b-decision-test">
            <a:extLst>
              <a:ext uri="{FF2B5EF4-FFF2-40B4-BE49-F238E27FC236}">
                <a16:creationId xmlns:a16="http://schemas.microsoft.com/office/drawing/2014/main" id="{C5AEABBA-C8D9-4808-A0C3-848A3A38E27C}"/>
              </a:ext>
            </a:extLst>
          </p:cNvPr>
          <p:cNvSpPr>
            <a:spLocks noGrp="1"/>
          </p:cNvSpPr>
          <p:nvPr/>
        </p:nvSpPr>
        <p:spPr>
          <a:xfrm>
            <a:off x="4400550" y="3590925"/>
            <a:ext cx="3524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81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WHY | Test whether each capacity configuration survives a longer peak.</a:t>
            </a:r>
          </a:p>
        </p:txBody>
      </p:sp>
      <p:sp>
        <p:nvSpPr>
          <p:cNvPr id="55" name="panel-b-decision-result">
            <a:extLst>
              <a:ext uri="{FF2B5EF4-FFF2-40B4-BE49-F238E27FC236}">
                <a16:creationId xmlns:a16="http://schemas.microsoft.com/office/drawing/2014/main" id="{68A76266-657E-410E-B16B-E0971908E4AD}"/>
              </a:ext>
            </a:extLst>
          </p:cNvPr>
          <p:cNvSpPr>
            <a:spLocks noGrp="1"/>
          </p:cNvSpPr>
          <p:nvPr/>
        </p:nvSpPr>
        <p:spPr>
          <a:xfrm>
            <a:off x="4400550" y="3743325"/>
            <a:ext cx="3524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6625" lnSpcReduction="20000"/>
          </a:bodyPr>
          <a:lstStyle/>
          <a:p>
            <a:pPr algn="l">
              <a:buNone/>
              <a:defRPr sz="81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EVIDENCE | Near/over-capacity configurations accumulate tail wait; spare capacity stays stable.</a:t>
            </a:r>
          </a:p>
        </p:txBody>
      </p:sp>
      <p:sp>
        <p:nvSpPr>
          <p:cNvPr id="56" name="panel-c-decision-test">
            <a:extLst>
              <a:ext uri="{FF2B5EF4-FFF2-40B4-BE49-F238E27FC236}">
                <a16:creationId xmlns:a16="http://schemas.microsoft.com/office/drawing/2014/main" id="{D7696CC9-B1A3-433E-95F0-EE6CA8A5E11B}"/>
              </a:ext>
            </a:extLst>
          </p:cNvPr>
          <p:cNvSpPr>
            <a:spLocks noGrp="1"/>
          </p:cNvSpPr>
          <p:nvPr/>
        </p:nvSpPr>
        <p:spPr>
          <a:xfrm>
            <a:off x="8324850" y="3590925"/>
            <a:ext cx="33718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81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WHY | Test recoverability after new arrivals are stopped.</a:t>
            </a:r>
          </a:p>
        </p:txBody>
      </p:sp>
      <p:sp>
        <p:nvSpPr>
          <p:cNvPr id="57" name="panel-c-decision-result">
            <a:extLst>
              <a:ext uri="{FF2B5EF4-FFF2-40B4-BE49-F238E27FC236}">
                <a16:creationId xmlns:a16="http://schemas.microsoft.com/office/drawing/2014/main" id="{51B50C6B-0BB3-40BF-9A39-57CA45948858}"/>
              </a:ext>
            </a:extLst>
          </p:cNvPr>
          <p:cNvSpPr>
            <a:spLocks noGrp="1"/>
          </p:cNvSpPr>
          <p:nvPr/>
        </p:nvSpPr>
        <p:spPr>
          <a:xfrm>
            <a:off x="8324850" y="3743325"/>
            <a:ext cx="3371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134" lnSpcReduction="20000"/>
          </a:bodyPr>
          <a:lstStyle/>
          <a:p>
            <a:pPr algn="l">
              <a:buNone/>
              <a:defRPr sz="81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1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EVIDENCE | Residual queues grow near/above capacity, delaying post-peak clearance.</a:t>
            </a:r>
          </a:p>
        </p:txBody>
      </p:sp>
    </p:spTree>
    <p:extLst>
      <p:ext uri="{BB962C8B-B14F-4D97-AF65-F5344CB8AC3E}">
        <p14:creationId xmlns:p14="http://schemas.microsoft.com/office/powerpoint/2010/main" val="1928706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-Shape-532-p58-2">
            <a:extLst>
              <a:ext uri="{FF2B5EF4-FFF2-40B4-BE49-F238E27FC236}">
                <a16:creationId xmlns:a16="http://schemas.microsoft.com/office/drawing/2014/main" id="{781BD1AE-7A11-4633-9882-26A54E61AC61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8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60D39F14-0FCC-4D48-84A9-503858E93BCD}"/>
              </a:ext>
            </a:extLst>
          </p:cNvPr>
          <p:cNvSpPr>
            <a:spLocks noGrp="1"/>
          </p:cNvSpPr>
          <p:nvPr/>
        </p:nvSpPr>
        <p:spPr>
          <a:xfrm>
            <a:off x="400050" y="285750"/>
            <a:ext cx="11391900" cy="533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1820"/>
                </a:solidFill>
                <a:latin typeface="Helvetica Neue"/>
                <a:ea typeface="Helvetica Neue"/>
                <a:cs typeface="Helvetica Neue"/>
              </a:rPr>
              <a:t>The sandbox locates the regime; site evidence selects the lever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1F734D25-6349-400F-AF66-BD1D9FB85B0D}"/>
              </a:ext>
            </a:extLst>
          </p:cNvPr>
          <p:cNvSpPr>
            <a:spLocks noGrp="1"/>
          </p:cNvSpPr>
          <p:nvPr/>
        </p:nvSpPr>
        <p:spPr>
          <a:xfrm>
            <a:off x="7772400" y="2943225"/>
            <a:ext cx="4019550" cy="3238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0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Representative time-of-day arrivals + signed event ledger</a:t>
            </a:r>
          </a:p>
        </p:txBody>
      </p:sp>
      <p:sp>
        <p:nvSpPr>
          <p:cNvPr id="5" name="Google-Shape-340-p61-6">
            <a:extLst>
              <a:ext uri="{FF2B5EF4-FFF2-40B4-BE49-F238E27FC236}">
                <a16:creationId xmlns:a16="http://schemas.microsoft.com/office/drawing/2014/main" id="{6E6D46D7-9507-4899-9A12-17E0E2922281}"/>
              </a:ext>
            </a:extLst>
          </p:cNvPr>
          <p:cNvSpPr>
            <a:spLocks noGrp="1"/>
          </p:cNvSpPr>
          <p:nvPr/>
        </p:nvSpPr>
        <p:spPr>
          <a:xfrm>
            <a:off x="7507700" y="3552825"/>
            <a:ext cx="212598" cy="212503"/>
          </a:xfrm>
          <a:custGeom>
            <a:avLst/>
            <a:gdLst/>
            <a:ahLst/>
            <a:cxnLst/>
            <a:rect l="0" t="0" r="0" b="0"/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noFill/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Box-11-7">
            <a:extLst>
              <a:ext uri="{FF2B5EF4-FFF2-40B4-BE49-F238E27FC236}">
                <a16:creationId xmlns:a16="http://schemas.microsoft.com/office/drawing/2014/main" id="{CBEFA16B-F7C2-4B24-A924-9B27DF4A85C6}"/>
              </a:ext>
            </a:extLst>
          </p:cNvPr>
          <p:cNvSpPr>
            <a:spLocks noGrp="1"/>
          </p:cNvSpPr>
          <p:nvPr/>
        </p:nvSpPr>
        <p:spPr>
          <a:xfrm>
            <a:off x="390525" y="3429000"/>
            <a:ext cx="6191250" cy="2524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38100" bIns="19050" anchor="t">
            <a:normAutofit/>
          </a:bodyPr>
          <a:lstStyle/>
          <a:p>
            <a:pPr algn="l">
              <a:spcAft>
                <a:spcPts val="4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endParaRPr/>
          </a:p>
        </p:txBody>
      </p:sp>
      <p:sp>
        <p:nvSpPr>
          <p:cNvPr id="7" name="Content-Placeholder-10-8">
            <a:extLst>
              <a:ext uri="{FF2B5EF4-FFF2-40B4-BE49-F238E27FC236}">
                <a16:creationId xmlns:a16="http://schemas.microsoft.com/office/drawing/2014/main" id="{9655FE59-28B3-4208-9D38-8CA87FE9D7E8}"/>
              </a:ext>
            </a:extLst>
          </p:cNvPr>
          <p:cNvSpPr>
            <a:spLocks noGrp="1"/>
          </p:cNvSpPr>
          <p:nvPr/>
        </p:nvSpPr>
        <p:spPr>
          <a:xfrm>
            <a:off x="7772400" y="3362325"/>
            <a:ext cx="4019550" cy="3238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0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Observed staffing schedules, routing + queue policy</a:t>
            </a:r>
          </a:p>
        </p:txBody>
      </p:sp>
      <p:sp>
        <p:nvSpPr>
          <p:cNvPr id="8" name="Google-Shape-340-p61-9">
            <a:extLst>
              <a:ext uri="{FF2B5EF4-FFF2-40B4-BE49-F238E27FC236}">
                <a16:creationId xmlns:a16="http://schemas.microsoft.com/office/drawing/2014/main" id="{CC826CCF-C388-4016-A482-29D3EE8809DD}"/>
              </a:ext>
            </a:extLst>
          </p:cNvPr>
          <p:cNvSpPr>
            <a:spLocks noGrp="1"/>
          </p:cNvSpPr>
          <p:nvPr/>
        </p:nvSpPr>
        <p:spPr>
          <a:xfrm>
            <a:off x="7507700" y="4038600"/>
            <a:ext cx="212598" cy="212503"/>
          </a:xfrm>
          <a:custGeom>
            <a:avLst/>
            <a:gdLst/>
            <a:ahLst/>
            <a:cxnLst/>
            <a:rect l="0" t="0" r="0" b="0"/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noFill/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Content-Placeholder-10-10">
            <a:extLst>
              <a:ext uri="{FF2B5EF4-FFF2-40B4-BE49-F238E27FC236}">
                <a16:creationId xmlns:a16="http://schemas.microsoft.com/office/drawing/2014/main" id="{D0C114C5-CD12-458B-A70E-03F6AAD9C325}"/>
              </a:ext>
            </a:extLst>
          </p:cNvPr>
          <p:cNvSpPr>
            <a:spLocks noGrp="1"/>
          </p:cNvSpPr>
          <p:nvPr/>
        </p:nvSpPr>
        <p:spPr>
          <a:xfrm>
            <a:off x="7772400" y="3781425"/>
            <a:ext cx="4019550" cy="3238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0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Stage service distributions, exceptions + automation</a:t>
            </a:r>
          </a:p>
        </p:txBody>
      </p:sp>
      <p:sp>
        <p:nvSpPr>
          <p:cNvPr id="10" name="Google-Shape-340-p61-11">
            <a:extLst>
              <a:ext uri="{FF2B5EF4-FFF2-40B4-BE49-F238E27FC236}">
                <a16:creationId xmlns:a16="http://schemas.microsoft.com/office/drawing/2014/main" id="{7BA09227-E603-41B2-A52E-4BA0F973A16E}"/>
              </a:ext>
            </a:extLst>
          </p:cNvPr>
          <p:cNvSpPr>
            <a:spLocks noGrp="1"/>
          </p:cNvSpPr>
          <p:nvPr/>
        </p:nvSpPr>
        <p:spPr>
          <a:xfrm>
            <a:off x="7507700" y="4524375"/>
            <a:ext cx="212598" cy="212503"/>
          </a:xfrm>
          <a:custGeom>
            <a:avLst/>
            <a:gdLst/>
            <a:ahLst/>
            <a:cxnLst/>
            <a:rect l="0" t="0" r="0" b="0"/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noFill/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Content-Placeholder-10-12">
            <a:extLst>
              <a:ext uri="{FF2B5EF4-FFF2-40B4-BE49-F238E27FC236}">
                <a16:creationId xmlns:a16="http://schemas.microsoft.com/office/drawing/2014/main" id="{C79C4205-427A-49A2-BB34-A8B17223E66F}"/>
              </a:ext>
            </a:extLst>
          </p:cNvPr>
          <p:cNvSpPr>
            <a:spLocks noGrp="1"/>
          </p:cNvSpPr>
          <p:nvPr/>
        </p:nvSpPr>
        <p:spPr>
          <a:xfrm>
            <a:off x="7772400" y="4200525"/>
            <a:ext cx="4019550" cy="3238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0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Physical queue capacity, walking + spillback boundaries</a:t>
            </a:r>
          </a:p>
        </p:txBody>
      </p:sp>
      <p:sp>
        <p:nvSpPr>
          <p:cNvPr id="12" name="Google-Shape-340-p61-13">
            <a:extLst>
              <a:ext uri="{FF2B5EF4-FFF2-40B4-BE49-F238E27FC236}">
                <a16:creationId xmlns:a16="http://schemas.microsoft.com/office/drawing/2014/main" id="{259AF994-9B8C-40D7-A87E-8E5704D99BE4}"/>
              </a:ext>
            </a:extLst>
          </p:cNvPr>
          <p:cNvSpPr>
            <a:spLocks noGrp="1"/>
          </p:cNvSpPr>
          <p:nvPr/>
        </p:nvSpPr>
        <p:spPr>
          <a:xfrm>
            <a:off x="7507700" y="5010150"/>
            <a:ext cx="212598" cy="212503"/>
          </a:xfrm>
          <a:custGeom>
            <a:avLst/>
            <a:gdLst/>
            <a:ahLst/>
            <a:cxnLst/>
            <a:rect l="0" t="0" r="0" b="0"/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noFill/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Content-Placeholder-10-14">
            <a:extLst>
              <a:ext uri="{FF2B5EF4-FFF2-40B4-BE49-F238E27FC236}">
                <a16:creationId xmlns:a16="http://schemas.microsoft.com/office/drawing/2014/main" id="{7312FCBA-29F0-4015-BEE9-35804F58E381}"/>
              </a:ext>
            </a:extLst>
          </p:cNvPr>
          <p:cNvSpPr>
            <a:spLocks noGrp="1"/>
          </p:cNvSpPr>
          <p:nvPr/>
        </p:nvSpPr>
        <p:spPr>
          <a:xfrm>
            <a:off x="7772400" y="4619625"/>
            <a:ext cx="4019550" cy="3238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0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Production CV licence, security, privacy + drift monitoring</a:t>
            </a:r>
          </a:p>
        </p:txBody>
      </p:sp>
      <p:sp>
        <p:nvSpPr>
          <p:cNvPr id="14" name="Google-Shape-340-p61-15">
            <a:extLst>
              <a:ext uri="{FF2B5EF4-FFF2-40B4-BE49-F238E27FC236}">
                <a16:creationId xmlns:a16="http://schemas.microsoft.com/office/drawing/2014/main" id="{96FBE91E-D88B-4CA9-A68E-7D71952C155F}"/>
              </a:ext>
            </a:extLst>
          </p:cNvPr>
          <p:cNvSpPr>
            <a:spLocks noGrp="1"/>
          </p:cNvSpPr>
          <p:nvPr/>
        </p:nvSpPr>
        <p:spPr>
          <a:xfrm>
            <a:off x="7507700" y="5495925"/>
            <a:ext cx="212598" cy="212503"/>
          </a:xfrm>
          <a:custGeom>
            <a:avLst/>
            <a:gdLst/>
            <a:ahLst/>
            <a:cxnLst/>
            <a:rect l="0" t="0" r="0" b="0"/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noFill/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phase-gate-1">
            <a:extLst>
              <a:ext uri="{FF2B5EF4-FFF2-40B4-BE49-F238E27FC236}">
                <a16:creationId xmlns:a16="http://schemas.microsoft.com/office/drawing/2014/main" id="{DC096A07-3EA7-4C3A-838A-9F9AD6A393F8}"/>
              </a:ext>
            </a:extLst>
          </p:cNvPr>
          <p:cNvSpPr>
            <a:spLocks noGrp="1"/>
          </p:cNvSpPr>
          <p:nvPr/>
        </p:nvSpPr>
        <p:spPr>
          <a:xfrm>
            <a:off x="390525" y="1409700"/>
            <a:ext cx="2914650" cy="1028700"/>
          </a:xfrm>
          <a:prstGeom prst="chevron">
            <a:avLst/>
          </a:prstGeom>
          <a:solidFill>
            <a:srgbClr val="EEF3FF"/>
          </a:solidFill>
          <a:ln w="9525">
            <a:solidFill>
              <a:srgbClr val="4285F4"/>
            </a:solidFill>
            <a:prstDash val="solid"/>
          </a:ln>
        </p:spPr>
        <p:txBody>
          <a:bodyPr lIns="171450" tIns="76200" rIns="266700" bIns="7620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38" b="0">
                <a:solidFill>
                  <a:srgbClr val="2F5BE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2F5BEA"/>
                </a:solidFill>
                <a:latin typeface="Helvetica Neue"/>
                <a:ea typeface="Helvetica Neue"/>
                <a:cs typeface="Helvetica Neue"/>
              </a:rPr>
              <a:t>1  INSTRUMENT</a:t>
            </a:r>
          </a:p>
          <a:p>
            <a:pPr algn="l">
              <a:lnSpc>
                <a:spcPct val="100000"/>
              </a:lnSpc>
              <a:buNone/>
              <a:defRPr sz="1238" b="0">
                <a:solidFill>
                  <a:srgbClr val="2F5BE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2F5BEA"/>
                </a:solidFill>
                <a:latin typeface="Helvetica Neue"/>
                <a:ea typeface="Helvetica Neue"/>
                <a:cs typeface="Helvetica Neue"/>
              </a:rPr>
              <a:t>Demand · service · space</a:t>
            </a:r>
          </a:p>
        </p:txBody>
      </p:sp>
      <p:sp>
        <p:nvSpPr>
          <p:cNvPr id="17" name="phase-gate-2">
            <a:extLst>
              <a:ext uri="{FF2B5EF4-FFF2-40B4-BE49-F238E27FC236}">
                <a16:creationId xmlns:a16="http://schemas.microsoft.com/office/drawing/2014/main" id="{2D791E4B-7071-45D5-A2EB-04E17960F881}"/>
              </a:ext>
            </a:extLst>
          </p:cNvPr>
          <p:cNvSpPr>
            <a:spLocks noGrp="1"/>
          </p:cNvSpPr>
          <p:nvPr/>
        </p:nvSpPr>
        <p:spPr>
          <a:xfrm>
            <a:off x="3219450" y="1409700"/>
            <a:ext cx="2914650" cy="1028700"/>
          </a:xfrm>
          <a:prstGeom prst="chevron">
            <a:avLst/>
          </a:prstGeom>
          <a:solidFill>
            <a:srgbClr val="EDF9F1"/>
          </a:solidFill>
          <a:ln w="9525">
            <a:solidFill>
              <a:srgbClr val="009B4D"/>
            </a:solidFill>
            <a:prstDash val="solid"/>
          </a:ln>
        </p:spPr>
        <p:txBody>
          <a:bodyPr lIns="171450" tIns="76200" rIns="266700" bIns="7620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38" b="0">
                <a:solidFill>
                  <a:srgbClr val="009B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009B4D"/>
                </a:solidFill>
                <a:latin typeface="Helvetica Neue"/>
                <a:ea typeface="Helvetica Neue"/>
                <a:cs typeface="Helvetica Neue"/>
              </a:rPr>
              <a:t>2  CALIBRATE</a:t>
            </a:r>
          </a:p>
          <a:p>
            <a:pPr algn="l">
              <a:lnSpc>
                <a:spcPct val="100000"/>
              </a:lnSpc>
              <a:buNone/>
              <a:defRPr sz="1238" b="0">
                <a:solidFill>
                  <a:srgbClr val="009B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009B4D"/>
                </a:solidFill>
                <a:latin typeface="Helvetica Neue"/>
                <a:ea typeface="Helvetica Neue"/>
                <a:cs typeface="Helvetica Neue"/>
              </a:rPr>
              <a:t>Distributions · policies</a:t>
            </a:r>
          </a:p>
        </p:txBody>
      </p:sp>
      <p:sp>
        <p:nvSpPr>
          <p:cNvPr id="18" name="phase-gate-3">
            <a:extLst>
              <a:ext uri="{FF2B5EF4-FFF2-40B4-BE49-F238E27FC236}">
                <a16:creationId xmlns:a16="http://schemas.microsoft.com/office/drawing/2014/main" id="{4C31623C-81F3-431F-91E4-47697896792D}"/>
              </a:ext>
            </a:extLst>
          </p:cNvPr>
          <p:cNvSpPr>
            <a:spLocks noGrp="1"/>
          </p:cNvSpPr>
          <p:nvPr/>
        </p:nvSpPr>
        <p:spPr>
          <a:xfrm>
            <a:off x="6048375" y="1409700"/>
            <a:ext cx="2914650" cy="1028700"/>
          </a:xfrm>
          <a:prstGeom prst="chevron">
            <a:avLst/>
          </a:prstGeom>
          <a:solidFill>
            <a:srgbClr val="FFF4EA"/>
          </a:solidFill>
          <a:ln w="9525">
            <a:solidFill>
              <a:srgbClr val="F45B00"/>
            </a:solidFill>
            <a:prstDash val="solid"/>
          </a:ln>
        </p:spPr>
        <p:txBody>
          <a:bodyPr lIns="171450" tIns="76200" rIns="266700" bIns="7620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38" b="0">
                <a:solidFill>
                  <a:srgbClr val="F45B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F45B00"/>
                </a:solidFill>
                <a:latin typeface="Helvetica Neue"/>
                <a:ea typeface="Helvetica Neue"/>
                <a:cs typeface="Helvetica Neue"/>
              </a:rPr>
              <a:t>3  VALIDATE</a:t>
            </a:r>
          </a:p>
          <a:p>
            <a:pPr algn="l">
              <a:lnSpc>
                <a:spcPct val="100000"/>
              </a:lnSpc>
              <a:buNone/>
              <a:defRPr sz="1238" b="0">
                <a:solidFill>
                  <a:srgbClr val="F45B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F45B00"/>
                </a:solidFill>
                <a:latin typeface="Helvetica Neue"/>
                <a:ea typeface="Helvetica Neue"/>
                <a:cs typeface="Helvetica Neue"/>
              </a:rPr>
              <a:t>Held-out periods · gates</a:t>
            </a:r>
          </a:p>
        </p:txBody>
      </p:sp>
      <p:sp>
        <p:nvSpPr>
          <p:cNvPr id="19" name="phase-gate-4">
            <a:extLst>
              <a:ext uri="{FF2B5EF4-FFF2-40B4-BE49-F238E27FC236}">
                <a16:creationId xmlns:a16="http://schemas.microsoft.com/office/drawing/2014/main" id="{D37384A9-C52E-4C40-9878-631158B4F473}"/>
              </a:ext>
            </a:extLst>
          </p:cNvPr>
          <p:cNvSpPr>
            <a:spLocks noGrp="1"/>
          </p:cNvSpPr>
          <p:nvPr/>
        </p:nvSpPr>
        <p:spPr>
          <a:xfrm>
            <a:off x="8877300" y="1409700"/>
            <a:ext cx="2914650" cy="1028700"/>
          </a:xfrm>
          <a:prstGeom prst="chevron">
            <a:avLst/>
          </a:prstGeom>
          <a:solidFill>
            <a:srgbClr val="F4F6F9"/>
          </a:solidFill>
          <a:ln w="9525">
            <a:solidFill>
              <a:srgbClr val="AAB3C2"/>
            </a:solidFill>
            <a:prstDash val="solid"/>
          </a:ln>
        </p:spPr>
        <p:txBody>
          <a:bodyPr lIns="171450" tIns="76200" rIns="266700" bIns="7620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38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4  PILOT &amp; GOVERN</a:t>
            </a:r>
          </a:p>
          <a:p>
            <a:pPr algn="l">
              <a:lnSpc>
                <a:spcPct val="100000"/>
              </a:lnSpc>
              <a:buNone/>
              <a:defRPr sz="1238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One lever · monitor</a:t>
            </a:r>
          </a:p>
        </p:txBody>
      </p:sp>
      <p:sp>
        <p:nvSpPr>
          <p:cNvPr id="20" name="closing-subtitle">
            <a:extLst>
              <a:ext uri="{FF2B5EF4-FFF2-40B4-BE49-F238E27FC236}">
                <a16:creationId xmlns:a16="http://schemas.microsoft.com/office/drawing/2014/main" id="{5302AEC3-6C58-49B4-A053-592832C05E0B}"/>
              </a:ext>
            </a:extLst>
          </p:cNvPr>
          <p:cNvSpPr>
            <a:spLocks noGrp="1"/>
          </p:cNvSpPr>
          <p:nvPr/>
        </p:nvSpPr>
        <p:spPr>
          <a:xfrm>
            <a:off x="400050" y="866775"/>
            <a:ext cx="11391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06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6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SUMMARY | what the comparative experiments establish     FUTURE WORK | what must be measured before a site pilot</a:t>
            </a:r>
          </a:p>
        </p:txBody>
      </p:sp>
      <p:sp>
        <p:nvSpPr>
          <p:cNvPr id="21" name="future-work-path-label">
            <a:extLst>
              <a:ext uri="{FF2B5EF4-FFF2-40B4-BE49-F238E27FC236}">
                <a16:creationId xmlns:a16="http://schemas.microsoft.com/office/drawing/2014/main" id="{6E0A6A0E-3D7C-444F-9641-5D5CEFDEA804}"/>
              </a:ext>
            </a:extLst>
          </p:cNvPr>
          <p:cNvSpPr>
            <a:spLocks noGrp="1"/>
          </p:cNvSpPr>
          <p:nvPr/>
        </p:nvSpPr>
        <p:spPr>
          <a:xfrm>
            <a:off x="400050" y="11715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013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13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FUTURE WORK PATH</a:t>
            </a:r>
          </a:p>
        </p:txBody>
      </p:sp>
      <p:sp>
        <p:nvSpPr>
          <p:cNvPr id="22" name="summary-section-heading">
            <a:extLst>
              <a:ext uri="{FF2B5EF4-FFF2-40B4-BE49-F238E27FC236}">
                <a16:creationId xmlns:a16="http://schemas.microsoft.com/office/drawing/2014/main" id="{F83E3AA7-8630-4F08-B3A1-8593B114F258}"/>
              </a:ext>
            </a:extLst>
          </p:cNvPr>
          <p:cNvSpPr>
            <a:spLocks noGrp="1"/>
          </p:cNvSpPr>
          <p:nvPr/>
        </p:nvSpPr>
        <p:spPr>
          <a:xfrm>
            <a:off x="400050" y="26860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088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88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SUMMARY — WHAT THE EXPERIMENTS ESTABLISH</a:t>
            </a:r>
          </a:p>
        </p:txBody>
      </p:sp>
      <p:sp>
        <p:nvSpPr>
          <p:cNvPr id="23" name="summary-accent-1">
            <a:extLst>
              <a:ext uri="{FF2B5EF4-FFF2-40B4-BE49-F238E27FC236}">
                <a16:creationId xmlns:a16="http://schemas.microsoft.com/office/drawing/2014/main" id="{563EF407-5EA0-4362-A85C-56850267C3E3}"/>
              </a:ext>
            </a:extLst>
          </p:cNvPr>
          <p:cNvSpPr>
            <a:spLocks noGrp="1"/>
          </p:cNvSpPr>
          <p:nvPr/>
        </p:nvSpPr>
        <p:spPr>
          <a:xfrm>
            <a:off x="400050" y="3009900"/>
            <a:ext cx="47625" cy="400050"/>
          </a:xfrm>
          <a:prstGeom prst="rect">
            <a:avLst/>
          </a:prstGeom>
          <a:solidFill>
            <a:srgbClr val="2F5BEA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4" name="summary-heading-1">
            <a:extLst>
              <a:ext uri="{FF2B5EF4-FFF2-40B4-BE49-F238E27FC236}">
                <a16:creationId xmlns:a16="http://schemas.microsoft.com/office/drawing/2014/main" id="{001BEDE5-0E16-4205-8932-BC040CA7A794}"/>
              </a:ext>
            </a:extLst>
          </p:cNvPr>
          <p:cNvSpPr>
            <a:spLocks noGrp="1"/>
          </p:cNvSpPr>
          <p:nvPr/>
        </p:nvSpPr>
        <p:spPr>
          <a:xfrm>
            <a:off x="552450" y="3000375"/>
            <a:ext cx="1409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013" b="1">
                <a:solidFill>
                  <a:srgbClr val="2F5BE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13" b="1">
                <a:solidFill>
                  <a:srgbClr val="2F5BEA"/>
                </a:solidFill>
                <a:latin typeface="Helvetica Neue"/>
                <a:ea typeface="Helvetica Neue"/>
                <a:cs typeface="Helvetica Neue"/>
              </a:rPr>
              <a:t>AUDITED INPUT</a:t>
            </a:r>
          </a:p>
        </p:txBody>
      </p:sp>
      <p:sp>
        <p:nvSpPr>
          <p:cNvPr id="25" name="summary-body-1">
            <a:extLst>
              <a:ext uri="{FF2B5EF4-FFF2-40B4-BE49-F238E27FC236}">
                <a16:creationId xmlns:a16="http://schemas.microsoft.com/office/drawing/2014/main" id="{BF8D23BD-EE22-4CC1-9D15-FE4167018C7F}"/>
              </a:ext>
            </a:extLst>
          </p:cNvPr>
          <p:cNvSpPr>
            <a:spLocks noGrp="1"/>
          </p:cNvSpPr>
          <p:nvPr/>
        </p:nvSpPr>
        <p:spPr>
          <a:xfrm>
            <a:off x="1962150" y="2990850"/>
            <a:ext cx="4953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99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34/12 accepted; 1.364/s is a clip-level R→L anchor owned by human review.</a:t>
            </a:r>
          </a:p>
        </p:txBody>
      </p:sp>
      <p:sp>
        <p:nvSpPr>
          <p:cNvPr id="26" name="summary-rule-1">
            <a:extLst>
              <a:ext uri="{FF2B5EF4-FFF2-40B4-BE49-F238E27FC236}">
                <a16:creationId xmlns:a16="http://schemas.microsoft.com/office/drawing/2014/main" id="{CCFBF5F9-8673-4C84-BCE6-F5751CC29FD0}"/>
              </a:ext>
            </a:extLst>
          </p:cNvPr>
          <p:cNvSpPr>
            <a:spLocks noGrp="1"/>
          </p:cNvSpPr>
          <p:nvPr/>
        </p:nvSpPr>
        <p:spPr>
          <a:xfrm>
            <a:off x="552450" y="3448050"/>
            <a:ext cx="6362700" cy="9525"/>
          </a:xfrm>
          <a:prstGeom prst="rect">
            <a:avLst/>
          </a:prstGeom>
          <a:solidFill>
            <a:srgbClr val="D8E0EB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7" name="summary-accent-2">
            <a:extLst>
              <a:ext uri="{FF2B5EF4-FFF2-40B4-BE49-F238E27FC236}">
                <a16:creationId xmlns:a16="http://schemas.microsoft.com/office/drawing/2014/main" id="{034A341C-C079-4011-8A7A-EC9D6F36C731}"/>
              </a:ext>
            </a:extLst>
          </p:cNvPr>
          <p:cNvSpPr>
            <a:spLocks noGrp="1"/>
          </p:cNvSpPr>
          <p:nvPr/>
        </p:nvSpPr>
        <p:spPr>
          <a:xfrm>
            <a:off x="400050" y="3514725"/>
            <a:ext cx="47625" cy="400050"/>
          </a:xfrm>
          <a:prstGeom prst="rect">
            <a:avLst/>
          </a:prstGeom>
          <a:solidFill>
            <a:srgbClr val="009B4D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8" name="summary-heading-2">
            <a:extLst>
              <a:ext uri="{FF2B5EF4-FFF2-40B4-BE49-F238E27FC236}">
                <a16:creationId xmlns:a16="http://schemas.microsoft.com/office/drawing/2014/main" id="{F68C8DE4-F618-46BE-8020-A78A2757F7B0}"/>
              </a:ext>
            </a:extLst>
          </p:cNvPr>
          <p:cNvSpPr>
            <a:spLocks noGrp="1"/>
          </p:cNvSpPr>
          <p:nvPr/>
        </p:nvSpPr>
        <p:spPr>
          <a:xfrm>
            <a:off x="552450" y="3505200"/>
            <a:ext cx="1409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013" b="1">
                <a:solidFill>
                  <a:srgbClr val="009B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13" b="1">
                <a:solidFill>
                  <a:srgbClr val="009B4D"/>
                </a:solidFill>
                <a:latin typeface="Helvetica Neue"/>
                <a:ea typeface="Helvetica Neue"/>
                <a:cs typeface="Helvetica Neue"/>
              </a:rPr>
              <a:t>EXECUTED EVIDENCE</a:t>
            </a:r>
          </a:p>
        </p:txBody>
      </p:sp>
      <p:sp>
        <p:nvSpPr>
          <p:cNvPr id="29" name="summary-body-2">
            <a:extLst>
              <a:ext uri="{FF2B5EF4-FFF2-40B4-BE49-F238E27FC236}">
                <a16:creationId xmlns:a16="http://schemas.microsoft.com/office/drawing/2014/main" id="{A6F53899-B0A2-473F-B063-7C855A0637D6}"/>
              </a:ext>
            </a:extLst>
          </p:cNvPr>
          <p:cNvSpPr>
            <a:spLocks noGrp="1"/>
          </p:cNvSpPr>
          <p:nvPr/>
        </p:nvSpPr>
        <p:spPr>
          <a:xfrm>
            <a:off x="1962150" y="3495675"/>
            <a:ext cx="4953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99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5,150 gated runs isolate capacity, peak duration, service variability and finite space.</a:t>
            </a:r>
          </a:p>
        </p:txBody>
      </p:sp>
      <p:sp>
        <p:nvSpPr>
          <p:cNvPr id="30" name="summary-rule-2">
            <a:extLst>
              <a:ext uri="{FF2B5EF4-FFF2-40B4-BE49-F238E27FC236}">
                <a16:creationId xmlns:a16="http://schemas.microsoft.com/office/drawing/2014/main" id="{DD1932E0-469E-4AD3-A9B6-4541CAFA6AD9}"/>
              </a:ext>
            </a:extLst>
          </p:cNvPr>
          <p:cNvSpPr>
            <a:spLocks noGrp="1"/>
          </p:cNvSpPr>
          <p:nvPr/>
        </p:nvSpPr>
        <p:spPr>
          <a:xfrm>
            <a:off x="552450" y="3952875"/>
            <a:ext cx="6362700" cy="9525"/>
          </a:xfrm>
          <a:prstGeom prst="rect">
            <a:avLst/>
          </a:prstGeom>
          <a:solidFill>
            <a:srgbClr val="D8E0EB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1" name="summary-accent-3">
            <a:extLst>
              <a:ext uri="{FF2B5EF4-FFF2-40B4-BE49-F238E27FC236}">
                <a16:creationId xmlns:a16="http://schemas.microsoft.com/office/drawing/2014/main" id="{13DDEB60-3116-4B22-AB3D-5D0FF70C647B}"/>
              </a:ext>
            </a:extLst>
          </p:cNvPr>
          <p:cNvSpPr>
            <a:spLocks noGrp="1"/>
          </p:cNvSpPr>
          <p:nvPr/>
        </p:nvSpPr>
        <p:spPr>
          <a:xfrm>
            <a:off x="400050" y="4019550"/>
            <a:ext cx="47625" cy="400050"/>
          </a:xfrm>
          <a:prstGeom prst="rect">
            <a:avLst/>
          </a:prstGeom>
          <a:solidFill>
            <a:srgbClr val="F45B00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2" name="summary-heading-3">
            <a:extLst>
              <a:ext uri="{FF2B5EF4-FFF2-40B4-BE49-F238E27FC236}">
                <a16:creationId xmlns:a16="http://schemas.microsoft.com/office/drawing/2014/main" id="{4853ADC3-ABD2-404F-8FA4-93A92949A3CE}"/>
              </a:ext>
            </a:extLst>
          </p:cNvPr>
          <p:cNvSpPr>
            <a:spLocks noGrp="1"/>
          </p:cNvSpPr>
          <p:nvPr/>
        </p:nvSpPr>
        <p:spPr>
          <a:xfrm>
            <a:off x="552450" y="4010025"/>
            <a:ext cx="1409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013" b="1">
                <a:solidFill>
                  <a:srgbClr val="F45B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13" b="1">
                <a:solidFill>
                  <a:srgbClr val="F45B00"/>
                </a:solidFill>
                <a:latin typeface="Helvetica Neue"/>
                <a:ea typeface="Helvetica Neue"/>
                <a:cs typeface="Helvetica Neue"/>
              </a:rPr>
              <a:t>QUEUEING REGIME</a:t>
            </a:r>
          </a:p>
        </p:txBody>
      </p:sp>
      <p:sp>
        <p:nvSpPr>
          <p:cNvPr id="33" name="summary-body-3">
            <a:extLst>
              <a:ext uri="{FF2B5EF4-FFF2-40B4-BE49-F238E27FC236}">
                <a16:creationId xmlns:a16="http://schemas.microsoft.com/office/drawing/2014/main" id="{0421E10D-2291-4834-9B02-DE63C22650FF}"/>
              </a:ext>
            </a:extLst>
          </p:cNvPr>
          <p:cNvSpPr>
            <a:spLocks noGrp="1"/>
          </p:cNvSpPr>
          <p:nvPr/>
        </p:nvSpPr>
        <p:spPr>
          <a:xfrm>
            <a:off x="1962150" y="4000500"/>
            <a:ext cx="4953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99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Delay rises nonlinearly near capacity; rho &gt; 1 accumulates residual backlog.</a:t>
            </a:r>
          </a:p>
        </p:txBody>
      </p:sp>
      <p:sp>
        <p:nvSpPr>
          <p:cNvPr id="34" name="summary-rule-3">
            <a:extLst>
              <a:ext uri="{FF2B5EF4-FFF2-40B4-BE49-F238E27FC236}">
                <a16:creationId xmlns:a16="http://schemas.microsoft.com/office/drawing/2014/main" id="{A7BB5DCA-E49F-4343-9386-3088C6CDA2D5}"/>
              </a:ext>
            </a:extLst>
          </p:cNvPr>
          <p:cNvSpPr>
            <a:spLocks noGrp="1"/>
          </p:cNvSpPr>
          <p:nvPr/>
        </p:nvSpPr>
        <p:spPr>
          <a:xfrm>
            <a:off x="552450" y="4457700"/>
            <a:ext cx="6362700" cy="9525"/>
          </a:xfrm>
          <a:prstGeom prst="rect">
            <a:avLst/>
          </a:prstGeom>
          <a:solidFill>
            <a:srgbClr val="D8E0EB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5" name="summary-accent-4">
            <a:extLst>
              <a:ext uri="{FF2B5EF4-FFF2-40B4-BE49-F238E27FC236}">
                <a16:creationId xmlns:a16="http://schemas.microsoft.com/office/drawing/2014/main" id="{13763B62-74AA-46E4-A8AC-0D6344DFE348}"/>
              </a:ext>
            </a:extLst>
          </p:cNvPr>
          <p:cNvSpPr>
            <a:spLocks noGrp="1"/>
          </p:cNvSpPr>
          <p:nvPr/>
        </p:nvSpPr>
        <p:spPr>
          <a:xfrm>
            <a:off x="400050" y="4524375"/>
            <a:ext cx="47625" cy="400050"/>
          </a:xfrm>
          <a:prstGeom prst="rect">
            <a:avLst/>
          </a:prstGeom>
          <a:solidFill>
            <a:srgbClr val="596579"/>
          </a:solidFill>
          <a:ln w="0">
            <a:noFill/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36" name="summary-heading-4">
            <a:extLst>
              <a:ext uri="{FF2B5EF4-FFF2-40B4-BE49-F238E27FC236}">
                <a16:creationId xmlns:a16="http://schemas.microsoft.com/office/drawing/2014/main" id="{5190E21A-5676-4C6C-845C-B21ECDC7A4D9}"/>
              </a:ext>
            </a:extLst>
          </p:cNvPr>
          <p:cNvSpPr>
            <a:spLocks noGrp="1"/>
          </p:cNvSpPr>
          <p:nvPr/>
        </p:nvSpPr>
        <p:spPr>
          <a:xfrm>
            <a:off x="552450" y="4514850"/>
            <a:ext cx="1409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01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1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ROBUSTNESS LIMIT</a:t>
            </a:r>
          </a:p>
        </p:txBody>
      </p:sp>
      <p:sp>
        <p:nvSpPr>
          <p:cNvPr id="37" name="summary-body-4">
            <a:extLst>
              <a:ext uri="{FF2B5EF4-FFF2-40B4-BE49-F238E27FC236}">
                <a16:creationId xmlns:a16="http://schemas.microsoft.com/office/drawing/2014/main" id="{AF00B174-37E0-4B1C-B57B-323B3E6D33E2}"/>
              </a:ext>
            </a:extLst>
          </p:cNvPr>
          <p:cNvSpPr>
            <a:spLocks noGrp="1"/>
          </p:cNvSpPr>
          <p:nvPr/>
        </p:nvSpPr>
        <p:spPr>
          <a:xfrm>
            <a:off x="1962150" y="4505325"/>
            <a:ext cx="4953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99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Near/above capacity, longer peaks expand tail wait; finite space can relocate congestion upstream.</a:t>
            </a:r>
          </a:p>
        </p:txBody>
      </p:sp>
      <p:sp>
        <p:nvSpPr>
          <p:cNvPr id="38" name="required-data-heading">
            <a:extLst>
              <a:ext uri="{FF2B5EF4-FFF2-40B4-BE49-F238E27FC236}">
                <a16:creationId xmlns:a16="http://schemas.microsoft.com/office/drawing/2014/main" id="{432A7BFE-C96A-4240-8751-C8C26A3D4BDB}"/>
              </a:ext>
            </a:extLst>
          </p:cNvPr>
          <p:cNvSpPr>
            <a:spLocks noGrp="1"/>
          </p:cNvSpPr>
          <p:nvPr/>
        </p:nvSpPr>
        <p:spPr>
          <a:xfrm>
            <a:off x="7429500" y="2686050"/>
            <a:ext cx="4362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088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88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DATA REQUIRED BEFORE SITE PILOT</a:t>
            </a:r>
          </a:p>
        </p:txBody>
      </p:sp>
      <p:sp>
        <p:nvSpPr>
          <p:cNvPr id="39" name="not-yet-observed-label">
            <a:extLst>
              <a:ext uri="{FF2B5EF4-FFF2-40B4-BE49-F238E27FC236}">
                <a16:creationId xmlns:a16="http://schemas.microsoft.com/office/drawing/2014/main" id="{B25D9A93-62B3-4CDF-B3B5-22BC60BF6E64}"/>
              </a:ext>
            </a:extLst>
          </p:cNvPr>
          <p:cNvSpPr>
            <a:spLocks noGrp="1"/>
          </p:cNvSpPr>
          <p:nvPr/>
        </p:nvSpPr>
        <p:spPr>
          <a:xfrm>
            <a:off x="10306050" y="2695575"/>
            <a:ext cx="1485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863" b="1">
                <a:solidFill>
                  <a:srgbClr val="F45B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1">
                <a:solidFill>
                  <a:srgbClr val="F45B00"/>
                </a:solidFill>
                <a:latin typeface="Helvetica Neue"/>
                <a:ea typeface="Helvetica Neue"/>
                <a:cs typeface="Helvetica Neue"/>
              </a:rPr>
              <a:t>NOT YET OBSERVED</a:t>
            </a:r>
          </a:p>
        </p:txBody>
      </p:sp>
      <p:sp>
        <p:nvSpPr>
          <p:cNvPr id="40" name="pending-number-1">
            <a:extLst>
              <a:ext uri="{FF2B5EF4-FFF2-40B4-BE49-F238E27FC236}">
                <a16:creationId xmlns:a16="http://schemas.microsoft.com/office/drawing/2014/main" id="{CDEBC3EE-D4F7-456C-A30F-CA303A205C3A}"/>
              </a:ext>
            </a:extLst>
          </p:cNvPr>
          <p:cNvSpPr>
            <a:spLocks noGrp="1"/>
          </p:cNvSpPr>
          <p:nvPr/>
        </p:nvSpPr>
        <p:spPr>
          <a:xfrm>
            <a:off x="7429500" y="2981325"/>
            <a:ext cx="209550" cy="2095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B8798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1" name="pending-number-2">
            <a:extLst>
              <a:ext uri="{FF2B5EF4-FFF2-40B4-BE49-F238E27FC236}">
                <a16:creationId xmlns:a16="http://schemas.microsoft.com/office/drawing/2014/main" id="{D7AF0C14-3800-4611-9DF0-343968BCBDF7}"/>
              </a:ext>
            </a:extLst>
          </p:cNvPr>
          <p:cNvSpPr>
            <a:spLocks noGrp="1"/>
          </p:cNvSpPr>
          <p:nvPr/>
        </p:nvSpPr>
        <p:spPr>
          <a:xfrm>
            <a:off x="7429500" y="3400425"/>
            <a:ext cx="209550" cy="2095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B8798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42" name="pending-number-3">
            <a:extLst>
              <a:ext uri="{FF2B5EF4-FFF2-40B4-BE49-F238E27FC236}">
                <a16:creationId xmlns:a16="http://schemas.microsoft.com/office/drawing/2014/main" id="{5B861E7C-BD31-42F7-83B0-F5459C5CAA04}"/>
              </a:ext>
            </a:extLst>
          </p:cNvPr>
          <p:cNvSpPr>
            <a:spLocks noGrp="1"/>
          </p:cNvSpPr>
          <p:nvPr/>
        </p:nvSpPr>
        <p:spPr>
          <a:xfrm>
            <a:off x="7429500" y="3819525"/>
            <a:ext cx="209550" cy="2095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B8798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43" name="pending-number-4">
            <a:extLst>
              <a:ext uri="{FF2B5EF4-FFF2-40B4-BE49-F238E27FC236}">
                <a16:creationId xmlns:a16="http://schemas.microsoft.com/office/drawing/2014/main" id="{5460F467-FEF4-4CC9-90EB-440F52C2321C}"/>
              </a:ext>
            </a:extLst>
          </p:cNvPr>
          <p:cNvSpPr>
            <a:spLocks noGrp="1"/>
          </p:cNvSpPr>
          <p:nvPr/>
        </p:nvSpPr>
        <p:spPr>
          <a:xfrm>
            <a:off x="7429500" y="4238625"/>
            <a:ext cx="209550" cy="2095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B8798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44" name="pending-number-5">
            <a:extLst>
              <a:ext uri="{FF2B5EF4-FFF2-40B4-BE49-F238E27FC236}">
                <a16:creationId xmlns:a16="http://schemas.microsoft.com/office/drawing/2014/main" id="{B6D57A84-2198-472A-980B-BAA874EF61C5}"/>
              </a:ext>
            </a:extLst>
          </p:cNvPr>
          <p:cNvSpPr>
            <a:spLocks noGrp="1"/>
          </p:cNvSpPr>
          <p:nvPr/>
        </p:nvSpPr>
        <p:spPr>
          <a:xfrm>
            <a:off x="7429500" y="4657725"/>
            <a:ext cx="209550" cy="2095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B8798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45" name="closing-decision-strip">
            <a:extLst>
              <a:ext uri="{FF2B5EF4-FFF2-40B4-BE49-F238E27FC236}">
                <a16:creationId xmlns:a16="http://schemas.microsoft.com/office/drawing/2014/main" id="{E14EEB2F-CE61-4B3B-995D-1A70A41B0709}"/>
              </a:ext>
            </a:extLst>
          </p:cNvPr>
          <p:cNvSpPr>
            <a:spLocks noGrp="1"/>
          </p:cNvSpPr>
          <p:nvPr/>
        </p:nvSpPr>
        <p:spPr>
          <a:xfrm>
            <a:off x="400050" y="5257800"/>
            <a:ext cx="11391900" cy="447675"/>
          </a:xfrm>
          <a:prstGeom prst="roundRect">
            <a:avLst>
              <a:gd name="adj" fmla="val 25532"/>
            </a:avLst>
          </a:prstGeom>
          <a:solidFill>
            <a:srgbClr val="EEF3FF"/>
          </a:solidFill>
          <a:ln w="9525">
            <a:solidFill>
              <a:srgbClr val="AFC4FF"/>
            </a:solidFill>
            <a:prstDash val="solid"/>
          </a:ln>
        </p:spPr>
        <p:txBody>
          <a:bodyPr lIns="152400" tIns="57150" rIns="152400" bIns="57150" anchor="ctr">
            <a:normAutofit/>
          </a:bodyPr>
          <a:lstStyle/>
          <a:p>
            <a:pPr algn="ctr">
              <a:defRPr sz="105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C2348"/>
                </a:solidFill>
                <a:latin typeface="Helvetica Neue"/>
                <a:ea typeface="Helvetica Neue"/>
                <a:cs typeface="Helvetica Neue"/>
              </a:rPr>
              <a:t>DECISION NOW  |  Advance to site calibration; pilot one lever only after the calibrated model reproduces held-out queues and bottleneck behaviour.</a:t>
            </a:r>
          </a:p>
        </p:txBody>
      </p:sp>
      <p:sp>
        <p:nvSpPr>
          <p:cNvPr id="46" name="closing-boundary-strip">
            <a:extLst>
              <a:ext uri="{FF2B5EF4-FFF2-40B4-BE49-F238E27FC236}">
                <a16:creationId xmlns:a16="http://schemas.microsoft.com/office/drawing/2014/main" id="{34C3C16D-302A-43CB-8BF6-F51A3237AD71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10572750" cy="400050"/>
          </a:xfrm>
          <a:prstGeom prst="roundRect">
            <a:avLst>
              <a:gd name="adj" fmla="val 19048"/>
            </a:avLst>
          </a:prstGeom>
          <a:solidFill>
            <a:srgbClr val="F4F6F9"/>
          </a:solidFill>
          <a:ln w="9525">
            <a:solidFill>
              <a:srgbClr val="D8E0EB"/>
            </a:solidFill>
            <a:prstDash val="solid"/>
          </a:ln>
        </p:spPr>
        <p:txBody>
          <a:bodyPr lIns="133350" tIns="47625" rIns="133350" bIns="47625" anchor="ctr">
            <a:normAutofit/>
          </a:bodyPr>
          <a:lstStyle/>
          <a:p>
            <a:pPr algn="l">
              <a:defRPr sz="863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63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BOUNDARY | 36/21 is a derived pooled reference—not observed staffing. Comparative evidence assumes stationary HPP, pooled FCFS and no-loss/full drain; it is not a site forecast or production SOP.</a:t>
            </a:r>
          </a:p>
        </p:txBody>
      </p:sp>
    </p:spTree>
    <p:extLst>
      <p:ext uri="{BB962C8B-B14F-4D97-AF65-F5344CB8AC3E}">
        <p14:creationId xmlns:p14="http://schemas.microsoft.com/office/powerpoint/2010/main" val="98754425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2952</Words>
  <Application>Microsoft Office PowerPoint</Application>
  <DocSecurity>0</DocSecurity>
  <PresentationFormat>Widescreen</PresentationFormat>
  <Paragraphs>280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Helvetica Neue</vt:lpstr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 WANG</cp:lastModifiedBy>
  <cp:revision>2</cp:revision>
  <dcterms:created xsi:type="dcterms:W3CDTF">2026-07-30T03:31:35Z</dcterms:created>
  <dcterms:modified xsi:type="dcterms:W3CDTF">2026-07-30T12:18:45Z</dcterms:modified>
</cp:coreProperties>
</file>