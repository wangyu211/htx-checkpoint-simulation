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d27eede2ec4c20" /><Relationship Type="http://schemas.openxmlformats.org/officeDocument/2006/relationships/extended-properties" Target="/docProps/app.xml" Id="Rc6e681fd9bab429d" /><Relationship Type="http://schemas.openxmlformats.org/officeDocument/2006/relationships/officeDocument" Target="/ppt/presentation.xml" Id="R127df3ea29ae49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9502352ce74ba2"/>
  </p:sldMasterIdLst>
  <p:notesMasterIdLst>
    <p:notesMasterId xmlns:r="http://schemas.openxmlformats.org/officeDocument/2006/relationships" r:id="R0abd3eb344624eaa"/>
  </p:notesMasterIdLst>
  <p:sldIdLst>
    <p:sldId xmlns:r="http://schemas.openxmlformats.org/officeDocument/2006/relationships" id="256" r:id="R5eb244bd70984e3f"/>
    <p:sldId xmlns:r="http://schemas.openxmlformats.org/officeDocument/2006/relationships" id="257" r:id="R721ec3b0e1f54a36"/>
    <p:sldId xmlns:r="http://schemas.openxmlformats.org/officeDocument/2006/relationships" id="258" r:id="Re3fdd7f528b64733"/>
    <p:sldId xmlns:r="http://schemas.openxmlformats.org/officeDocument/2006/relationships" id="259" r:id="R0babbaa336654ac8"/>
    <p:sldId xmlns:r="http://schemas.openxmlformats.org/officeDocument/2006/relationships" id="260" r:id="R0140eb22a48842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c6c111d7de4eaa" /><Relationship Type="http://schemas.openxmlformats.org/officeDocument/2006/relationships/slideMaster" Target="/ppt/slideMasters/slideMaster1.xml" Id="R469502352ce74ba2" /><Relationship Type="http://schemas.openxmlformats.org/officeDocument/2006/relationships/notesMaster" Target="/ppt/notesMasters/notesMaster1.xml" Id="R0abd3eb344624eaa" /><Relationship Type="http://schemas.openxmlformats.org/officeDocument/2006/relationships/presProps" Target="/ppt/presProps.xml" Id="R468d630e19894432" /><Relationship Type="http://schemas.openxmlformats.org/officeDocument/2006/relationships/tableStyles" Target="/ppt/tableStyles.xml" Id="Rcda35a98427f4ed6" /><Relationship Type="http://schemas.openxmlformats.org/officeDocument/2006/relationships/slide" Target="/ppt/slides/slide1.xml" Id="R5eb244bd70984e3f" /><Relationship Type="http://schemas.openxmlformats.org/officeDocument/2006/relationships/slide" Target="/ppt/slides/slide2.xml" Id="R721ec3b0e1f54a36" /><Relationship Type="http://schemas.openxmlformats.org/officeDocument/2006/relationships/slide" Target="/ppt/slides/slide3.xml" Id="Re3fdd7f528b64733" /><Relationship Type="http://schemas.openxmlformats.org/officeDocument/2006/relationships/slide" Target="/ppt/slides/slide4.xml" Id="R0babbaa336654ac8" /><Relationship Type="http://schemas.openxmlformats.org/officeDocument/2006/relationships/slide" Target="/ppt/slides/slide5.xml" Id="R0140eb22a48842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86383db37e40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df81f35e2e43b6" /><Relationship Type="http://schemas.openxmlformats.org/officeDocument/2006/relationships/notesMaster" Target="/ppt/notesMasters/notesMaster1.xml" Id="R6dc5ad92b6834a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8ee7699f974365" /><Relationship Type="http://schemas.openxmlformats.org/officeDocument/2006/relationships/notesMaster" Target="/ppt/notesMasters/notesMaster1.xml" Id="R9559493d2aa445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423fb8cd8443a3" /><Relationship Type="http://schemas.openxmlformats.org/officeDocument/2006/relationships/notesMaster" Target="/ppt/notesMasters/notesMaster1.xml" Id="R73f592299f8c4b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d9b52be63e4029" /><Relationship Type="http://schemas.openxmlformats.org/officeDocument/2006/relationships/notesMaster" Target="/ppt/notesMasters/notesMaster1.xml" Id="R1079177a96b842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e006b0bb324453" /><Relationship Type="http://schemas.openxmlformats.org/officeDocument/2006/relationships/notesMaster" Target="/ppt/notesMasters/notesMaster1.xml" Id="Rf734730df74840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evidence chain: a human-adjudicated short-window count becomes a conditional simulation input, not a site forecast.</a:t>
            </a:r>
          </a:p>
          <a:p xmlns:a="http://schemas.openxmlformats.org/drawingml/2006/main">
            <a:r>
              <a:t>The response surface extends the analysis without changing that measurement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docs/task3_confirmatory_design.md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three layers separate: measurement supplies the demand anchor; the DES encodes the mechanism; inference is split into confirmatory and exploratory studies.</a:t>
            </a:r>
          </a:p>
          <a:p xmlns:a="http://schemas.openxmlformats.org/drawingml/2006/main">
            <a:r>
              <a:t>The five old capacity cells validate reproducibility only and contribute no observations to the new response surface.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simulation/anylogic/HTXCheckpointSimulation/HTXCheckpointSimulation.alpx</a:t>
            </a:r>
          </a:p>
          <a:p xmlns:a="http://schemas.openxmlformats.org/drawingml/2006/main">
            <a:r>
              <a:t>- docs/task3_confirmatory_design.md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straight relationship belongs to throughput capacity, not queueing delay.</a:t>
            </a:r>
          </a:p>
          <a:p xmlns:a="http://schemas.openxmlformats.org/drawingml/2006/main">
            <a:r>
              <a:t>The deterministic oracle remains at zero before saturation; stochastic HPP arrivals already create transient queues.</a:t>
            </a:r>
          </a:p>
          <a:p xmlns:a="http://schemas.openxmlformats.org/drawingml/2006/main">
            <a:r>
              <a:t>Both one-position penalties and paired second differences increase toward the threshold.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results/analysis/capacity_response_surface/security_only_slice.csv</a:t>
            </a:r>
          </a:p>
          <a:p xmlns:a="http://schemas.openxmlformats.org/drawingml/2006/main">
            <a:r>
              <a:t>- results/analysis/capacity_response_surface/immigration_only_slice.csv</a:t>
            </a:r>
          </a:p>
          <a:p xmlns:a="http://schemas.openxmlformats.org/drawingml/2006/main">
            <a:r>
              <a:t>- results/analysis/capacity_response_surface/adjacent_marginal_penalties.csv</a:t>
            </a:r>
          </a:p>
          <a:p xmlns:a="http://schemas.openxmlformats.org/drawingml/2006/main">
            <a:r>
              <a:t>- results/analysis/capacity_response_surface/second_finite_differences.csv</a:t>
            </a:r>
          </a:p>
          <a:p xmlns:a="http://schemas.openxmlformats.org/drawingml/2006/main">
            <a:r>
              <a:t>- results/analysis/capacity_response_surface/ideal_case_comparator.csv</a:t>
            </a:r>
          </a:p>
          <a:p xmlns:a="http://schemas.openxmlformats.org/drawingml/2006/main">
            <a:r>
              <a:t>- results/analysis/capacity_response_surface/validation.json</a:t>
            </a:r>
          </a:p>
          <a:p xmlns:a="http://schemas.openxmlformats.org/drawingml/2006/main">
            <a:r>
              <a:t>- results/analysis/capacity_response_surface/crn_alignment.json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heatmap by columns and rows: flat regions identify which upstream or downstream stage is masking the other.</a:t>
            </a:r>
          </a:p>
          <a:p xmlns:a="http://schemas.openxmlformats.org/drawingml/2006/main">
            <a:r>
              <a:t>The negative local interaction is a tandem-queue metering effect. It does not mean removing capacity improves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results/analysis/capacity_response_surface/heatmap.csv</a:t>
            </a:r>
          </a:p>
          <a:p xmlns:a="http://schemas.openxmlformats.org/drawingml/2006/main">
            <a:r>
              <a:t>- results/analysis/capacity_response_surface/stage_bottleneck_map.csv</a:t>
            </a:r>
          </a:p>
          <a:p xmlns:a="http://schemas.openxmlformats.org/drawingml/2006/main">
            <a:r>
              <a:t>- results/analysis/capacity_response_surface/local_interactions.csv</a:t>
            </a:r>
          </a:p>
          <a:p xmlns:a="http://schemas.openxmlformats.org/drawingml/2006/main">
            <a:r>
              <a:t>- results/analysis/capacity_response_surface/cross_batch_reproducibility.json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response surface informs what to measure and which intervention to test; it does not select a roster without calibration.</a:t>
            </a:r>
          </a:p>
          <a:p xmlns:a="http://schemas.openxmlformats.org/drawingml/2006/main">
            <a:r>
              <a:t>Use joint +4/+3 as a validated stress-test mechanism, not a default field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LICENSING.md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29aac492df4b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5a731967714219" /><Relationship Type="http://schemas.openxmlformats.org/officeDocument/2006/relationships/slideLayout" Target="/ppt/slideLayouts/slideLayout1.xml" Id="R7a64b20a6a8340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64b20a6a8340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fbe8381d94d3b" /><Relationship Type="http://schemas.openxmlformats.org/officeDocument/2006/relationships/image" Target="/ppt/media/image.jpeg" Id="Rf952ed9880df42e5" /><Relationship Type="http://schemas.openxmlformats.org/officeDocument/2006/relationships/notesSlide" Target="/ppt/notesSlides/notesSlide1.xml" Id="R757c332efd7a42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97c39dcac4f47" /><Relationship Type="http://schemas.openxmlformats.org/officeDocument/2006/relationships/image" Target="/ppt/media/image2.jpeg" Id="R5b0d60890fda46c6" /><Relationship Type="http://schemas.openxmlformats.org/officeDocument/2006/relationships/image" Target="/ppt/media/image.png" Id="Ra69672afbc064cad" /><Relationship Type="http://schemas.openxmlformats.org/officeDocument/2006/relationships/notesSlide" Target="/ppt/notesSlides/notesSlide2.xml" Id="Rbe62a131fe054c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919468d364566" /><Relationship Type="http://schemas.openxmlformats.org/officeDocument/2006/relationships/image" Target="/ppt/media/image2.png" Id="R7dd444da82444c01" /><Relationship Type="http://schemas.openxmlformats.org/officeDocument/2006/relationships/notesSlide" Target="/ppt/notesSlides/notesSlide3.xml" Id="R5529a44969514c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d39c82a70453e" /><Relationship Type="http://schemas.openxmlformats.org/officeDocument/2006/relationships/image" Target="/ppt/media/image3.png" Id="Rb3c910794dd1451c" /><Relationship Type="http://schemas.openxmlformats.org/officeDocument/2006/relationships/notesSlide" Target="/ppt/notesSlides/notesSlide4.xml" Id="R96a1b29943b049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880d280b2b46ff" /><Relationship Type="http://schemas.openxmlformats.org/officeDocument/2006/relationships/notesSlide" Target="/ppt/notesSlides/notesSlide5.xml" Id="Rb40e440256604d6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9288D322-DDC7-4465-82AC-EDF8307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09700"/>
            <a:ext cx="5810250" cy="2457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From 24.9 seconds of video to an auditable decision model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39B7715-2F50-423E-A74B-06CA95BA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29125"/>
            <a:ext cx="581025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34 accepted R→L crossings anchor the conditional model.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600 confirmatory runs test the mechanism; 2,700 exploratory runs map its operating boundary.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59ADD88-C8CE-4179-B463-D903CA99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81000"/>
            <a:ext cx="8572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WANG YU · HTX DSAI TECHNICAL ASSESSMENT · TASK 4</a:t>
            </a:r>
          </a:p>
        </p:txBody>
      </p:sp>
      <p:sp>
        <p:nvSpPr>
          <p:cNvPr id="5" name="hero-evidence-card">
            <a:extLst xmlns:a="http://schemas.openxmlformats.org/drawingml/2006/main">
              <a:ext uri="{FF2B5EF4-FFF2-40B4-BE49-F238E27FC236}">
                <a16:creationId xmlns:a16="http://schemas.microsoft.com/office/drawing/2014/main" id="{3CCBDDF3-2F4D-45B2-A30E-873909BD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52550"/>
            <a:ext cx="5124450" cy="3905250"/>
          </a:xfrm>
          <a:prstGeom xmlns:a="http://schemas.openxmlformats.org/drawingml/2006/main" prst="roundRect">
            <a:avLst>
              <a:gd name="adj" fmla="val 341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2ed9880df42e5"/>
          <a:srcRect xmlns:a="http://schemas.openxmlformats.org/drawingml/2006/main" l="0" t="21" r="0" b="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390650"/>
            <a:ext cx="5048250" cy="2838450"/>
          </a:xfrm>
          <a:prstGeom xmlns:a="http://schemas.openxmlformats.org/drawingml/2006/main" prst="roundRect">
            <a:avLst>
              <a:gd name="adj" fmla="val 3356"/>
            </a:avLst>
          </a:prstGeom>
        </p:spPr>
      </p:pic>
      <p:sp>
        <p:nvSpPr>
          <p:cNvPr id="7" name="hero-metric-count">
            <a:extLst xmlns:a="http://schemas.openxmlformats.org/drawingml/2006/main">
              <a:ext uri="{FF2B5EF4-FFF2-40B4-BE49-F238E27FC236}">
                <a16:creationId xmlns:a16="http://schemas.microsoft.com/office/drawing/2014/main" id="{39E43281-25B5-49FC-9F8A-5E6336B3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71975"/>
            <a:ext cx="142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8" name="hero-metric-count-label">
            <a:extLst xmlns:a="http://schemas.openxmlformats.org/drawingml/2006/main">
              <a:ext uri="{FF2B5EF4-FFF2-40B4-BE49-F238E27FC236}">
                <a16:creationId xmlns:a16="http://schemas.microsoft.com/office/drawing/2014/main" id="{0A560E4F-ED58-4ADA-B33E-722C5F0A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52975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9" name="hero-metric-divider">
            <a:extLst xmlns:a="http://schemas.openxmlformats.org/drawingml/2006/main">
              <a:ext uri="{FF2B5EF4-FFF2-40B4-BE49-F238E27FC236}">
                <a16:creationId xmlns:a16="http://schemas.microsoft.com/office/drawing/2014/main" id="{4BE490AD-B1DB-444D-856D-C7A94749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10075"/>
            <a:ext cx="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0" name="hero-metric-rate">
            <a:extLst xmlns:a="http://schemas.openxmlformats.org/drawingml/2006/main">
              <a:ext uri="{FF2B5EF4-FFF2-40B4-BE49-F238E27FC236}">
                <a16:creationId xmlns:a16="http://schemas.microsoft.com/office/drawing/2014/main" id="{E07274EC-5D66-427C-B24F-94A759BC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910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1.364/s</a:t>
            </a:r>
          </a:p>
        </p:txBody>
      </p:sp>
      <p:sp>
        <p:nvSpPr>
          <p:cNvPr id="11" name="hero-metric-rate-label">
            <a:extLst xmlns:a="http://schemas.openxmlformats.org/drawingml/2006/main">
              <a:ext uri="{FF2B5EF4-FFF2-40B4-BE49-F238E27FC236}">
                <a16:creationId xmlns:a16="http://schemas.microsoft.com/office/drawing/2014/main" id="{588D3695-C85F-42A9-B865-12D8FB94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529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arrival anchor</a:t>
            </a:r>
          </a:p>
        </p:txBody>
      </p:sp>
      <p:sp>
        <p:nvSpPr>
          <p:cNvPr id="12" name="hero-boundary">
            <a:extLst xmlns:a="http://schemas.openxmlformats.org/drawingml/2006/main">
              <a:ext uri="{FF2B5EF4-FFF2-40B4-BE49-F238E27FC236}">
                <a16:creationId xmlns:a16="http://schemas.microsoft.com/office/drawing/2014/main" id="{1AE69F7F-F4C7-42C1-9BC0-4F5E82BE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675"/>
            <a:ext cx="470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Human-adjudicated aggregate · not a long-run demand estimate</a:t>
            </a:r>
          </a:p>
        </p:txBody>
      </p:sp>
    </p:spTree>
    <p:extLst>
      <p:ext uri="{BB962C8B-B14F-4D97-AF65-F5344CB8AC3E}">
        <p14:creationId xmlns:p14="http://schemas.microsoft.com/office/powerpoint/2010/main" val="1153344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38DAD70-2A86-4BD4-978B-BD273F8C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29D017A-65A3-4E55-9F0E-DC4DBDDA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Measurement, model and inference stay separate—and visible</a:t>
            </a:r>
          </a:p>
        </p:txBody>
      </p:sp>
      <p:cxnSp>
        <p:nvCxnSpPr>
          <p:cNvPr id="72" name="Google-Shape-2259-p159-4"/>
          <p:cNvCxnSpPr/>
          <p:nvPr/>
        </p:nvCxnSpPr>
        <p:spPr>
          <a:xfrm xmlns:a="http://schemas.openxmlformats.org/drawingml/2006/main">
            <a:off x="337757" y="285750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87547AA-ECC4-4531-BD08-1C372AD7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71D475A-EDF8-4616-87BD-C163D054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48C384B-9230-4861-A686-4C8CA9CC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90C8628-8309-4514-ABFD-80131C52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MEASURE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AC50856-0B9B-495F-B745-200E4DC8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B60960C8-3730-4C31-9AE0-C17FFA19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INFER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353D8EF-2AB9-4BC4-83C6-DCEEEB69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Executable two-stage DES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Pooled FCFS · fixed service · full drain.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AA59D89-3FCE-416F-9E9C-2F45161A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34 accepted R→L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Human-checked count; HPP interval kept separate.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D61E3C9-CDBA-4B52-866E-004F6308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Confirm: frozen primary contrast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Explore: Base-demand operating boundary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CRN + validation PASS in both.</a:t>
            </a:r>
          </a:p>
        </p:txBody>
      </p:sp>
      <p:sp>
        <p:nvSpPr>
          <p:cNvPr id="34" name="measure-visual-frame">
            <a:extLst xmlns:a="http://schemas.openxmlformats.org/drawingml/2006/main">
              <a:ext uri="{FF2B5EF4-FFF2-40B4-BE49-F238E27FC236}">
                <a16:creationId xmlns:a16="http://schemas.microsoft.com/office/drawing/2014/main" id="{CE96F3AF-84D3-4A9A-B41B-4E1C7EAD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d60890fda46c6"/>
          <a:srcRect xmlns:a="http://schemas.openxmlformats.org/drawingml/2006/main" l="0" t="1627" r="0" b="16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8625" y="3028950"/>
            <a:ext cx="3448050" cy="1876425"/>
          </a:xfrm>
          <a:prstGeom xmlns:a="http://schemas.openxmlformats.org/drawingml/2006/main" prst="roundRect">
            <a:avLst>
              <a:gd name="adj" fmla="val 4569"/>
            </a:avLst>
          </a:prstGeom>
        </p:spPr>
      </p:pic>
      <p:sp>
        <p:nvSpPr>
          <p:cNvPr id="36" name="model-visual-frame">
            <a:extLst xmlns:a="http://schemas.openxmlformats.org/drawingml/2006/main">
              <a:ext uri="{FF2B5EF4-FFF2-40B4-BE49-F238E27FC236}">
                <a16:creationId xmlns:a16="http://schemas.microsoft.com/office/drawing/2014/main" id="{4821BA4B-F775-4FEE-88F9-0B0D0EB7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672afbc064cad"/>
          <a:srcRect xmlns:a="http://schemas.openxmlformats.org/drawingml/2006/main" l="0" t="8139" r="0" b="81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52925" y="3028950"/>
            <a:ext cx="3448050" cy="1876425"/>
          </a:xfrm>
          <a:prstGeom xmlns:a="http://schemas.openxmlformats.org/drawingml/2006/main" prst="roundRect">
            <a:avLst>
              <a:gd name="adj" fmla="val 4569"/>
            </a:avLst>
          </a:prstGeom>
        </p:spPr>
      </p:pic>
      <p:sp>
        <p:nvSpPr>
          <p:cNvPr id="38" name="infer-grid-frame">
            <a:extLst xmlns:a="http://schemas.openxmlformats.org/drawingml/2006/main">
              <a:ext uri="{FF2B5EF4-FFF2-40B4-BE49-F238E27FC236}">
                <a16:creationId xmlns:a16="http://schemas.microsoft.com/office/drawing/2014/main" id="{25FB288A-58F4-4CD6-BF41-781A0030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9" name="infer-grid-equation">
            <a:extLst xmlns:a="http://schemas.openxmlformats.org/drawingml/2006/main">
              <a:ext uri="{FF2B5EF4-FFF2-40B4-BE49-F238E27FC236}">
                <a16:creationId xmlns:a16="http://schemas.microsoft.com/office/drawing/2014/main" id="{F1DE746B-A337-4C37-9DB6-3F6DE0C7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05150"/>
            <a:ext cx="3181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CONFIRM · 4 × 3 × 50 = 600</a:t>
            </a:r>
          </a:p>
        </p:txBody>
      </p:sp>
      <p:sp>
        <p:nvSpPr>
          <p:cNvPr id="40" name="matrix-col-0">
            <a:extLst xmlns:a="http://schemas.openxmlformats.org/drawingml/2006/main">
              <a:ext uri="{FF2B5EF4-FFF2-40B4-BE49-F238E27FC236}">
                <a16:creationId xmlns:a16="http://schemas.microsoft.com/office/drawing/2014/main" id="{AF16CA2A-689F-4EEA-B50E-0C2F4760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</p:txBody>
      </p:sp>
      <p:sp>
        <p:nvSpPr>
          <p:cNvPr id="41" name="matrix-col-1">
            <a:extLst xmlns:a="http://schemas.openxmlformats.org/drawingml/2006/main">
              <a:ext uri="{FF2B5EF4-FFF2-40B4-BE49-F238E27FC236}">
                <a16:creationId xmlns:a16="http://schemas.microsoft.com/office/drawing/2014/main" id="{55D7DED6-9946-4155-AFA3-9D5D6BBF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BASE</a:t>
            </a:r>
          </a:p>
        </p:txBody>
      </p:sp>
      <p:sp>
        <p:nvSpPr>
          <p:cNvPr id="42" name="matrix-col-2">
            <a:extLst xmlns:a="http://schemas.openxmlformats.org/drawingml/2006/main">
              <a:ext uri="{FF2B5EF4-FFF2-40B4-BE49-F238E27FC236}">
                <a16:creationId xmlns:a16="http://schemas.microsoft.com/office/drawing/2014/main" id="{AC7D9101-4265-456C-B2AF-0BD589A2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HIGH</a:t>
            </a:r>
          </a:p>
        </p:txBody>
      </p:sp>
      <p:sp>
        <p:nvSpPr>
          <p:cNvPr id="43" name="matrix-row-0">
            <a:extLst xmlns:a="http://schemas.openxmlformats.org/drawingml/2006/main">
              <a:ext uri="{FF2B5EF4-FFF2-40B4-BE49-F238E27FC236}">
                <a16:creationId xmlns:a16="http://schemas.microsoft.com/office/drawing/2014/main" id="{C4F040C5-535E-44AD-9340-43E1F224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385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REF</a:t>
            </a:r>
          </a:p>
        </p:txBody>
      </p:sp>
      <p:sp>
        <p:nvSpPr>
          <p:cNvPr id="44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797CB83C-DD50-4CFD-A969-E38D3FDF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45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3758280C-E085-415F-86CB-FBE6F85B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46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AB43D57A-7C35-4CA3-866E-414AFA31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47" name="matrix-row-1">
            <a:extLst xmlns:a="http://schemas.openxmlformats.org/drawingml/2006/main">
              <a:ext uri="{FF2B5EF4-FFF2-40B4-BE49-F238E27FC236}">
                <a16:creationId xmlns:a16="http://schemas.microsoft.com/office/drawing/2014/main" id="{1D98B5A6-A17C-4362-8967-C3C5C0A2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243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S+4</a:t>
            </a:r>
          </a:p>
        </p:txBody>
      </p:sp>
      <p:sp>
        <p:nvSpPr>
          <p:cNvPr id="48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06A884C2-2DEB-4C55-B02F-162412B5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49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352B562C-E52E-4313-B6E0-C293AB0A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0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055605D0-6D7D-4784-9016-C8DF9AAD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1" name="matrix-row-2">
            <a:extLst xmlns:a="http://schemas.openxmlformats.org/drawingml/2006/main">
              <a:ext uri="{FF2B5EF4-FFF2-40B4-BE49-F238E27FC236}">
                <a16:creationId xmlns:a16="http://schemas.microsoft.com/office/drawing/2014/main" id="{B09D421D-A364-40AB-AA09-278169CE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100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0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I+3</a:t>
            </a:r>
          </a:p>
        </p:txBody>
      </p:sp>
      <p:sp>
        <p:nvSpPr>
          <p:cNvPr id="52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B7FF171F-9420-4AA0-A27D-C5C58E32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3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95C83C43-7688-4286-BAC5-92EE2B6E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4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87931BCE-61EF-45DE-AC82-F3214155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5" name="matrix-row-3">
            <a:extLst xmlns:a="http://schemas.openxmlformats.org/drawingml/2006/main">
              <a:ext uri="{FF2B5EF4-FFF2-40B4-BE49-F238E27FC236}">
                <a16:creationId xmlns:a16="http://schemas.microsoft.com/office/drawing/2014/main" id="{D32483B3-C94B-4ADF-8A1D-8ABB6DD9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958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245FC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45FCB"/>
                </a:solidFill>
                <a:latin typeface="Helvetica Neue"/>
                <a:ea typeface="Helvetica Neue"/>
                <a:cs typeface="Helvetica Neue"/>
              </a:rPr>
              <a:t>JOINT</a:t>
            </a:r>
          </a:p>
        </p:txBody>
      </p:sp>
      <p:sp>
        <p:nvSpPr>
          <p:cNvPr id="56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709705E3-6709-46DB-B69A-068838B3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7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D580DDFF-D8DD-4F4D-A764-2890DEAC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8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FF462A06-0A87-4952-A9CF-C428ED9E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50</a:t>
            </a:r>
          </a:p>
        </p:txBody>
      </p:sp>
      <p:sp>
        <p:nvSpPr>
          <p:cNvPr id="59" name="infer-grid-footer">
            <a:extLst xmlns:a="http://schemas.openxmlformats.org/drawingml/2006/main">
              <a:ext uri="{FF2B5EF4-FFF2-40B4-BE49-F238E27FC236}">
                <a16:creationId xmlns:a16="http://schemas.microsoft.com/office/drawing/2014/main" id="{F4B05477-1CD9-44E8-A650-91B3CF5E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95825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45FC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245FCB"/>
                </a:solidFill>
                <a:latin typeface="Helvetica Neue"/>
                <a:ea typeface="Helvetica Neue"/>
                <a:cs typeface="Helvetica Neue"/>
              </a:rPr>
              <a:t>EXPLORE · 9 × 6 × 50 = 2,700</a:t>
            </a:r>
          </a:p>
        </p:txBody>
      </p:sp>
    </p:spTree>
    <p:extLst>
      <p:ext uri="{BB962C8B-B14F-4D97-AF65-F5344CB8AC3E}">
        <p14:creationId xmlns:p14="http://schemas.microsoft.com/office/powerpoint/2010/main" val="4623974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Variability creates delay before deterministic saturation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AnyLogic HPP vs deterministic ideal · mean P95 total wait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Variability arrives early</a:t>
            </a:r>
          </a:p>
          <a:p xmlns:a="http://schemas.openxmlformats.org/drawingml/2006/main">
            <a:pPr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36/21, ideal P95 is 0 s while HPP is 3.93 s.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Penalty accelerates near ρ ≈ 1</a:t>
            </a:r>
          </a:p>
          <a:p xmlns:a="http://schemas.openxmlformats.org/drawingml/2006/main">
            <a:pPr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step: 0.29→6.98 s. Immigration: 1.31→14.68 s.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Audited, not smoothed</a:t>
            </a:r>
          </a:p>
          <a:p xmlns:a="http://schemas.openxmlformats.org/drawingml/2006/main">
            <a:pPr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54 cells × 50. 2,700 COMPLETE; 1,113,588 traveller rows; CRN PASS.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Ideal = regular arrivals + fixed service—not a site forecast.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Only integer capacities were simulated; connecting lines are visual guides.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d444da82444c01"/>
          <a:stretch xmlns:a="http://schemas.openxmlformats.org/drawingml/2006/main"/>
        </p:blipFill>
        <p:spPr>
          <a:xfrm xmlns:a="http://schemas.openxmlformats.org/drawingml/2006/main">
            <a:off x="400050" y="1974745"/>
            <a:ext cx="7620000" cy="31752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active bottleneck—not two shortages added—sets delay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54 cells · Base-demand mean P95 total wait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5651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Immigration dominates</a:t>
            </a:r>
          </a:p>
          <a:p xmlns:a="http://schemas.openxmlformats.org/drawingml/2006/main">
            <a:pPr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I16, S36→31 remains ≈35.61 s; Security capacity changes are initially masked.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5651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dominates</a:t>
            </a:r>
          </a:p>
          <a:p xmlns:a="http://schemas.openxmlformats.org/drawingml/2006/main">
            <a:pPr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S28, I21→17 moves only 24.43→25.38 s; Immigration capacity changes are initially masked.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5651"/>
          </a:bodyPr>
          <a:lstStyle xmlns:a="http://schemas.openxmlformats.org/drawingml/2006/main"/>
          <a:p xmlns:a="http://schemas.openxmlformats.org/drawingml/2006/main">
            <a:pPr>
              <a:spcAft>
                <a:spcPts val="4"/>
              </a:spcAft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Upstream metering</a:t>
            </a:r>
          </a:p>
          <a:p xmlns:a="http://schemas.openxmlformats.org/drawingml/2006/main">
            <a:pPr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S30→29 with I18→17: DiD −4.02 s [−4.72, −3.32]. Negative means sub-additive—not beneficial.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Exploratory sensitivity at fixed Base demand · n=50/cell · 2,700/2,700 COMPLETE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Bottleneck map is conditional evidence—not a staffing recommendation.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910794dd1451c"/>
          <a:srcRect xmlns:a="http://schemas.openxmlformats.org/drawingml/2006/main" l="0" t="9865" r="0" b="9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381125"/>
            <a:ext cx="7620000" cy="447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81BD1AE-7A11-4633-9882-26A54E61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0D39F14-0FCC-4D48-84A9-503858E9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Calibrate the site, locate the bottleneck, then pilot relief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F734D25-6349-400F-AF66-BD1D9FB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80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Time-of-day arrivals + signed event ledger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6E6D46D7-9507-4899-9A12-17E0E292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5528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CBEFA16B-F7C2-4B24-A924-9B27DF4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0"/>
            <a:ext cx="6191250" cy="2524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DECISION NOW</a:t>
            </a:r>
          </a:p>
          <a:p xmlns:a="http://schemas.openxmlformats.org/drawingml/2006/main">
            <a:pPr>
              <a:spcAft>
                <a:spcPts val="12"/>
              </a:spcAft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Advance the validated mechanism to site calibration.</a:t>
            </a:r>
          </a:p>
          <a:p xmlns:a="http://schemas.openxmlformats.org/drawingml/2006/main">
            <a:pPr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WHY THIS MATTERS</a:t>
            </a:r>
          </a:p>
          <a:p xmlns:a="http://schemas.openxmlformats.org/drawingml/2006/main">
            <a:pPr>
              <a:spcAft>
                <a:spcPts val="12"/>
              </a:spcAft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Capacity loss is nonlinear; the active bottleneck changes which intervention works.</a:t>
            </a:r>
          </a:p>
          <a:p xmlns:a="http://schemas.openxmlformats.org/drawingml/2006/main">
            <a:pPr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  <a:p xmlns:a="http://schemas.openxmlformats.org/drawingml/2006/main">
            <a:pPr>
              <a:def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36/21 is a derived reference—not observed staffing. No roster or deployment approval.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9655FE59-28B3-4208-9D38-8CA87FE9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3382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Stage service, exception and downtime distributions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CC826CCF-C388-4016-A482-29D3EE88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03860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D0C114C5-CD12-458B-A70E-03F6AAD9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1960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Observed queues, open resources and rosters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7BA09227-E603-41B2-A52E-4BA0F973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52437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C79C4205-427A-49A2-BB34-A8B17223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0537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Costed bottleneck-aware pilot + operating constraints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259AF994-9B8C-40D7-A87E-8E5704D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01015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7312FCBA-29F0-4015-BEE9-35804F58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3911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Production CV licence + security controls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96FBE91E-D88B-4CA9-A68E-7D71952C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959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6" name="phase-gate-1">
            <a:extLst xmlns:a="http://schemas.openxmlformats.org/drawingml/2006/main">
              <a:ext uri="{FF2B5EF4-FFF2-40B4-BE49-F238E27FC236}">
                <a16:creationId xmlns:a16="http://schemas.microsoft.com/office/drawing/2014/main" id="{DC096A07-3EA7-4C3A-838A-9F9AD6A3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  CALIBRATE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Measure time-of-day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arrivals + stage service</a:t>
            </a:r>
          </a:p>
        </p:txBody>
      </p:sp>
      <p:sp>
        <p:nvSpPr>
          <p:cNvPr id="17" name="phase-gate-2">
            <a:extLst xmlns:a="http://schemas.openxmlformats.org/drawingml/2006/main">
              <a:ext uri="{FF2B5EF4-FFF2-40B4-BE49-F238E27FC236}">
                <a16:creationId xmlns:a16="http://schemas.microsoft.com/office/drawing/2014/main" id="{2D791E4B-7071-45D5-A2EB-04E17960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FE0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2  LOCATE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Place the site on the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capacity surface</a:t>
            </a:r>
          </a:p>
        </p:txBody>
      </p:sp>
      <p:sp>
        <p:nvSpPr>
          <p:cNvPr id="18" name="phase-gate-3">
            <a:extLst xmlns:a="http://schemas.openxmlformats.org/drawingml/2006/main">
              <a:ext uri="{FF2B5EF4-FFF2-40B4-BE49-F238E27FC236}">
                <a16:creationId xmlns:a16="http://schemas.microsoft.com/office/drawing/2014/main" id="{4C31623C-81F3-431F-91E4-47697896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245FCB"/>
            </a:solidFill>
            <a:prstDash val="solid"/>
          </a:ln>
        </p:spPr>
        <p:txBody>
          <a:bodyPr xmlns:a="http://schemas.openxmlformats.org/drawingml/2006/main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  PILOT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Relieve Security,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Immigration or both</a:t>
            </a:r>
          </a:p>
        </p:txBody>
      </p:sp>
      <p:sp>
        <p:nvSpPr>
          <p:cNvPr id="19" name="phase-gate-4">
            <a:extLst xmlns:a="http://schemas.openxmlformats.org/drawingml/2006/main">
              <a:ext uri="{FF2B5EF4-FFF2-40B4-BE49-F238E27FC236}">
                <a16:creationId xmlns:a16="http://schemas.microsoft.com/office/drawing/2014/main" id="{D37384A9-C52E-4C40-9878-631158B4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9ECF2"/>
          </a:solidFill>
          <a:ln xmlns:a="http://schemas.openxmlformats.org/drawingml/2006/main" w="9525">
            <a:solidFill>
              <a:srgbClr val="AAB3C2"/>
            </a:solidFill>
            <a:prstDash val="solid"/>
          </a:ln>
        </p:spPr>
        <p:txBody>
          <a:bodyPr xmlns:a="http://schemas.openxmlformats.org/drawingml/2006/main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4  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Queue impact, cost,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layout + constraints</a:t>
            </a:r>
          </a:p>
        </p:txBody>
      </p:sp>
    </p:spTree>
    <p:extLst>
      <p:ext uri="{BB962C8B-B14F-4D97-AF65-F5344CB8AC3E}">
        <p14:creationId xmlns:p14="http://schemas.microsoft.com/office/powerpoint/2010/main" val="987544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2026-07-28T17:51:25.8650000Z</dcterms:created>
  <dcterms:modified xsi:type="dcterms:W3CDTF">2026-07-28T17:51:25.8650000Z</dcterms:modified>
</coreProperties>
</file>