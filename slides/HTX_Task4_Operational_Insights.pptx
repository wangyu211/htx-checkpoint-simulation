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8d838cf6824e28" /><Relationship Type="http://schemas.openxmlformats.org/officeDocument/2006/relationships/extended-properties" Target="/docProps/app.xml" Id="R08bbf2c7d3dc40ae" /><Relationship Type="http://schemas.openxmlformats.org/officeDocument/2006/relationships/officeDocument" Target="/ppt/presentation.xml" Id="Rcde3ac78807e42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07f94d5f0d460a"/>
  </p:sldMasterIdLst>
  <p:notesMasterIdLst>
    <p:notesMasterId xmlns:r="http://schemas.openxmlformats.org/officeDocument/2006/relationships" r:id="R41bdb56092eb4d82"/>
  </p:notesMasterIdLst>
  <p:sldIdLst>
    <p:sldId xmlns:r="http://schemas.openxmlformats.org/officeDocument/2006/relationships" id="256" r:id="Rc859b84c38ea437e"/>
    <p:sldId xmlns:r="http://schemas.openxmlformats.org/officeDocument/2006/relationships" id="257" r:id="R2b93bd00452c4307"/>
    <p:sldId xmlns:r="http://schemas.openxmlformats.org/officeDocument/2006/relationships" id="258" r:id="R7067e0546ec44f3d"/>
    <p:sldId xmlns:r="http://schemas.openxmlformats.org/officeDocument/2006/relationships" id="259" r:id="Raf19ab4eb15042f1"/>
    <p:sldId xmlns:r="http://schemas.openxmlformats.org/officeDocument/2006/relationships" id="260" r:id="R643b0492042744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5ca19b6d40446e" /><Relationship Type="http://schemas.openxmlformats.org/officeDocument/2006/relationships/slideMaster" Target="/ppt/slideMasters/slideMaster1.xml" Id="Ra407f94d5f0d460a" /><Relationship Type="http://schemas.openxmlformats.org/officeDocument/2006/relationships/notesMaster" Target="/ppt/notesMasters/notesMaster1.xml" Id="R41bdb56092eb4d82" /><Relationship Type="http://schemas.openxmlformats.org/officeDocument/2006/relationships/presProps" Target="/ppt/presProps.xml" Id="R44d9bf868d79404e" /><Relationship Type="http://schemas.openxmlformats.org/officeDocument/2006/relationships/tableStyles" Target="/ppt/tableStyles.xml" Id="R08a8ca938e004316" /><Relationship Type="http://schemas.openxmlformats.org/officeDocument/2006/relationships/slide" Target="/ppt/slides/slide1.xml" Id="Rc859b84c38ea437e" /><Relationship Type="http://schemas.openxmlformats.org/officeDocument/2006/relationships/slide" Target="/ppt/slides/slide2.xml" Id="R2b93bd00452c4307" /><Relationship Type="http://schemas.openxmlformats.org/officeDocument/2006/relationships/slide" Target="/ppt/slides/slide3.xml" Id="R7067e0546ec44f3d" /><Relationship Type="http://schemas.openxmlformats.org/officeDocument/2006/relationships/slide" Target="/ppt/slides/slide4.xml" Id="Raf19ab4eb15042f1" /><Relationship Type="http://schemas.openxmlformats.org/officeDocument/2006/relationships/slide" Target="/ppt/slides/slide5.xml" Id="R643b0492042744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4cb2480bcd4c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ad9e5d5ea245cc" /><Relationship Type="http://schemas.openxmlformats.org/officeDocument/2006/relationships/notesMaster" Target="/ppt/notesMasters/notesMaster1.xml" Id="R3cd176fc4d4043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f4ce8b694f41cc" /><Relationship Type="http://schemas.openxmlformats.org/officeDocument/2006/relationships/notesMaster" Target="/ppt/notesMasters/notesMaster1.xml" Id="Rd9b30ecf1c5f4f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6e38b2785c4e74" /><Relationship Type="http://schemas.openxmlformats.org/officeDocument/2006/relationships/notesMaster" Target="/ppt/notesMasters/notesMaster1.xml" Id="R6714caf79eb846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a03e3c07104843" /><Relationship Type="http://schemas.openxmlformats.org/officeDocument/2006/relationships/notesMaster" Target="/ppt/notesMasters/notesMaster1.xml" Id="R8b5d8bcf782f44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b30b9465d94a6b" /><Relationship Type="http://schemas.openxmlformats.org/officeDocument/2006/relationships/notesMaster" Target="/ppt/notesMasters/notesMaster1.xml" Id="R52cfd3b2729b49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task as a decision-under-uncertainty problem. The short clip is useful evidence, but it cannot validate a full checkpoint or justify a staffing forecast.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HTX Data Scientist Technical Test.docx (assessment brief, local source)</a:t>
            </a:r>
          </a:p>
          <a:p xmlns:a="http://schemas.openxmlformats.org/drawingml/2006/main">
            <a:r>
              <a:t>- data/derived/task1_final_aggregate.csv (accepted aggregate, local source)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each layer exists. Detection is a candidate-generation tool, the AnyLogic animation is an inspectable explanation layer, and replicated output—not a visually convincing run—is the evidence layer.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data/derived/task1_final_aggregate.csv (accepted aggregate, local source)</a:t>
            </a:r>
          </a:p>
          <a:p xmlns:a="http://schemas.openxmlformats.org/drawingml/2006/main">
            <a:r>
              <a:t>- docs/task2_system_design.md (conceptual model and assumptions, local source)</a:t>
            </a:r>
          </a:p>
          <a:p xmlns:a="http://schemas.openxmlformats.org/drawingml/2006/main">
            <a:r>
              <a:t>- docs/literature_to_design_matrix.md (design-evidence matrix, local source)</a:t>
            </a:r>
          </a:p>
          <a:p xmlns:a="http://schemas.openxmlformats.org/drawingml/2006/main">
            <a:r>
              <a:t>- https://informs-sim.org/wsc20papers/134.pdf</a:t>
            </a:r>
          </a:p>
          <a:p xmlns:a="http://schemas.openxmlformats.org/drawingml/2006/main">
            <a:r>
              <a:t>- https://github.com/Megvii-BaseDetection/YOLOX</a:t>
            </a:r>
          </a:p>
          <a:p xmlns:a="http://schemas.openxmlformats.org/drawingml/2006/main">
            <a:r>
              <a:t>- https://www.ecva.net/papers/eccv_2022/papers_ECCV/papers/136820001.pdf</a:t>
            </a:r>
          </a:p>
          <a:p xmlns:a="http://schemas.openxmlformats.org/drawingml/2006/main">
            <a:r>
              <a:t>- https://www.ultralytics.com/license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Call this a reference assumption sandbox, never observed HTX baseline performance. Its low waiting time is expected because capacity was derived with headroom, service times are fixed, and the system starts empty.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docs/task3_operational_contract.md (executed model contract, local source)</a:t>
            </a:r>
          </a:p>
          <a:p xmlns:a="http://schemas.openxmlformats.org/drawingml/2006/main">
            <a:r>
              <a:t>- results/intermediate/operational_results/validation.json (strict validation, local source)</a:t>
            </a:r>
          </a:p>
          <a:p xmlns:a="http://schemas.openxmlformats.org/drawingml/2006/main">
            <a:r>
              <a:t>- results/analysis/operational/scenario_estimates.csv (reference estimates, local source)</a:t>
            </a:r>
          </a:p>
          <a:p xmlns:a="http://schemas.openxmlformats.org/drawingml/2006/main">
            <a:r>
              <a:t>- docs/task3_results.md (interpretation and limits, local source)</a:t>
            </a:r>
          </a:p>
          <a:p xmlns:a="http://schemas.openxmlformats.org/drawingml/2006/main">
            <a:r>
              <a:t>- https://www.gao.gov/assets/a257263.html</a:t>
            </a:r>
          </a:p>
          <a:p xmlns:a="http://schemas.openxmlformats.org/drawingml/2006/main">
            <a:r>
              <a:t>- https://www.mha.gov.sg/media-room/newsroom/average-duration-to-process-travellers-at-bus-halls-of-land-checkpoints-using-qr-code-or-passport/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stage-level bars first: expanding Security removes Security wait but leaves Immigration active; expanding Immigration does the reverse. Joint capacity is the only clear capacity contrast at n=10, but the larger operational lesson is that demand and service assumptions dominate these small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results/analysis/operational/scenario_estimates.csv (scenario estimates, local source)</a:t>
            </a:r>
          </a:p>
          <a:p xmlns:a="http://schemas.openxmlformats.org/drawingml/2006/main">
            <a:r>
              <a:t>- results/analysis/operational/scenario_contrasts.csv (Welch contrasts, local source)</a:t>
            </a:r>
          </a:p>
          <a:p xmlns:a="http://schemas.openxmlformats.org/drawingml/2006/main">
            <a:r>
              <a:t>- results/analysis/operational/analysis_manifest.json (CRN status and method, local source)</a:t>
            </a:r>
          </a:p>
          <a:p xmlns:a="http://schemas.openxmlformats.org/drawingml/2006/main">
            <a:r>
              <a:t>- docs/task3_results.md (scenario interpretation and limitations, local source)</a:t>
            </a:r>
          </a:p>
          <a:p xmlns:a="http://schemas.openxmlformats.org/drawingml/2006/main">
            <a:r>
              <a:t>- https://www.ica.gov.sg/news-and-publications/newsroom/media-release/new-immigration-kiosks-at-woodlands-train-checkpoint-increases-automated-clearance-capacity-and-provides-faster-clearance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 a staged programme: retain pooled FCFS and full-drain diagnostics, use balanced capacity as a mechanism pilot, collect local arrival/service/exception/roster data, then rerun a confirmatory experiment with a precision target and costs. Treat detector licensing as a production procurement decision, not a hidden deployment assumption.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docs/task3_results.md (risk-bound interpretation, guardrail critique and limits, local source)</a:t>
            </a:r>
          </a:p>
          <a:p xmlns:a="http://schemas.openxmlformats.org/drawingml/2006/main">
            <a:r>
              <a:t>- results/analysis/operational/scenario_estimates.csv (risk scenario estimates, local source)</a:t>
            </a:r>
          </a:p>
          <a:p xmlns:a="http://schemas.openxmlformats.org/drawingml/2006/main">
            <a:r>
              <a:t>- docs/analysis_plan.md (confirmatory precision and claim controls, local source)</a:t>
            </a:r>
          </a:p>
          <a:p xmlns:a="http://schemas.openxmlformats.org/drawingml/2006/main">
            <a:r>
              <a:t>- LICENSING.md (measurement/deployment licence boundary, local source)</a:t>
            </a:r>
          </a:p>
          <a:p xmlns:a="http://schemas.openxmlformats.org/drawingml/2006/main">
            <a:r>
              <a:t>- https://www.cbp.gov/sites/default/files/documents/Final%20Preclearance%20Guidance_092014.pdf</a:t>
            </a:r>
          </a:p>
          <a:p xmlns:a="http://schemas.openxmlformats.org/drawingml/2006/main">
            <a:r>
              <a:t>- https://www.ultralytics.com/license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a0eecd17b47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5cce5c20a54d78" /><Relationship Type="http://schemas.openxmlformats.org/officeDocument/2006/relationships/slideLayout" Target="/ppt/slideLayouts/slideLayout1.xml" Id="R2c206034e56a4e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206034e56a4e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d833895aa4248" /><Relationship Type="http://schemas.openxmlformats.org/officeDocument/2006/relationships/notesSlide" Target="/ppt/notesSlides/notesSlide1.xml" Id="R5147c698ba3749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03758fbd14353" /><Relationship Type="http://schemas.openxmlformats.org/officeDocument/2006/relationships/notesSlide" Target="/ppt/notesSlides/notesSlide2.xml" Id="Ra141486926d149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75660641448c0" /><Relationship Type="http://schemas.openxmlformats.org/officeDocument/2006/relationships/notesSlide" Target="/ppt/notesSlides/notesSlide3.xml" Id="R6ba1a8cff44b42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034bb7e76f464d" /><Relationship Type="http://schemas.openxmlformats.org/officeDocument/2006/relationships/chart" Target="/ppt/slides/charts/chart1.xml" Id="Ra7e1e0afdbb4475f" /><Relationship Type="http://schemas.openxmlformats.org/officeDocument/2006/relationships/notesSlide" Target="/ppt/notesSlides/notesSlide4.xml" Id="R7c0cf47ae66b4b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f0f310750408d" /><Relationship Type="http://schemas.openxmlformats.org/officeDocument/2006/relationships/notesSlide" Target="/ppt/notesSlides/notesSlide5.xml" Id="R9cce3c108762427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Security wait P95</c:v>
          </c:tx>
          <c:spPr>
            <a:solidFill xmlns:a="http://schemas.openxmlformats.org/drawingml/2006/main">
              <a:srgbClr val="000000"/>
            </a:solidFill>
          </c:spPr>
          <c:cat>
            <c:strLit>
              <c:ptCount val="4"/>
              <c:pt idx="0">
                <c:v>Reference</c:v>
              </c:pt>
              <c:pt idx="1">
                <c:v>Security +4</c:v>
              </c:pt>
              <c:pt idx="2">
                <c:v>Immigration +3</c:v>
              </c:pt>
              <c:pt idx="3">
                <c:v>Both +4/+3</c:v>
              </c:pt>
            </c:strLit>
          </c:cat>
          <c:val>
            <c:numLit>
              <c:formatCode>0.00</c:formatCode>
              <c:ptCount val="4"/>
              <c:pt idx="0">
                <c:v>2.07</c:v>
              </c:pt>
              <c:pt idx="1">
                <c:v>0.02</c:v>
              </c:pt>
              <c:pt idx="2">
                <c:v>2.12</c:v>
              </c:pt>
              <c:pt idx="3">
                <c:v>0.75</c:v>
              </c:pt>
            </c:numLit>
          </c:val>
        </c:ser>
        <c:ser>
          <c:idx val="1"/>
          <c:order val="1"/>
          <c:tx>
            <c:v>Immigration wait P95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Reference</c:v>
              </c:pt>
              <c:pt idx="1">
                <c:v>Security +4</c:v>
              </c:pt>
              <c:pt idx="2">
                <c:v>Immigration +3</c:v>
              </c:pt>
              <c:pt idx="3">
                <c:v>Both +4/+3</c:v>
              </c:pt>
            </c:strLit>
          </c:cat>
          <c:val>
            <c:numLit>
              <c:formatCode>0.00</c:formatCode>
              <c:ptCount val="4"/>
              <c:pt idx="0">
                <c:v>2.32</c:v>
              </c:pt>
              <c:pt idx="1">
                <c:v>2.52</c:v>
              </c:pt>
              <c:pt idx="2">
                <c:v>0.17</c:v>
              </c:pt>
              <c:pt idx="3">
                <c:v>0.75</c:v>
              </c:pt>
            </c:numLit>
          </c:val>
        </c:ser>
        <c:ser>
          <c:idx val="2"/>
          <c:order val="2"/>
          <c:tx>
            <c:v>Total wait P95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Reference</c:v>
              </c:pt>
              <c:pt idx="1">
                <c:v>Security +4</c:v>
              </c:pt>
              <c:pt idx="2">
                <c:v>Immigration +3</c:v>
              </c:pt>
              <c:pt idx="3">
                <c:v>Both +4/+3</c:v>
              </c:pt>
            </c:strLit>
          </c:cat>
          <c:val>
            <c:numLit>
              <c:formatCode>0.00</c:formatCode>
              <c:ptCount val="4"/>
              <c:pt idx="0">
                <c:v>3.52</c:v>
              </c:pt>
              <c:pt idx="1">
                <c:v>2.68</c:v>
              </c:pt>
              <c:pt idx="2">
                <c:v>2.31</c:v>
              </c:pt>
              <c:pt idx="3">
                <c:v>1.62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1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288D322-DDC7-4465-82AC-EDF8307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From 25 seconds of video to a decision-ready checkpoint model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39B7715-2F50-423E-A74B-06CA95BA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Evidence-led measurement · verified discrete-event simulation · bounded operational recommendations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59ADD88-C8CE-4179-B463-D903CA99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HTX DSAI TECHNICAL ASSESSMENT · TASK 4</a:t>
            </a:r>
          </a:p>
        </p:txBody>
      </p:sp>
    </p:spTree>
    <p:extLst>
      <p:ext uri="{BB962C8B-B14F-4D97-AF65-F5344CB8AC3E}">
        <p14:creationId xmlns:p14="http://schemas.microsoft.com/office/powerpoint/2010/main" val="1153344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pipeline prevents a short clip from becoming a false baseline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87547AA-ECC4-4531-BD08-1C372AD7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71D475A-EDF8-4616-87BD-C163D054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48C384B-9230-4861-A686-4C8CA9CC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90C8628-8309-4514-ABFD-80131C52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AC50856-0B9B-495F-B745-200E4DC8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MODEL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B60960C8-3730-4C31-9AE0-C17FFA19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INFER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353D8EF-2AB9-4BC4-83C6-DCEEEB69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00"/>
              </a:spcAft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Events—not frames—drive the engine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Arrival → Security → Immigration → full drain. Finite resources, queues and service completions are true discrete events.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AA59D89-3FCE-416F-9E9C-2F45161A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00"/>
              </a:spcAft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Candidates, then human ownership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YOLO26m + BoT-SORT generates candidates; YOLOX-S + ByteTrack cross-checks. Human adjudication owns 12 L→R / 34 R→L.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D61E3C9-CDBA-4B52-866E-004F6308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00"/>
              </a:spcAft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Replications—not animation—support claims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Seeded runs yield replication-level P95, cutoff WIP, clear time and confidence intervals with explicit claim boundaries.</a:t>
            </a:r>
          </a:p>
        </p:txBody>
      </p:sp>
    </p:spTree>
    <p:extLst>
      <p:ext uri="{BB962C8B-B14F-4D97-AF65-F5344CB8AC3E}">
        <p14:creationId xmlns:p14="http://schemas.microsoft.com/office/powerpoint/2010/main" val="4623974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ABD6C80F-C38F-43FF-96F7-09D97564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200A7CB3-7E7B-405A-9694-53EBD5E4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E16EAF83-C4F9-4C2D-8468-8E04D2AA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5EBEC7DA-1448-4CDE-A649-37F5DB8B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C9A4D58F-1822-47DA-98B7-4FBC77D9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reference is stable because its assumptions provide headroom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C6B5623-A0A6-49BC-AA8A-957A6E00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Total queue-wait P95
95% CI 2.92–4.12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935125B4-FFFD-4636-91CE-49671F83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Clear after 300 s cutoff
95% CI 34.1–36.5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85A00259-C2B9-427C-99EE-5574837B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/ Immigration utilization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1C1CA881-1E2C-4353-A0D1-3EEACE6E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3.52 s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C96B3E29-F756-45E7-A465-063F9618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74 / 75.6%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C226B1E0-29FF-458E-B5F1-A730B0B7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35.3 s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46CB0780-B1AF-4986-A806-811D3AB1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00"/>
              </a:spcAft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REFERENCE ≠ OBSERVED BASELINE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pooled-FCFS sandbox: 1.364/s HPP for 300 s; 36 Security × 21.8 s; 21 Immigration × 13 s; empty start; full drain. Result gate: 150/150 runs, 61,218 travellers, zero drops, strict PASS.</a:t>
            </a:r>
          </a:p>
        </p:txBody>
      </p:sp>
    </p:spTree>
    <p:extLst>
      <p:ext uri="{BB962C8B-B14F-4D97-AF65-F5344CB8AC3E}">
        <p14:creationId xmlns:p14="http://schemas.microsoft.com/office/powerpoint/2010/main" val="68489495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809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Single-stage capacity moves the bottleneck; service evidence dominates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33475"/>
            <a:ext cx="533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t>Replication-level queue-wait P95 (seconds)</a:t>
            </a:r>
          </a:p>
        </p:txBody>
      </p:sp>
      <p:sp>
        <p:nvSpPr>
          <p:cNvPr id="3" name="callout-1-bg">
            <a:extLst xmlns:a="http://schemas.openxmlformats.org/drawingml/2006/main">
              <a:ext uri="{FF2B5EF4-FFF2-40B4-BE49-F238E27FC236}">
                <a16:creationId xmlns:a16="http://schemas.microsoft.com/office/drawing/2014/main" id="{E283465D-3155-408A-B407-4DACB608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143000"/>
            <a:ext cx="52197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71600"/>
            <a:ext cx="466725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6215"/>
          </a:bodyPr>
          <a:lstStyle xmlns:a="http://schemas.openxmlformats.org/drawingml/2006/main"/>
          <a:p xmlns:a="http://schemas.openxmlformats.org/drawingml/2006/main">
            <a:pPr algn="l">
              <a:spcAft>
                <a:spcPts val="500"/>
              </a:spcAft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Balanced capacity is the only clear capacity result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Both +4/+3: −1.91 s vs reference (95% CI −3.37 to −0.44). Each single-stage interval crosses zero at n=10.</a:t>
            </a:r>
          </a:p>
        </p:txBody>
      </p:sp>
      <p:sp>
        <p:nvSpPr>
          <p:cNvPr id="5" name="callout-2-bg">
            <a:extLst xmlns:a="http://schemas.openxmlformats.org/drawingml/2006/main">
              <a:ext uri="{FF2B5EF4-FFF2-40B4-BE49-F238E27FC236}">
                <a16:creationId xmlns:a16="http://schemas.microsoft.com/office/drawing/2014/main" id="{5765B154-B79E-4702-A998-27A11442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90825"/>
            <a:ext cx="52197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19425"/>
            <a:ext cx="466725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500"/>
              </a:spcAft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+20% demand: 17.06 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primary P95 rises by 13.54 s (95% CI +7.21 to +19.86) as both stages approach capacity.</a:t>
            </a:r>
          </a:p>
        </p:txBody>
      </p:sp>
      <p:sp>
        <p:nvSpPr>
          <p:cNvPr id="7" name="callout-3-bg">
            <a:extLst xmlns:a="http://schemas.openxmlformats.org/drawingml/2006/main">
              <a:ext uri="{FF2B5EF4-FFF2-40B4-BE49-F238E27FC236}">
                <a16:creationId xmlns:a16="http://schemas.microsoft.com/office/drawing/2014/main" id="{121BC9E9-AFD6-4420-9AA0-3230B94C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38650"/>
            <a:ext cx="52197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AF5FB"/>
          </a:solidFill>
        </p:spPr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67250"/>
            <a:ext cx="466725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500"/>
              </a:spcAft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Immigration context: 164.87 s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24 s service anchor overwhelms small staffing effects. Input evidence—not animation polish—sets the decision boundary.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00775"/>
            <a:ext cx="99536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t>Pilot only · n=10/scenario · pooled FCFS · fixed service times · CRN not verified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400050" y="1381125"/>
          <a:ext xmlns:a="http://schemas.openxmlformats.org/drawingml/2006/main" cx="5762625" cy="4476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e1e0afdbb4475f"/>
          </a:graphicData>
        </a:graphic>
      </p:graphicFrame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81BD1AE-7A11-4633-9882-26A54E61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0D39F14-0FCC-4D48-84A9-503858E9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Pilot balanced capacity—but buy evidence before buying certainty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7F8701F3-1B1E-49E7-8742-4A2E4C40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8651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next milestone is a validated site pilot, not a staffing forecast.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F734D25-6349-400F-AF66-BD1D9FB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368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Instrument arrivals by time of day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6E6D46D7-9507-4899-9A12-17E0E292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0151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BEFA16B-F7C2-4B24-A924-9B27DF4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tail metric can hide the operational consequence.
</a:t>
            </a:r>
            <a:r>
              <a:rPr sz="150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Risk boundary: 2% × 7,200 s
</a:t>
            </a:r>
            <a:r>
              <a:rPr sz="23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Queue-wait P95: 30.4 s
Full-drain clear: 7,214 s ≈ 2.0 h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This is a deliberately pessimistic external boundary—not an ICA forecast. It shows why exception workload and full-drain clearance must be measured.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9655FE59-28B3-4208-9D38-8CA87FE9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967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Fit service + exception distributions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C826CCF-C388-4016-A482-29D3EE88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247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D0C114C5-CD12-458B-A70E-03F6AAD9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1761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Observe queues, rosters and resources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7BA09227-E603-41B2-A52E-4BA0F973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395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C79C4205-427A-49A2-BB34-A8B17223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Verify CRN; size confirmatory N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259AF994-9B8C-40D7-A87E-8E5704D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491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7312FCBA-29F0-4015-BEE9-35804F58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8658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Add cost and licence constraints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96FBE91E-D88B-4CA9-A68E-7D71952C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71541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987544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2026-07-28T01:56:03.9480000Z</dcterms:created>
  <dcterms:modified xsi:type="dcterms:W3CDTF">2026-07-28T01:56:03.9480000Z</dcterms:modified>
</coreProperties>
</file>