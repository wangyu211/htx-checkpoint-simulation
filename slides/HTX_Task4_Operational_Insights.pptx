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5c6282ae82544ff" /><Relationship Type="http://schemas.openxmlformats.org/officeDocument/2006/relationships/extended-properties" Target="/docProps/app.xml" Id="Rf39cef4f445042c5" /><Relationship Type="http://schemas.openxmlformats.org/officeDocument/2006/relationships/officeDocument" Target="/ppt/presentation.xml" Id="R01507d790fdc4562" /></Relationships>
</file>

<file path=ppt/presentation.xml><?xml version="1.0" encoding="utf-8"?>
<p:presentation xmlns:p="http://schemas.openxmlformats.org/presentationml/2006/main">
  <p:sldMasterIdLst>
    <p:sldMasterId xmlns:r="http://schemas.openxmlformats.org/officeDocument/2006/relationships" id="2147483648" r:id="R54fcadbf3e224672"/>
  </p:sldMasterIdLst>
  <p:notesMasterIdLst>
    <p:notesMasterId xmlns:r="http://schemas.openxmlformats.org/officeDocument/2006/relationships" r:id="Re818ad3efe5c4793"/>
  </p:notesMasterIdLst>
  <p:sldIdLst>
    <p:sldId xmlns:r="http://schemas.openxmlformats.org/officeDocument/2006/relationships" id="256" r:id="R326daa6b6b3142bf"/>
    <p:sldId xmlns:r="http://schemas.openxmlformats.org/officeDocument/2006/relationships" id="257" r:id="Rf2e1ebd663734dd2"/>
    <p:sldId xmlns:r="http://schemas.openxmlformats.org/officeDocument/2006/relationships" id="258" r:id="R654451b6b25e4014"/>
    <p:sldId xmlns:r="http://schemas.openxmlformats.org/officeDocument/2006/relationships" id="259" r:id="R8ad641f990aa4026"/>
    <p:sldId xmlns:r="http://schemas.openxmlformats.org/officeDocument/2006/relationships" id="260" r:id="R30eca37d88f541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78280ba1b9e4872" /><Relationship Type="http://schemas.openxmlformats.org/officeDocument/2006/relationships/slideMaster" Target="/ppt/slideMasters/slideMaster1.xml" Id="R54fcadbf3e224672" /><Relationship Type="http://schemas.openxmlformats.org/officeDocument/2006/relationships/notesMaster" Target="/ppt/notesMasters/notesMaster1.xml" Id="Re818ad3efe5c4793" /><Relationship Type="http://schemas.openxmlformats.org/officeDocument/2006/relationships/presProps" Target="/ppt/presProps.xml" Id="R60b5bd376bf749d2" /><Relationship Type="http://schemas.openxmlformats.org/officeDocument/2006/relationships/tableStyles" Target="/ppt/tableStyles.xml" Id="R8c7f50ccf0c0443f" /><Relationship Type="http://schemas.openxmlformats.org/officeDocument/2006/relationships/slide" Target="/ppt/slides/slide1.xml" Id="R326daa6b6b3142bf" /><Relationship Type="http://schemas.openxmlformats.org/officeDocument/2006/relationships/slide" Target="/ppt/slides/slide2.xml" Id="Rf2e1ebd663734dd2" /><Relationship Type="http://schemas.openxmlformats.org/officeDocument/2006/relationships/slide" Target="/ppt/slides/slide3.xml" Id="R654451b6b25e4014" /><Relationship Type="http://schemas.openxmlformats.org/officeDocument/2006/relationships/slide" Target="/ppt/slides/slide4.xml" Id="R8ad641f990aa4026" /><Relationship Type="http://schemas.openxmlformats.org/officeDocument/2006/relationships/slide" Target="/ppt/slides/slide5.xml" Id="R30eca37d88f541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f31ef85f79c4f3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b0fc53de0a94344" /><Relationship Type="http://schemas.openxmlformats.org/officeDocument/2006/relationships/notesMaster" Target="/ppt/notesMasters/notesMaster1.xml" Id="R7d97a7276db840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ea73d8999add4e85" /><Relationship Type="http://schemas.openxmlformats.org/officeDocument/2006/relationships/notesMaster" Target="/ppt/notesMasters/notesMaster1.xml" Id="R88ddda4bb3c9468e"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88d4c29ab74932" /><Relationship Type="http://schemas.openxmlformats.org/officeDocument/2006/relationships/notesMaster" Target="/ppt/notesMasters/notesMaster1.xml" Id="R83d159cbc7374d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fe89eec86b034199" /><Relationship Type="http://schemas.openxmlformats.org/officeDocument/2006/relationships/notesMaster" Target="/ppt/notesMasters/notesMaster1.xml" Id="R3e612076ba4449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3b146dd5e4c463e" /><Relationship Type="http://schemas.openxmlformats.org/officeDocument/2006/relationships/notesMaster" Target="/ppt/notesMasters/notesMaster1.xml" Id="R86eb73ca1df2435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operational question is larger than the local evidence. We have one 24.9-second corridor clip, so the responsible output is an auditable what-if model—not a calibrated checkpoint forecast. Human adjudication owns the accepted directional counts, the simulation makes every capacity and service assumption explicit, and a predeclared 600-run study quantifies the capacity mechanism under those assumptions. The purpose of this deck is to identify a mechanism worth field-testing and the evidence still required before any staffing or deployment decision.</a:t>
            </a:r>
          </a:p>
          <a:p xmlns:a="http://schemas.openxmlformats.org/drawingml/2006/main">
            <a:r>
              <a:t/>
            </a:r>
          </a:p>
          <a:p xmlns:a="http://schemas.openxmlformats.org/drawingml/2006/main">
            <a:r>
              <a:t>[Sources]</a:t>
            </a:r>
          </a:p>
          <a:p xmlns:a="http://schemas.openxmlformats.org/drawingml/2006/main">
            <a:r>
              <a:t>- HTX Data Scientist Technical Test.docx (assessment brief, local source)</a:t>
            </a:r>
          </a:p>
          <a:p xmlns:a="http://schemas.openxmlformats.org/drawingml/2006/main">
            <a:r>
              <a:t>- data/derived/task1_final_aggregate.csv (accepted aggregate and exact clip duration, local source)</a:t>
            </a:r>
          </a:p>
          <a:p xmlns:a="http://schemas.openxmlformats.org/drawingml/2006/main">
            <a:r>
              <a:t>- docs/task3_confirmatory_design.md (frozen design and claim boundary, local source)</a:t>
            </a:r>
          </a:p>
          <a:p xmlns:a="http://schemas.openxmlformats.org/drawingml/2006/main">
            <a:r>
              <a:t>- results/analysis/confirmatory_capacity/analysis_manifest.json (executed study result, local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control is ownership of the measurement. The accepted aggregate is 12 left-to-right and 34 right-to-left; only the 34 right-to-left crossings feed the arrival anchor. The exact 0.945-to-1.906 per-second interval represents Poisson count sampling conditional on that accepted count; it does not represent human disagreement or time-of-day demand. The second control is a deliberately minimal two-stage pooled queue. The third is a frozen confirmatory contract: 12 cells, 50 replications each and 150 common-random-number groups, with pairing authorized only after traveller-level alignment passes.</a:t>
            </a:r>
          </a:p>
          <a:p xmlns:a="http://schemas.openxmlformats.org/drawingml/2006/main">
            <a:r>
              <a:t/>
            </a:r>
          </a:p>
          <a:p xmlns:a="http://schemas.openxmlformats.org/drawingml/2006/main">
            <a:r>
              <a:t>[Sources]</a:t>
            </a:r>
          </a:p>
          <a:p xmlns:a="http://schemas.openxmlformats.org/drawingml/2006/main">
            <a:r>
              <a:t>- data/derived/task1_final_aggregate.csv (accepted aggregate and duration, local source)</a:t>
            </a:r>
          </a:p>
          <a:p xmlns:a="http://schemas.openxmlformats.org/drawingml/2006/main">
            <a:r>
              <a:t>- docs/task2_system_design.md (conceptual model and assumptions, local source)</a:t>
            </a:r>
          </a:p>
          <a:p xmlns:a="http://schemas.openxmlformats.org/drawingml/2006/main">
            <a:r>
              <a:t>- docs/task3_confirmatory_design.md (input interval, precision target and primary contrast, local source)</a:t>
            </a:r>
          </a:p>
          <a:p xmlns:a="http://schemas.openxmlformats.org/drawingml/2006/main">
            <a:r>
              <a:t>- config/confirmatory_seed_manifest.csv (frozen random-stream groups, local source)</a:t>
            </a:r>
          </a:p>
          <a:p xmlns:a="http://schemas.openxmlformats.org/drawingml/2006/main">
            <a:r>
              <a:t>- results/analysis/confirmatory_capacity/crn_alignment.json (executed alignment gate, local source)</a:t>
            </a:r>
          </a:p>
          <a:p xmlns:a="http://schemas.openxmlformats.org/drawingml/2006/main">
            <a:r>
              <a:t>- https://informs-sim.org/wsc20papers/134.pdf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confirmatory status comes from the contract, not the label. Before seeing these outcomes, the study fixed one primary comparison, a one-second half-width target, 50 replications per cell and all random streams. The study completed all 600 planned runs across 12 cells, producing 253,756 traveller rows. CRN validation then matched 150 scenario groups, identical traveller sets and more than 1.14 million branch-invariant draw values. Only after that PASS was the paired interval authorised. The result is still conditional on the registered model; it is not observed checkpoint performance.</a:t>
            </a:r>
          </a:p>
          <a:p xmlns:a="http://schemas.openxmlformats.org/drawingml/2006/main">
            <a:r>
              <a:t/>
            </a:r>
          </a:p>
          <a:p xmlns:a="http://schemas.openxmlformats.org/drawingml/2006/main">
            <a:r>
              <a:t>[Sources]</a:t>
            </a:r>
          </a:p>
          <a:p xmlns:a="http://schemas.openxmlformats.org/drawingml/2006/main">
            <a:r>
              <a:t>- docs/task3_confirmatory_design.md (predeclared design and precision target, local source)</a:t>
            </a:r>
          </a:p>
          <a:p xmlns:a="http://schemas.openxmlformats.org/drawingml/2006/main">
            <a:r>
              <a:t>- results/analysis/confirmatory_capacity/validation.json (600-run coverage gate, local source)</a:t>
            </a:r>
          </a:p>
          <a:p xmlns:a="http://schemas.openxmlformats.org/drawingml/2006/main">
            <a:r>
              <a:t>- results/analysis/confirmatory_capacity/crn_alignment.json (traveller-level CRN gate, local source)</a:t>
            </a:r>
          </a:p>
          <a:p xmlns:a="http://schemas.openxmlformats.org/drawingml/2006/main">
            <a:r>
              <a:t>- results/analysis/confirmatory_capacity/primary_result.json (achieved precision, local source)</a:t>
            </a:r>
          </a:p>
          <a:p xmlns:a="http://schemas.openxmlformats.org/drawingml/2006/main">
            <a:r>
              <a:t>- https://www.gao.gov/assets/a257263.html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design already spans light through stressed conditions. Reference nominal maximum offered load is 0.585 at low, 0.845 at base and 1.180 at high. Reference versus joint +4/+3 total queue-wait P95 is 0.067 versus 0.000 seconds at low, 3.929 versus 1.250 at base, and 51.671 versus 18.513 at high. The high-rate reference-minus-joint improvement is 33.158 seconds with a paired 95% interval from 31.410 to 34.906. Single-stage relief moves the serial bottleneck: Security +4 leaves Immigration P95 at 35.902 seconds, while Immigration +3 leaves Security P95 at 44.107. The 15, 30 and 60 second exceedance diagnostics are post-hoc model-scale supporting evidence, not ICA service standards or new confirmatory endpoints.</a:t>
            </a:r>
          </a:p>
          <a:p xmlns:a="http://schemas.openxmlformats.org/drawingml/2006/main">
            <a:r>
              <a:t/>
            </a:r>
          </a:p>
          <a:p xmlns:a="http://schemas.openxmlformats.org/drawingml/2006/main">
            <a:r>
              <a:t>[Sources]</a:t>
            </a:r>
          </a:p>
          <a:p xmlns:a="http://schemas.openxmlformats.org/drawingml/2006/main">
            <a:r>
              <a:t>- results/analysis/confirmatory_capacity/scenario_estimates.csv (registered low/base/high P95 estimates, local source)</a:t>
            </a:r>
          </a:p>
          <a:p xmlns:a="http://schemas.openxmlformats.org/drawingml/2006/main">
            <a:r>
              <a:t>- results/analysis/confirmatory_capacity/within_rate_pairwise_contrasts.csv (paired high-rate contrast, local source)</a:t>
            </a:r>
          </a:p>
          <a:p xmlns:a="http://schemas.openxmlformats.org/drawingml/2006/main">
            <a:r>
              <a:t>- results/analysis/confirmatory_capacity/regime_estimates.csv (offered load and arrival-window utilization, local source)</a:t>
            </a:r>
          </a:p>
          <a:p xmlns:a="http://schemas.openxmlformats.org/drawingml/2006/main">
            <a:r>
              <a:t>- results/analysis/confirmatory_capacity/regime_reference_joint_contrasts.csv (post-hoc 15/30/60-second diagnostics, local source)</a:t>
            </a:r>
          </a:p>
          <a:p xmlns:a="http://schemas.openxmlformats.org/drawingml/2006/main">
            <a:r>
              <a:t>- results/analysis/confirmatory_capacity/regime_diagnostics_manifest.json (hash-linked supporting-analysis boundary, local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recommendation is conditional but actionable. Carry the joint +4/+3 mechanism into one-site field calibration now. At the frozen base rate it reduces total queue-wait P95 by 2.679 seconds; at the stressed high endpoint it reduces P95 by 33.158 seconds, with paired intervals excluding zero. Trigger a costed controlled pilot only if observed time-of-day arrivals and stage service distributions reproduce material peak queues. The numbers +4/+3 are model levers, not a roster or procurement instruction. Costs, layout constraints, downtime, local service distributions and production computer-vision licensing remain open gates.</a:t>
            </a:r>
          </a:p>
          <a:p xmlns:a="http://schemas.openxmlformats.org/drawingml/2006/main">
            <a:r>
              <a:t/>
            </a:r>
          </a:p>
          <a:p xmlns:a="http://schemas.openxmlformats.org/drawingml/2006/main">
            <a:r>
              <a:t>[Sources]</a:t>
            </a:r>
          </a:p>
          <a:p xmlns:a="http://schemas.openxmlformats.org/drawingml/2006/main">
            <a:r>
              <a:t>- results/analysis/confirmatory_capacity/primary_result.json (base-rate paired primary result, local source)</a:t>
            </a:r>
          </a:p>
          <a:p xmlns:a="http://schemas.openxmlformats.org/drawingml/2006/main">
            <a:r>
              <a:t>- results/analysis/confirmatory_capacity/scenario_estimates.csv (low/base/high results, local source)</a:t>
            </a:r>
          </a:p>
          <a:p xmlns:a="http://schemas.openxmlformats.org/drawingml/2006/main">
            <a:r>
              <a:t>- results/analysis/confirmatory_capacity/regime_reference_joint_contrasts.csv (stressed-regime post-hoc diagnostics, local source)</a:t>
            </a:r>
          </a:p>
          <a:p xmlns:a="http://schemas.openxmlformats.org/drawingml/2006/main">
            <a:r>
              <a:t>- docs/task1_measurement.md (signed-event-ledger limitation, local source)</a:t>
            </a:r>
          </a:p>
          <a:p xmlns:a="http://schemas.openxmlformats.org/drawingml/2006/main">
            <a:r>
              <a:t>- docs/task2_system_design.md (assumptions and field-calibration requirements, local source)</a:t>
            </a:r>
          </a:p>
          <a:p xmlns:a="http://schemas.openxmlformats.org/drawingml/2006/main">
            <a:r>
              <a:t>- LICENSING.md (production computer-vision licence boundary, local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cdb37b258ff4f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27f0c1c413f4583" /><Relationship Type="http://schemas.openxmlformats.org/officeDocument/2006/relationships/slideLayout" Target="/ppt/slideLayouts/slideLayout1.xml" Id="R08190503d8974ed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190503d8974ed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e5c042ce3a9428f" /><Relationship Type="http://schemas.openxmlformats.org/officeDocument/2006/relationships/notesSlide" Target="/ppt/notesSlides/notesSlide1.xml" Id="Ra2e85a921baa45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ea243330d4d42c8" /><Relationship Type="http://schemas.openxmlformats.org/officeDocument/2006/relationships/notesSlide" Target="/ppt/notesSlides/notesSlide2.xml" Id="Rb0f531f091094a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31997382bd74bf7" /><Relationship Type="http://schemas.openxmlformats.org/officeDocument/2006/relationships/notesSlide" Target="/ppt/notesSlides/notesSlide3.xml" Id="R92b7ccaabc4a47e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6f06c8e3434efa" /><Relationship Type="http://schemas.openxmlformats.org/officeDocument/2006/relationships/chart" Target="/ppt/slides/charts/chart1.xml" Id="R92b88b4ee4cd4299" /><Relationship Type="http://schemas.openxmlformats.org/officeDocument/2006/relationships/notesSlide" Target="/ppt/notesSlides/notesSlide4.xml" Id="R0abb60b5f3f446b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91dd5c4f6d94124" /><Relationship Type="http://schemas.openxmlformats.org/officeDocument/2006/relationships/notesSlide" Target="/ppt/notesSlides/notesSlide5.xml" Id="Rada4fe89a96841c0" /></Relationships>
</file>

<file path=ppt/slides/charts/chart1.xml><?xml version="1.0" encoding="utf-8"?>
<c:chartSpace xmlns:c="http://schemas.openxmlformats.org/drawingml/2006/chart">
  <c:lang val="en-US"/>
  <c:chart>
    <c:plotArea>
      <c:barChart>
        <c:barDir val="col"/>
        <c:grouping val="clustered"/>
        <c:varyColors val="0"/>
        <c:ser>
          <c:idx val="0"/>
          <c:order val="0"/>
          <c:tx>
            <c:v>Reference</c:v>
          </c:tx>
          <c:spPr>
            <a:solidFill xmlns:a="http://schemas.openxmlformats.org/drawingml/2006/main">
              <a:srgbClr val="000000"/>
            </a:solidFill>
          </c:spPr>
          <c:cat>
            <c:strLit>
              <c:ptCount val="3"/>
              <c:pt idx="0">
                <c:v>Low
max rho 0.585</c:v>
              </c:pt>
              <c:pt idx="1">
                <c:v>Base
max rho 0.845</c:v>
              </c:pt>
              <c:pt idx="2">
                <c:v>High
max rho 1.180</c:v>
              </c:pt>
            </c:strLit>
          </c:cat>
          <c:val>
            <c:numLit>
              <c:formatCode>0.00</c:formatCode>
              <c:ptCount val="3"/>
              <c:pt idx="0">
                <c:v>0.06690438318</c:v>
              </c:pt>
              <c:pt idx="1">
                <c:v>3.92879239474</c:v>
              </c:pt>
              <c:pt idx="2">
                <c:v>51.6713585174</c:v>
              </c:pt>
            </c:numLit>
          </c:val>
        </c:ser>
        <c:ser>
          <c:idx val="1"/>
          <c:order val="1"/>
          <c:tx>
            <c:v>Joint +4/+3</c:v>
          </c:tx>
          <c:spPr>
            <a:solidFill xmlns:a="http://schemas.openxmlformats.org/drawingml/2006/main">
              <a:srgbClr val="3D8DFF"/>
            </a:solidFill>
          </c:spPr>
          <c:cat>
            <c:strLit>
              <c:ptCount val="3"/>
              <c:pt idx="0">
                <c:v>Low
max rho 0.585</c:v>
              </c:pt>
              <c:pt idx="1">
                <c:v>Base
max rho 0.845</c:v>
              </c:pt>
              <c:pt idx="2">
                <c:v>High
max rho 1.180</c:v>
              </c:pt>
            </c:strLit>
          </c:cat>
          <c:val>
            <c:numLit>
              <c:formatCode>0.00</c:formatCode>
              <c:ptCount val="3"/>
              <c:pt idx="0">
                <c:v>0</c:v>
              </c:pt>
              <c:pt idx="1">
                <c:v>1.25006024874</c:v>
              </c:pt>
              <c:pt idx="2">
                <c:v>18.5130449023</c:v>
              </c:pt>
            </c:numLit>
          </c:val>
        </c:ser>
        <c:dLbls>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00">
                <a:solidFill>
                  <a:srgbClr val="000000"/>
                </a:solidFill>
                <a:latin typeface="Helvetica Neue"/>
                <a:ea typeface="Helvetica Neue"/>
                <a:cs typeface="Helvetica Neue"/>
              </a:defRPr>
            </a:pPr>
          </a:p>
        </c:txPr>
        <c:crossAx val="48672768"/>
        <c:lblAlgn val="ctr"/>
        <c:lblOffset val="100"/>
        <c:noMultiLvlLbl val="0"/>
      </c:catAx>
      <c:valAx>
        <c:axId val="48672768"/>
        <c:scaling>
          <c:orientation val="minMax"/>
          <c:max val="60"/>
          <c:min val="0"/>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10"/>
      </c:valAx>
      <c:spPr>
        <a:noFill xmlns:a="http://schemas.openxmlformats.org/drawingml/2006/main"/>
        <a:ln xmlns:a="http://schemas.openxmlformats.org/drawingml/2006/main" w="0">
          <a:solidFill>
            <a:srgbClr val="FFFFFF"/>
          </a:solidFill>
          <a:prstDash val="solid"/>
        </a:ln>
      </c:spPr>
    </c:plotArea>
    <c:legend>
      <c:legendPos val="b"/>
      <c:overlay val="0"/>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3-1">
            <a:extLst xmlns:a="http://schemas.openxmlformats.org/drawingml/2006/main">
              <a:ext uri="{FF2B5EF4-FFF2-40B4-BE49-F238E27FC236}">
                <a16:creationId xmlns:a16="http://schemas.microsoft.com/office/drawing/2014/main" id="{9288D322-DDC7-4465-82AC-EDF830779CE5}"/>
              </a:ext>
            </a:extLst>
          </p:cNvPr>
          <p:cNvSpPr>
            <a:spLocks xmlns:a="http://schemas.openxmlformats.org/drawingml/2006/main" noGrp="1"/>
          </p:cNvSpPr>
          <p:nvPr/>
        </p:nvSpPr>
        <p:spPr>
          <a:xfrm xmlns:a="http://schemas.openxmlformats.org/drawingml/2006/main">
            <a:off x="393668" y="1619250"/>
            <a:ext cx="10668000" cy="2571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5400" b="0">
                <a:solidFill>
                  <a:srgbClr val="000000"/>
                </a:solidFill>
                <a:latin typeface="Helvetica Neue"/>
                <a:ea typeface="Helvetica Neue"/>
                <a:cs typeface="Helvetica Neue"/>
              </a:defRPr>
            </a:pPr>
            <a:r>
              <a:rPr sz="5400" b="0">
                <a:solidFill>
                  <a:srgbClr val="000000"/>
                </a:solidFill>
                <a:latin typeface="Helvetica Neue"/>
                <a:ea typeface="Helvetica Neue"/>
                <a:cs typeface="Helvetica Neue"/>
              </a:rPr>
              <a:t>From 24.9 seconds of video to an auditable checkpoint what-if model</a:t>
            </a:r>
          </a:p>
        </p:txBody>
      </p:sp>
      <p:sp>
        <p:nvSpPr>
          <p:cNvPr id="2" name="Subtitle-4-2">
            <a:extLst xmlns:a="http://schemas.openxmlformats.org/drawingml/2006/main">
              <a:ext uri="{FF2B5EF4-FFF2-40B4-BE49-F238E27FC236}">
                <a16:creationId xmlns:a16="http://schemas.microsoft.com/office/drawing/2014/main" id="{339B7715-2F50-423E-A74B-06CA95BAB84F}"/>
              </a:ext>
            </a:extLst>
          </p:cNvPr>
          <p:cNvSpPr>
            <a:spLocks xmlns:a="http://schemas.openxmlformats.org/drawingml/2006/main" noGrp="1"/>
          </p:cNvSpPr>
          <p:nvPr/>
        </p:nvSpPr>
        <p:spPr>
          <a:xfrm xmlns:a="http://schemas.openxmlformats.org/drawingml/2006/main">
            <a:off x="393668" y="4572000"/>
            <a:ext cx="9525000" cy="1285875"/>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2175" b="0">
                <a:solidFill>
                  <a:srgbClr val="000000"/>
                </a:solidFill>
                <a:latin typeface="Helvetica Neue"/>
                <a:ea typeface="Helvetica Neue"/>
                <a:cs typeface="Helvetica Neue"/>
              </a:defRPr>
            </a:pPr>
            <a:r>
              <a:rPr sz="2175" b="0">
                <a:solidFill>
                  <a:srgbClr val="000000"/>
                </a:solidFill>
                <a:latin typeface="Helvetica Neue"/>
                <a:ea typeface="Helvetica Neue"/>
                <a:cs typeface="Helvetica Neue"/>
              </a:rPr>
              <a:t>Peak-period decisions; one short local corridor clip.</a:t>
            </a:r>
          </a:p>
          <a:p xmlns:a="http://schemas.openxmlformats.org/drawingml/2006/main">
            <a:pPr algn="l">
              <a:buNone/>
              <a:defRPr sz="2175" b="0">
                <a:solidFill>
                  <a:srgbClr val="000000"/>
                </a:solidFill>
                <a:latin typeface="Helvetica Neue"/>
                <a:ea typeface="Helvetica Neue"/>
                <a:cs typeface="Helvetica Neue"/>
              </a:defRPr>
            </a:pPr>
            <a:r>
              <a:rPr sz="2175" b="0">
                <a:solidFill>
                  <a:srgbClr val="000000"/>
                </a:solidFill>
                <a:latin typeface="Helvetica Neue"/>
                <a:ea typeface="Helvetica Neue"/>
                <a:cs typeface="Helvetica Neue"/>
              </a:rPr>
              <a:t>Human-adjudicated aggregate · executable DES · predeclared 600-run evidence</a:t>
            </a:r>
          </a:p>
        </p:txBody>
      </p:sp>
      <p:sp>
        <p:nvSpPr>
          <p:cNvPr id="3" name="Subtitle-4-3">
            <a:extLst xmlns:a="http://schemas.openxmlformats.org/drawingml/2006/main">
              <a:ext uri="{FF2B5EF4-FFF2-40B4-BE49-F238E27FC236}">
                <a16:creationId xmlns:a16="http://schemas.microsoft.com/office/drawing/2014/main" id="{259ADD88-C8CE-4179-B463-D903CA998FDC}"/>
              </a:ext>
            </a:extLst>
          </p:cNvPr>
          <p:cNvSpPr>
            <a:spLocks xmlns:a="http://schemas.openxmlformats.org/drawingml/2006/main" noGrp="1"/>
          </p:cNvSpPr>
          <p:nvPr/>
        </p:nvSpPr>
        <p:spPr>
          <a:xfrm xmlns:a="http://schemas.openxmlformats.org/drawingml/2006/main">
            <a:off x="393668" y="381000"/>
            <a:ext cx="8572500" cy="4572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000000"/>
                </a:solidFill>
                <a:latin typeface="Helvetica Neue"/>
                <a:ea typeface="Helvetica Neue"/>
                <a:cs typeface="Helvetica Neue"/>
              </a:defRPr>
            </a:pPr>
            <a:r>
              <a:rPr sz="1875" b="0">
                <a:solidFill>
                  <a:srgbClr val="000000"/>
                </a:solidFill>
                <a:latin typeface="Helvetica Neue"/>
                <a:ea typeface="Helvetica Neue"/>
                <a:cs typeface="Helvetica Neue"/>
              </a:rPr>
              <a:t>WANG YU · HTX DSAI TECHNICAL ASSESSMENT · TASK 4</a:t>
            </a:r>
          </a:p>
        </p:txBody>
      </p:sp>
    </p:spTree>
    <p:extLst>
      <p:ext uri="{BB962C8B-B14F-4D97-AF65-F5344CB8AC3E}">
        <p14:creationId xmlns:p14="http://schemas.microsoft.com/office/powerpoint/2010/main" val="115334464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3" name="Slide-Number-Placeholder-3-2">
            <a:extLst xmlns:a="http://schemas.openxmlformats.org/drawingml/2006/main">
              <a:ext uri="{FF2B5EF4-FFF2-40B4-BE49-F238E27FC236}">
                <a16:creationId xmlns:a16="http://schemas.microsoft.com/office/drawing/2014/main" id="{D38DAD70-2A86-4BD4-978B-BD273F8C6E2F}"/>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a:t>
            </a:r>
          </a:p>
        </p:txBody>
      </p:sp>
      <p:sp>
        <p:nvSpPr>
          <p:cNvPr id="2" name="Title-10-3">
            <a:extLst xmlns:a="http://schemas.openxmlformats.org/drawingml/2006/main">
              <a:ext uri="{FF2B5EF4-FFF2-40B4-BE49-F238E27FC236}">
                <a16:creationId xmlns:a16="http://schemas.microsoft.com/office/drawing/2014/main" id="{129D017A-65A3-4E55-9F0E-DC4DBDDAD9A6}"/>
              </a:ext>
            </a:extLst>
          </p:cNvPr>
          <p:cNvSpPr>
            <a:spLocks xmlns:a="http://schemas.openxmlformats.org/drawingml/2006/main" noGrp="1"/>
          </p:cNvSpPr>
          <p:nvPr/>
        </p:nvSpPr>
        <p:spPr>
          <a:xfrm xmlns:a="http://schemas.openxmlformats.org/drawingml/2006/main">
            <a:off x="393668" y="323850"/>
            <a:ext cx="11404568" cy="762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Measurement, model and inference are kept separate</a:t>
            </a:r>
          </a:p>
        </p:txBody>
      </p:sp>
      <p:cxnSp>
        <p:nvCxnSpPr>
          <p:cNvPr id="30" name="Google-Shape-2259-p159-4"/>
          <p:cNvCxnSpPr/>
          <p:nvPr/>
        </p:nvCxnSpPr>
        <p:spPr>
          <a:xfrm xmlns:a="http://schemas.openxmlformats.org/drawingml/2006/main">
            <a:off x="337757" y="2857500"/>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487547AA-ECC4-4531-BD08-1C372AD76A8D}"/>
              </a:ext>
            </a:extLst>
          </p:cNvPr>
          <p:cNvSpPr>
            <a:spLocks xmlns:a="http://schemas.openxmlformats.org/drawingml/2006/main" noGrp="1"/>
          </p:cNvSpPr>
          <p:nvPr/>
        </p:nvSpPr>
        <p:spPr>
          <a:xfrm xmlns:a="http://schemas.openxmlformats.org/drawingml/2006/main">
            <a:off x="337757" y="2803970"/>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A71D475A-EDF8-4616-87BD-C163D054565C}"/>
              </a:ext>
            </a:extLst>
          </p:cNvPr>
          <p:cNvSpPr>
            <a:spLocks xmlns:a="http://schemas.openxmlformats.org/drawingml/2006/main" noGrp="1"/>
          </p:cNvSpPr>
          <p:nvPr/>
        </p:nvSpPr>
        <p:spPr>
          <a:xfrm xmlns:a="http://schemas.openxmlformats.org/drawingml/2006/main">
            <a:off x="4251770" y="2803970"/>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948C384B-9230-4861-A686-4C8CA9CCD478}"/>
              </a:ext>
            </a:extLst>
          </p:cNvPr>
          <p:cNvSpPr>
            <a:spLocks xmlns:a="http://schemas.openxmlformats.org/drawingml/2006/main" noGrp="1"/>
          </p:cNvSpPr>
          <p:nvPr/>
        </p:nvSpPr>
        <p:spPr>
          <a:xfrm xmlns:a="http://schemas.openxmlformats.org/drawingml/2006/main">
            <a:off x="8176070" y="2803970"/>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A90C8628-8309-4514-ABFD-80131C52A1EB}"/>
              </a:ext>
            </a:extLst>
          </p:cNvPr>
          <p:cNvSpPr>
            <a:spLocks xmlns:a="http://schemas.openxmlformats.org/drawingml/2006/main" noGrp="1"/>
          </p:cNvSpPr>
          <p:nvPr/>
        </p:nvSpPr>
        <p:spPr>
          <a:xfrm xmlns:a="http://schemas.openxmlformats.org/drawingml/2006/main">
            <a:off x="393668"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MEASURE</a:t>
            </a:r>
          </a:p>
        </p:txBody>
      </p:sp>
      <p:sp>
        <p:nvSpPr>
          <p:cNvPr id="8" name="Content-Placeholder-15-9">
            <a:extLst xmlns:a="http://schemas.openxmlformats.org/drawingml/2006/main">
              <a:ext uri="{FF2B5EF4-FFF2-40B4-BE49-F238E27FC236}">
                <a16:creationId xmlns:a16="http://schemas.microsoft.com/office/drawing/2014/main" id="{8AC50856-0B9B-495F-B745-200E4DC80846}"/>
              </a:ext>
            </a:extLst>
          </p:cNvPr>
          <p:cNvSpPr>
            <a:spLocks xmlns:a="http://schemas.openxmlformats.org/drawingml/2006/main" noGrp="1"/>
          </p:cNvSpPr>
          <p:nvPr/>
        </p:nvSpPr>
        <p:spPr>
          <a:xfrm xmlns:a="http://schemas.openxmlformats.org/drawingml/2006/main">
            <a:off x="4314825"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MODEL</a:t>
            </a:r>
          </a:p>
        </p:txBody>
      </p:sp>
      <p:sp>
        <p:nvSpPr>
          <p:cNvPr id="9" name="Content-Placeholder-15-10">
            <a:extLst xmlns:a="http://schemas.openxmlformats.org/drawingml/2006/main">
              <a:ext uri="{FF2B5EF4-FFF2-40B4-BE49-F238E27FC236}">
                <a16:creationId xmlns:a16="http://schemas.microsoft.com/office/drawing/2014/main" id="{B60960C8-3730-4C31-9AE0-C17FFA195361}"/>
              </a:ext>
            </a:extLst>
          </p:cNvPr>
          <p:cNvSpPr>
            <a:spLocks xmlns:a="http://schemas.openxmlformats.org/drawingml/2006/main" noGrp="1"/>
          </p:cNvSpPr>
          <p:nvPr/>
        </p:nvSpPr>
        <p:spPr>
          <a:xfrm xmlns:a="http://schemas.openxmlformats.org/drawingml/2006/main">
            <a:off x="8229600" y="2324100"/>
            <a:ext cx="1714500" cy="285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INFER</a:t>
            </a:r>
          </a:p>
        </p:txBody>
      </p:sp>
      <p:sp>
        <p:nvSpPr>
          <p:cNvPr id="10" name="Text-Placeholder-16-11">
            <a:extLst xmlns:a="http://schemas.openxmlformats.org/drawingml/2006/main">
              <a:ext uri="{FF2B5EF4-FFF2-40B4-BE49-F238E27FC236}">
                <a16:creationId xmlns:a16="http://schemas.microsoft.com/office/drawing/2014/main" id="{2353D8EF-2AB9-4BC4-83C6-DCEEEB69E9BE}"/>
              </a:ext>
            </a:extLst>
          </p:cNvPr>
          <p:cNvSpPr>
            <a:spLocks xmlns:a="http://schemas.openxmlformats.org/drawingml/2006/main" noGrp="1"/>
          </p:cNvSpPr>
          <p:nvPr/>
        </p:nvSpPr>
        <p:spPr>
          <a:xfrm xmlns:a="http://schemas.openxmlformats.org/drawingml/2006/main">
            <a:off x="4314825"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buNone/>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A minimal DES exposes the mechanism</a:t>
            </a:r>
          </a:p>
          <a:p xmlns:a="http://schemas.openxmlformats.org/drawingml/2006/main">
            <a:pPr algn="l">
              <a:spcBef>
                <a:spcPts val="0"/>
              </a:spcBef>
              <a:spcAft>
                <a:spcPts val="8"/>
              </a:spcAft>
              <a:buNone/>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Poisson arrivals → pooled FCFS Security → Immigration → full drain; empty and idle start.</a:t>
            </a:r>
          </a:p>
          <a:p xmlns:a="http://schemas.openxmlformats.org/drawingml/2006/main">
            <a:pPr algn="l">
              <a:spcBef>
                <a:spcPts val="0"/>
              </a:spcBef>
              <a:spcAft>
                <a:spcPts val="0"/>
              </a:spcAft>
              <a:buNone/>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36 / 21 resources; fixed 21.82 / 13.0 s service. Four capacities × three rates; no site calibration.</a:t>
            </a:r>
          </a:p>
        </p:txBody>
      </p:sp>
      <p:sp>
        <p:nvSpPr>
          <p:cNvPr id="11" name="Text-Placeholder-16-12">
            <a:extLst xmlns:a="http://schemas.openxmlformats.org/drawingml/2006/main">
              <a:ext uri="{FF2B5EF4-FFF2-40B4-BE49-F238E27FC236}">
                <a16:creationId xmlns:a16="http://schemas.microsoft.com/office/drawing/2014/main" id="{9AA59D89-3FCE-416F-9E9C-2F45161A0EC6}"/>
              </a:ext>
            </a:extLst>
          </p:cNvPr>
          <p:cNvSpPr>
            <a:spLocks xmlns:a="http://schemas.openxmlformats.org/drawingml/2006/main" noGrp="1"/>
          </p:cNvSpPr>
          <p:nvPr/>
        </p:nvSpPr>
        <p:spPr>
          <a:xfrm xmlns:a="http://schemas.openxmlformats.org/drawingml/2006/main">
            <a:off x="393668"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buNone/>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The count is owned; its error is explicit</a:t>
            </a:r>
          </a:p>
          <a:p xmlns:a="http://schemas.openxmlformats.org/drawingml/2006/main">
            <a:pPr algn="l">
              <a:spcBef>
                <a:spcPts val="0"/>
              </a:spcBef>
              <a:spcAft>
                <a:spcPts val="8"/>
              </a:spcAft>
              <a:buNone/>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Accepted: 12 L→R / 34 R→L. Arrival anchor: 34 ÷ 24.9228 s = 1.364/s.</a:t>
            </a:r>
          </a:p>
          <a:p xmlns:a="http://schemas.openxmlformats.org/drawingml/2006/main">
            <a:pPr algn="l">
              <a:spcBef>
                <a:spcPts val="0"/>
              </a:spcBef>
              <a:spcAft>
                <a:spcPts val="0"/>
              </a:spcAft>
              <a:buNone/>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Exact conditional HPP 95% interval: 0.945–1.906/s. It excludes adjudication and time-of-day error.</a:t>
            </a:r>
          </a:p>
        </p:txBody>
      </p:sp>
      <p:sp>
        <p:nvSpPr>
          <p:cNvPr id="12" name="Text-Placeholder-16-13">
            <a:extLst xmlns:a="http://schemas.openxmlformats.org/drawingml/2006/main">
              <a:ext uri="{FF2B5EF4-FFF2-40B4-BE49-F238E27FC236}">
                <a16:creationId xmlns:a16="http://schemas.microsoft.com/office/drawing/2014/main" id="{5D61E3C9-CDBA-4B52-866E-004F630827F8}"/>
              </a:ext>
            </a:extLst>
          </p:cNvPr>
          <p:cNvSpPr>
            <a:spLocks xmlns:a="http://schemas.openxmlformats.org/drawingml/2006/main" noGrp="1"/>
          </p:cNvSpPr>
          <p:nvPr/>
        </p:nvSpPr>
        <p:spPr>
          <a:xfrm xmlns:a="http://schemas.openxmlformats.org/drawingml/2006/main">
            <a:off x="8229600" y="3238500"/>
            <a:ext cx="3524250" cy="26670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8"/>
              </a:spcAft>
              <a:buNone/>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One question is confirmatory</a:t>
            </a:r>
          </a:p>
          <a:p xmlns:a="http://schemas.openxmlformats.org/drawingml/2006/main">
            <a:pPr algn="l">
              <a:spcBef>
                <a:spcPts val="0"/>
              </a:spcBef>
              <a:spcAft>
                <a:spcPts val="8"/>
              </a:spcAft>
              <a:buNone/>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12 cells × 50 = 600 serial runs. Frozen 150 CRN groups align travellers and branch-invariant draws.</a:t>
            </a:r>
          </a:p>
          <a:p xmlns:a="http://schemas.openxmlformats.org/drawingml/2006/main">
            <a:pPr algn="l">
              <a:spcBef>
                <a:spcPts val="0"/>
              </a:spcBef>
              <a:spcAft>
                <a:spcPts val="0"/>
              </a:spcAft>
              <a:buNone/>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Paired only after CRN PASS. Primary: base-rate joint +4/+3 versus reference.</a:t>
            </a:r>
          </a:p>
        </p:txBody>
      </p:sp>
    </p:spTree>
    <p:extLst>
      <p:ext uri="{BB962C8B-B14F-4D97-AF65-F5344CB8AC3E}">
        <p14:creationId xmlns:p14="http://schemas.microsoft.com/office/powerpoint/2010/main" val="46239745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3" name="Rounded-Rectangle-5-1">
            <a:extLst xmlns:a="http://schemas.openxmlformats.org/drawingml/2006/main">
              <a:ext uri="{FF2B5EF4-FFF2-40B4-BE49-F238E27FC236}">
                <a16:creationId xmlns:a16="http://schemas.microsoft.com/office/drawing/2014/main" id="{ABD6C80F-C38F-43FF-96F7-09D97564428F}"/>
              </a:ext>
            </a:extLst>
          </p:cNvPr>
          <p:cNvSpPr>
            <a:spLocks xmlns:a="http://schemas.openxmlformats.org/drawingml/2006/main" noGrp="1"/>
          </p:cNvSpPr>
          <p:nvPr/>
        </p:nvSpPr>
        <p:spPr>
          <a:xfrm xmlns:a="http://schemas.openxmlformats.org/drawingml/2006/main">
            <a:off x="393668"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200A7CB3-7E7B-405A-9694-53EBD5E477D9}"/>
              </a:ext>
            </a:extLst>
          </p:cNvPr>
          <p:cNvSpPr>
            <a:spLocks xmlns:a="http://schemas.openxmlformats.org/drawingml/2006/main" noGrp="1"/>
          </p:cNvSpPr>
          <p:nvPr/>
        </p:nvSpPr>
        <p:spPr>
          <a:xfrm xmlns:a="http://schemas.openxmlformats.org/drawingml/2006/main">
            <a:off x="4311682"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E16EAF83-C4F9-4C2D-8468-8E04D2AA076C}"/>
              </a:ext>
            </a:extLst>
          </p:cNvPr>
          <p:cNvSpPr>
            <a:spLocks xmlns:a="http://schemas.openxmlformats.org/drawingml/2006/main" noGrp="1"/>
          </p:cNvSpPr>
          <p:nvPr/>
        </p:nvSpPr>
        <p:spPr>
          <a:xfrm xmlns:a="http://schemas.openxmlformats.org/drawingml/2006/main">
            <a:off x="8232267" y="3143250"/>
            <a:ext cx="3568732" cy="276225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5EBEC7DA-1448-4CDE-A649-37F5DB8B5B1A}"/>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5" name="Title-2-5">
            <a:extLst xmlns:a="http://schemas.openxmlformats.org/drawingml/2006/main">
              <a:ext uri="{FF2B5EF4-FFF2-40B4-BE49-F238E27FC236}">
                <a16:creationId xmlns:a16="http://schemas.microsoft.com/office/drawing/2014/main" id="{C9A4D58F-1822-47DA-98B7-4FBC77D98298}"/>
              </a:ext>
            </a:extLst>
          </p:cNvPr>
          <p:cNvSpPr>
            <a:spLocks xmlns:a="http://schemas.openxmlformats.org/drawingml/2006/main" noGrp="1"/>
          </p:cNvSpPr>
          <p:nvPr/>
        </p:nvSpPr>
        <p:spPr>
          <a:xfrm xmlns:a="http://schemas.openxmlformats.org/drawingml/2006/main">
            <a:off x="393668" y="323850"/>
            <a:ext cx="11404568" cy="7429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The 600-run claim is predeclared, paired and auditable</a:t>
            </a:r>
          </a:p>
        </p:txBody>
      </p:sp>
      <p:sp>
        <p:nvSpPr>
          <p:cNvPr id="6" name="Content-Placeholder-9-6">
            <a:extLst xmlns:a="http://schemas.openxmlformats.org/drawingml/2006/main">
              <a:ext uri="{FF2B5EF4-FFF2-40B4-BE49-F238E27FC236}">
                <a16:creationId xmlns:a16="http://schemas.microsoft.com/office/drawing/2014/main" id="{1C6B5623-A0A6-49BC-AA8A-957A6E0065C3}"/>
              </a:ext>
            </a:extLst>
          </p:cNvPr>
          <p:cNvSpPr>
            <a:spLocks xmlns:a="http://schemas.openxmlformats.org/drawingml/2006/main" noGrp="1"/>
          </p:cNvSpPr>
          <p:nvPr/>
        </p:nvSpPr>
        <p:spPr>
          <a:xfrm xmlns:a="http://schemas.openxmlformats.org/drawingml/2006/main">
            <a:off x="702374"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12 cells × 50 replications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253,756 traveller rows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strict coverage PASS</a:t>
            </a:r>
          </a:p>
        </p:txBody>
      </p:sp>
      <p:sp>
        <p:nvSpPr>
          <p:cNvPr id="7" name="Content-Placeholder-10-7">
            <a:extLst xmlns:a="http://schemas.openxmlformats.org/drawingml/2006/main">
              <a:ext uri="{FF2B5EF4-FFF2-40B4-BE49-F238E27FC236}">
                <a16:creationId xmlns:a16="http://schemas.microsoft.com/office/drawing/2014/main" id="{935125B4-FFFD-4636-91CE-49671F834417}"/>
              </a:ext>
            </a:extLst>
          </p:cNvPr>
          <p:cNvSpPr>
            <a:spLocks xmlns:a="http://schemas.openxmlformats.org/drawingml/2006/main" noGrp="1"/>
          </p:cNvSpPr>
          <p:nvPr/>
        </p:nvSpPr>
        <p:spPr>
          <a:xfrm xmlns:a="http://schemas.openxmlformats.org/drawingml/2006/main">
            <a:off x="8541830"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Actual 95% half-width</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target ≤ 1.0 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no post-hoc runs</a:t>
            </a:r>
          </a:p>
        </p:txBody>
      </p:sp>
      <p:sp>
        <p:nvSpPr>
          <p:cNvPr id="8" name="Content-Placeholder-11-8">
            <a:extLst xmlns:a="http://schemas.openxmlformats.org/drawingml/2006/main">
              <a:ext uri="{FF2B5EF4-FFF2-40B4-BE49-F238E27FC236}">
                <a16:creationId xmlns:a16="http://schemas.microsoft.com/office/drawing/2014/main" id="{85A00259-C2B9-427C-99EE-5574837B160B}"/>
              </a:ext>
            </a:extLst>
          </p:cNvPr>
          <p:cNvSpPr>
            <a:spLocks xmlns:a="http://schemas.openxmlformats.org/drawingml/2006/main" noGrp="1"/>
          </p:cNvSpPr>
          <p:nvPr/>
        </p:nvSpPr>
        <p:spPr>
          <a:xfrm xmlns:a="http://schemas.openxmlformats.org/drawingml/2006/main">
            <a:off x="4621244" y="4714875"/>
            <a:ext cx="2949607" cy="1047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150 pairing groups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1,141,902 draw checks</a:t>
            </a:r>
          </a:p>
          <a:p xmlns:a="http://schemas.openxmlformats.org/drawingml/2006/main">
            <a:pPr algn="l">
              <a:lnSpc>
                <a:spcPct val="112000"/>
              </a:lnSpc>
              <a:buNone/>
              <a:defRPr sz="1600" b="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paired t authorised</a:t>
            </a:r>
          </a:p>
        </p:txBody>
      </p:sp>
      <p:sp>
        <p:nvSpPr>
          <p:cNvPr id="9" name="Content-Placeholder-9-9">
            <a:extLst xmlns:a="http://schemas.openxmlformats.org/drawingml/2006/main">
              <a:ext uri="{FF2B5EF4-FFF2-40B4-BE49-F238E27FC236}">
                <a16:creationId xmlns:a16="http://schemas.microsoft.com/office/drawing/2014/main" id="{1C1CA881-1E2C-4353-A0D1-3EEACE6E3E2F}"/>
              </a:ext>
            </a:extLst>
          </p:cNvPr>
          <p:cNvSpPr>
            <a:spLocks xmlns:a="http://schemas.openxmlformats.org/drawingml/2006/main" noGrp="1"/>
          </p:cNvSpPr>
          <p:nvPr/>
        </p:nvSpPr>
        <p:spPr>
          <a:xfrm xmlns:a="http://schemas.openxmlformats.org/drawingml/2006/main">
            <a:off x="702374"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4125" b="1">
                <a:solidFill>
                  <a:srgbClr val="000000"/>
                </a:solidFill>
                <a:latin typeface="Helvetica Neue"/>
                <a:ea typeface="Helvetica Neue"/>
                <a:cs typeface="Helvetica Neue"/>
              </a:defRPr>
            </a:pPr>
            <a:r>
              <a:rPr sz="4125" b="1">
                <a:solidFill>
                  <a:srgbClr val="000000"/>
                </a:solidFill>
                <a:latin typeface="Helvetica Neue"/>
                <a:ea typeface="Helvetica Neue"/>
                <a:cs typeface="Helvetica Neue"/>
              </a:rPr>
              <a:t>600 / 600</a:t>
            </a:r>
          </a:p>
        </p:txBody>
      </p:sp>
      <p:sp>
        <p:nvSpPr>
          <p:cNvPr id="10" name="Content-Placeholder-9-10">
            <a:extLst xmlns:a="http://schemas.openxmlformats.org/drawingml/2006/main">
              <a:ext uri="{FF2B5EF4-FFF2-40B4-BE49-F238E27FC236}">
                <a16:creationId xmlns:a16="http://schemas.microsoft.com/office/drawing/2014/main" id="{C96B3E29-F756-45E7-A465-063F96184D56}"/>
              </a:ext>
            </a:extLst>
          </p:cNvPr>
          <p:cNvSpPr>
            <a:spLocks xmlns:a="http://schemas.openxmlformats.org/drawingml/2006/main" noGrp="1"/>
          </p:cNvSpPr>
          <p:nvPr/>
        </p:nvSpPr>
        <p:spPr>
          <a:xfrm xmlns:a="http://schemas.openxmlformats.org/drawingml/2006/main">
            <a:off x="4612958"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3750" b="1">
                <a:solidFill>
                  <a:srgbClr val="000000"/>
                </a:solidFill>
                <a:latin typeface="Helvetica Neue"/>
                <a:ea typeface="Helvetica Neue"/>
                <a:cs typeface="Helvetica Neue"/>
              </a:defRPr>
            </a:pPr>
            <a:r>
              <a:rPr sz="3750" b="1">
                <a:solidFill>
                  <a:srgbClr val="000000"/>
                </a:solidFill>
                <a:latin typeface="Helvetica Neue"/>
                <a:ea typeface="Helvetica Neue"/>
                <a:cs typeface="Helvetica Neue"/>
              </a:rPr>
              <a:t>CRN PASS</a:t>
            </a:r>
          </a:p>
        </p:txBody>
      </p:sp>
      <p:sp>
        <p:nvSpPr>
          <p:cNvPr id="11" name="Content-Placeholder-9-11">
            <a:extLst xmlns:a="http://schemas.openxmlformats.org/drawingml/2006/main">
              <a:ext uri="{FF2B5EF4-FFF2-40B4-BE49-F238E27FC236}">
                <a16:creationId xmlns:a16="http://schemas.microsoft.com/office/drawing/2014/main" id="{C226B1E0-29FF-458E-B5F1-A730B0B73A47}"/>
              </a:ext>
            </a:extLst>
          </p:cNvPr>
          <p:cNvSpPr>
            <a:spLocks xmlns:a="http://schemas.openxmlformats.org/drawingml/2006/main" noGrp="1"/>
          </p:cNvSpPr>
          <p:nvPr/>
        </p:nvSpPr>
        <p:spPr>
          <a:xfrm xmlns:a="http://schemas.openxmlformats.org/drawingml/2006/main">
            <a:off x="8562404" y="3524250"/>
            <a:ext cx="2940082" cy="10477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4125" b="1">
                <a:solidFill>
                  <a:srgbClr val="000000"/>
                </a:solidFill>
                <a:latin typeface="Helvetica Neue"/>
                <a:ea typeface="Helvetica Neue"/>
                <a:cs typeface="Helvetica Neue"/>
              </a:defRPr>
            </a:pPr>
            <a:r>
              <a:rPr sz="4125" b="1">
                <a:solidFill>
                  <a:srgbClr val="000000"/>
                </a:solidFill>
                <a:latin typeface="Helvetica Neue"/>
                <a:ea typeface="Helvetica Neue"/>
                <a:cs typeface="Helvetica Neue"/>
              </a:rPr>
              <a:t>0.382 s</a:t>
            </a:r>
          </a:p>
        </p:txBody>
      </p:sp>
      <p:sp>
        <p:nvSpPr>
          <p:cNvPr id="12" name="Content-Placeholder-15-12">
            <a:extLst xmlns:a="http://schemas.openxmlformats.org/drawingml/2006/main">
              <a:ext uri="{FF2B5EF4-FFF2-40B4-BE49-F238E27FC236}">
                <a16:creationId xmlns:a16="http://schemas.microsoft.com/office/drawing/2014/main" id="{46CB0780-B1AF-4986-A806-811D3AB10704}"/>
              </a:ext>
            </a:extLst>
          </p:cNvPr>
          <p:cNvSpPr>
            <a:spLocks xmlns:a="http://schemas.openxmlformats.org/drawingml/2006/main" noGrp="1"/>
          </p:cNvSpPr>
          <p:nvPr/>
        </p:nvSpPr>
        <p:spPr>
          <a:xfrm xmlns:a="http://schemas.openxmlformats.org/drawingml/2006/main">
            <a:off x="393668" y="1104900"/>
            <a:ext cx="11404568" cy="18097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buNone/>
              <a:defRPr sz="1600">
                <a:solidFill>
                  <a:srgbClr val="000000"/>
                </a:solidFill>
                <a:latin typeface="Helvetica Neue"/>
                <a:ea typeface="Helvetica Neue"/>
                <a:cs typeface="Helvetica Neue"/>
              </a:defRPr>
            </a:pPr>
            <a:r>
              <a:rPr sz="1800" b="1">
                <a:solidFill>
                  <a:srgbClr val="000000"/>
                </a:solidFill>
                <a:latin typeface="Helvetica Neue"/>
                <a:ea typeface="Helvetica Neue"/>
                <a:cs typeface="Helvetica Neue"/>
              </a:rPr>
              <a:t>ONE PRIMARY CONTRAST · FIXED N · NO POST-HOC EXTENSION</a:t>
            </a:r>
          </a:p>
          <a:p xmlns:a="http://schemas.openxmlformats.org/drawingml/2006/main">
            <a:pPr algn="l">
              <a:spcBef>
                <a:spcPts val="0"/>
              </a:spcBef>
              <a:spcAft>
                <a:spcPts val="7"/>
              </a:spcAft>
              <a:buNone/>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Base-rate joint +4/+3 minus reference; low/high rate endpoints are supporting. N=50 per cell was frozen from pilot precision before outcome inspection.</a:t>
            </a:r>
          </a:p>
          <a:p xmlns:a="http://schemas.openxmlformats.org/drawingml/2006/main">
            <a:pPr algn="l">
              <a:spcBef>
                <a:spcPts val="0"/>
              </a:spcBef>
              <a:spcAft>
                <a:spcPts val="5"/>
              </a:spcAft>
              <a:buNone/>
              <a:defRPr sz="1600">
                <a:solidFill>
                  <a:srgbClr val="000000"/>
                </a:solidFill>
                <a:latin typeface="Helvetica Neue"/>
                <a:ea typeface="Helvetica Neue"/>
                <a:cs typeface="Helvetica Neue"/>
              </a:defRPr>
            </a:pPr>
            <a:r>
              <a:rPr sz="1600" b="1">
                <a:solidFill>
                  <a:srgbClr val="000000"/>
                </a:solidFill>
                <a:latin typeface="Helvetica Neue"/>
                <a:ea typeface="Helvetica Neue"/>
                <a:cs typeface="Helvetica Neue"/>
              </a:rPr>
              <a:t>Conditional model: pooled FCFS · fixed service · empty start · full drain · not calibrated HTX performance.</a:t>
            </a:r>
          </a:p>
          <a:p xmlns:a="http://schemas.openxmlformats.org/drawingml/2006/main">
            <a:pPr algn="l">
              <a:spcBef>
                <a:spcPts val="0"/>
              </a:spcBef>
              <a:spcAft>
                <a:spcPts val="0"/>
              </a:spcAft>
              <a:buNone/>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Executed 600/600 runs · 253,756 traveller rows · exact coverage, conservation and CRN validators PASS.</a:t>
            </a:r>
          </a:p>
        </p:txBody>
      </p:sp>
    </p:spTree>
    <p:extLst>
      <p:ext uri="{BB962C8B-B14F-4D97-AF65-F5344CB8AC3E}">
        <p14:creationId xmlns:p14="http://schemas.microsoft.com/office/powerpoint/2010/main" val="68489495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2" name="results-title">
            <a:extLst xmlns:a="http://schemas.openxmlformats.org/drawingml/2006/main">
              <a:ext uri="{FF2B5EF4-FFF2-40B4-BE49-F238E27FC236}">
                <a16:creationId xmlns:a16="http://schemas.microsoft.com/office/drawing/2014/main" id="{5307FA94-A9D9-4290-8525-95CE199D25A6}"/>
              </a:ext>
            </a:extLst>
          </p:cNvPr>
          <p:cNvSpPr>
            <a:spLocks xmlns:a="http://schemas.openxmlformats.org/drawingml/2006/main" noGrp="1"/>
          </p:cNvSpPr>
          <p:nvPr/>
        </p:nvSpPr>
        <p:spPr>
          <a:xfrm xmlns:a="http://schemas.openxmlformats.org/drawingml/2006/main">
            <a:off x="393668" y="323850"/>
            <a:ext cx="11404568" cy="7239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Under stress, joint capacity prevents bottleneck migration</a:t>
            </a:r>
          </a:p>
        </p:txBody>
      </p:sp>
      <p:sp>
        <p:nvSpPr>
          <p:cNvPr id="2" name="chart-label">
            <a:extLst xmlns:a="http://schemas.openxmlformats.org/drawingml/2006/main">
              <a:ext uri="{FF2B5EF4-FFF2-40B4-BE49-F238E27FC236}">
                <a16:creationId xmlns:a16="http://schemas.microsoft.com/office/drawing/2014/main" id="{37E96706-C8D5-4C18-9E58-D0BA6B60FBE3}"/>
              </a:ext>
            </a:extLst>
          </p:cNvPr>
          <p:cNvSpPr>
            <a:spLocks xmlns:a="http://schemas.openxmlformats.org/drawingml/2006/main" noGrp="1"/>
          </p:cNvSpPr>
          <p:nvPr/>
        </p:nvSpPr>
        <p:spPr>
          <a:xfrm xmlns:a="http://schemas.openxmlformats.org/drawingml/2006/main">
            <a:off x="438150" y="1104900"/>
            <a:ext cx="5810250" cy="26670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Reference vs joint total queue-wait P95 (s), n=50/cell</a:t>
            </a:r>
          </a:p>
        </p:txBody>
      </p:sp>
      <p:sp>
        <p:nvSpPr>
          <p:cNvPr id="3" name="callout-1-bg">
            <a:extLst xmlns:a="http://schemas.openxmlformats.org/drawingml/2006/main">
              <a:ext uri="{FF2B5EF4-FFF2-40B4-BE49-F238E27FC236}">
                <a16:creationId xmlns:a16="http://schemas.microsoft.com/office/drawing/2014/main" id="{E283465D-3155-408A-B407-4DACB608C9BA}"/>
              </a:ext>
            </a:extLst>
          </p:cNvPr>
          <p:cNvSpPr>
            <a:spLocks xmlns:a="http://schemas.openxmlformats.org/drawingml/2006/main" noGrp="1"/>
          </p:cNvSpPr>
          <p:nvPr/>
        </p:nvSpPr>
        <p:spPr>
          <a:xfrm xmlns:a="http://schemas.openxmlformats.org/drawingml/2006/main">
            <a:off x="6572250" y="1143000"/>
            <a:ext cx="5219700" cy="1409700"/>
          </a:xfrm>
          <a:prstGeom xmlns:a="http://schemas.openxmlformats.org/drawingml/2006/main" prst="roundRect">
            <a:avLst>
              <a:gd name="adj" fmla="val 5405"/>
            </a:avLst>
          </a:prstGeom>
          <a:solidFill xmlns:a="http://schemas.openxmlformats.org/drawingml/2006/main">
            <a:srgbClr val="F2F2F2"/>
          </a:solidFill>
        </p:spPr>
      </p:sp>
      <p:sp>
        <p:nvSpPr>
          <p:cNvPr id="4" name="callout-1">
            <a:extLst xmlns:a="http://schemas.openxmlformats.org/drawingml/2006/main">
              <a:ext uri="{FF2B5EF4-FFF2-40B4-BE49-F238E27FC236}">
                <a16:creationId xmlns:a16="http://schemas.microsoft.com/office/drawing/2014/main" id="{00666F93-A6DE-48B7-9502-9EA92D21A081}"/>
              </a:ext>
            </a:extLst>
          </p:cNvPr>
          <p:cNvSpPr>
            <a:spLocks xmlns:a="http://schemas.openxmlformats.org/drawingml/2006/main" noGrp="1"/>
          </p:cNvSpPr>
          <p:nvPr/>
        </p:nvSpPr>
        <p:spPr>
          <a:xfrm xmlns:a="http://schemas.openxmlformats.org/drawingml/2006/main">
            <a:off x="6800850" y="1295400"/>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6"/>
              </a:spcAft>
              <a:buNone/>
              <a:defRPr sz="1600">
                <a:solidFill>
                  <a:srgbClr val="000000"/>
                </a:solidFill>
                <a:latin typeface="Helvetica Neue"/>
                <a:ea typeface="Helvetica Neue"/>
                <a:cs typeface="Helvetica Neue"/>
              </a:defRPr>
            </a:pPr>
            <a:r>
              <a:rPr sz="2025" b="1">
                <a:solidFill>
                  <a:srgbClr val="000000"/>
                </a:solidFill>
                <a:latin typeface="Helvetica Neue"/>
                <a:ea typeface="Helvetica Neue"/>
                <a:cs typeface="Helvetica Neue"/>
              </a:rPr>
              <a:t>Low load: no capacity action</a:t>
            </a:r>
          </a:p>
          <a:p xmlns:a="http://schemas.openxmlformats.org/drawingml/2006/main">
            <a:pPr algn="l">
              <a:spcBef>
                <a:spcPts val="0"/>
              </a:spcBef>
              <a:spcAft>
                <a:spcPts val="0"/>
              </a:spcAft>
              <a:buNone/>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At </a:t>
            </a:r>
            <a:r>
              <a:rPr sz="1600" b="0">
                <a:solidFill>
                  <a:srgbClr val="000000"/>
                </a:solidFill>
                <a:latin typeface="Helvetica Neue"/>
                <a:ea typeface="Helvetica Neue"/>
                <a:cs typeface="Helvetica Neue"/>
              </a:rPr>
              <a:t>max rho</a:t>
            </a:r>
            <a:r>
              <a:rPr sz="1600" b="0">
                <a:solidFill>
                  <a:srgbClr val="000000"/>
                </a:solidFill>
                <a:latin typeface="Helvetica Neue"/>
                <a:ea typeface="Helvetica Neue"/>
                <a:cs typeface="Helvetica Neue"/>
              </a:rPr>
              <a:t> 0.585, reference P95 is 0.067 s and joint is 0.000 s. Statistically resolved; operationally negligible.</a:t>
            </a:r>
          </a:p>
        </p:txBody>
      </p:sp>
      <p:sp>
        <p:nvSpPr>
          <p:cNvPr id="5" name="callout-2-bg">
            <a:extLst xmlns:a="http://schemas.openxmlformats.org/drawingml/2006/main">
              <a:ext uri="{FF2B5EF4-FFF2-40B4-BE49-F238E27FC236}">
                <a16:creationId xmlns:a16="http://schemas.microsoft.com/office/drawing/2014/main" id="{5765B154-B79E-4702-A998-27A114425999}"/>
              </a:ext>
            </a:extLst>
          </p:cNvPr>
          <p:cNvSpPr>
            <a:spLocks xmlns:a="http://schemas.openxmlformats.org/drawingml/2006/main" noGrp="1"/>
          </p:cNvSpPr>
          <p:nvPr/>
        </p:nvSpPr>
        <p:spPr>
          <a:xfrm xmlns:a="http://schemas.openxmlformats.org/drawingml/2006/main">
            <a:off x="6572250" y="2790825"/>
            <a:ext cx="5219700" cy="1409700"/>
          </a:xfrm>
          <a:prstGeom xmlns:a="http://schemas.openxmlformats.org/drawingml/2006/main" prst="roundRect">
            <a:avLst>
              <a:gd name="adj" fmla="val 5405"/>
            </a:avLst>
          </a:prstGeom>
          <a:solidFill xmlns:a="http://schemas.openxmlformats.org/drawingml/2006/main">
            <a:srgbClr val="F2F2F2"/>
          </a:solidFill>
        </p:spPr>
      </p:sp>
      <p:sp>
        <p:nvSpPr>
          <p:cNvPr id="6" name="callout-2">
            <a:extLst xmlns:a="http://schemas.openxmlformats.org/drawingml/2006/main">
              <a:ext uri="{FF2B5EF4-FFF2-40B4-BE49-F238E27FC236}">
                <a16:creationId xmlns:a16="http://schemas.microsoft.com/office/drawing/2014/main" id="{472EBB82-CE8B-4E35-AB56-7CD70D34C8FF}"/>
              </a:ext>
            </a:extLst>
          </p:cNvPr>
          <p:cNvSpPr>
            <a:spLocks xmlns:a="http://schemas.openxmlformats.org/drawingml/2006/main" noGrp="1"/>
          </p:cNvSpPr>
          <p:nvPr/>
        </p:nvSpPr>
        <p:spPr>
          <a:xfrm xmlns:a="http://schemas.openxmlformats.org/drawingml/2006/main">
            <a:off x="6800850" y="2943225"/>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buNone/>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High load: decision becomes material</a:t>
            </a:r>
          </a:p>
          <a:p xmlns:a="http://schemas.openxmlformats.org/drawingml/2006/main">
            <a:pPr algn="l">
              <a:spcBef>
                <a:spcPts val="0"/>
              </a:spcBef>
              <a:spcAft>
                <a:spcPts val="0"/>
              </a:spcAft>
              <a:buNone/>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At </a:t>
            </a:r>
            <a:r>
              <a:rPr sz="1600" b="0">
                <a:solidFill>
                  <a:srgbClr val="000000"/>
                </a:solidFill>
                <a:latin typeface="Helvetica Neue"/>
                <a:ea typeface="Helvetica Neue"/>
                <a:cs typeface="Helvetica Neue"/>
              </a:rPr>
              <a:t>max rho</a:t>
            </a:r>
            <a:r>
              <a:rPr sz="1600" b="0">
                <a:solidFill>
                  <a:srgbClr val="000000"/>
                </a:solidFill>
                <a:latin typeface="Helvetica Neue"/>
                <a:ea typeface="Helvetica Neue"/>
                <a:cs typeface="Helvetica Neue"/>
              </a:rPr>
              <a:t> 1.180, reference P95 is 51.671 s and joint is 18.513 s. Gain 33.158 s [31.410, 34.906].</a:t>
            </a:r>
          </a:p>
        </p:txBody>
      </p:sp>
      <p:sp>
        <p:nvSpPr>
          <p:cNvPr id="7" name="callout-3-bg">
            <a:extLst xmlns:a="http://schemas.openxmlformats.org/drawingml/2006/main">
              <a:ext uri="{FF2B5EF4-FFF2-40B4-BE49-F238E27FC236}">
                <a16:creationId xmlns:a16="http://schemas.microsoft.com/office/drawing/2014/main" id="{121BC9E9-AFD6-4420-9AA0-3230B94CF3BB}"/>
              </a:ext>
            </a:extLst>
          </p:cNvPr>
          <p:cNvSpPr>
            <a:spLocks xmlns:a="http://schemas.openxmlformats.org/drawingml/2006/main" noGrp="1"/>
          </p:cNvSpPr>
          <p:nvPr/>
        </p:nvSpPr>
        <p:spPr>
          <a:xfrm xmlns:a="http://schemas.openxmlformats.org/drawingml/2006/main">
            <a:off x="6572250" y="4438650"/>
            <a:ext cx="5219700" cy="1409700"/>
          </a:xfrm>
          <a:prstGeom xmlns:a="http://schemas.openxmlformats.org/drawingml/2006/main" prst="roundRect">
            <a:avLst>
              <a:gd name="adj" fmla="val 5405"/>
            </a:avLst>
          </a:prstGeom>
          <a:solidFill xmlns:a="http://schemas.openxmlformats.org/drawingml/2006/main">
            <a:srgbClr val="EAF5FB"/>
          </a:solidFill>
        </p:spPr>
      </p:sp>
      <p:sp>
        <p:nvSpPr>
          <p:cNvPr id="8" name="callout-3">
            <a:extLst xmlns:a="http://schemas.openxmlformats.org/drawingml/2006/main">
              <a:ext uri="{FF2B5EF4-FFF2-40B4-BE49-F238E27FC236}">
                <a16:creationId xmlns:a16="http://schemas.microsoft.com/office/drawing/2014/main" id="{8269973B-90B6-41F4-BD3D-0D28760D9AF7}"/>
              </a:ext>
            </a:extLst>
          </p:cNvPr>
          <p:cNvSpPr>
            <a:spLocks xmlns:a="http://schemas.openxmlformats.org/drawingml/2006/main" noGrp="1"/>
          </p:cNvSpPr>
          <p:nvPr/>
        </p:nvSpPr>
        <p:spPr>
          <a:xfrm xmlns:a="http://schemas.openxmlformats.org/drawingml/2006/main">
            <a:off x="6800850" y="4591050"/>
            <a:ext cx="4810125" cy="11620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spcBef>
                <a:spcPts val="0"/>
              </a:spcBef>
              <a:spcAft>
                <a:spcPts val="7"/>
              </a:spcAft>
              <a:buNone/>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Single-stage relief moves the constraint</a:t>
            </a:r>
          </a:p>
          <a:p xmlns:a="http://schemas.openxmlformats.org/drawingml/2006/main">
            <a:pPr algn="l">
              <a:spcBef>
                <a:spcPts val="0"/>
              </a:spcBef>
              <a:spcAft>
                <a:spcPts val="0"/>
              </a:spcAft>
              <a:buNone/>
              <a:defRPr sz="1600">
                <a:solidFill>
                  <a:srgbClr val="000000"/>
                </a:solidFill>
                <a:latin typeface="Helvetica Neue"/>
                <a:ea typeface="Helvetica Neue"/>
                <a:cs typeface="Helvetica Neue"/>
              </a:defRPr>
            </a:pPr>
            <a:r>
              <a:rPr sz="1600" b="0">
                <a:solidFill>
                  <a:srgbClr val="000000"/>
                </a:solidFill>
                <a:latin typeface="Helvetica Neue"/>
                <a:ea typeface="Helvetica Neue"/>
                <a:cs typeface="Helvetica Neue"/>
              </a:rPr>
              <a:t>At high rate, Security +4 leaves Immigration P95 35.902 s; Immigration +3 leaves Security P95 44.107 s.</a:t>
            </a:r>
          </a:p>
        </p:txBody>
      </p:sp>
      <p:sp>
        <p:nvSpPr>
          <p:cNvPr id="9" name="results-boundary">
            <a:extLst xmlns:a="http://schemas.openxmlformats.org/drawingml/2006/main">
              <a:ext uri="{FF2B5EF4-FFF2-40B4-BE49-F238E27FC236}">
                <a16:creationId xmlns:a16="http://schemas.microsoft.com/office/drawing/2014/main" id="{3D5C5366-B49C-4D07-BFEE-3692D494DCDB}"/>
              </a:ext>
            </a:extLst>
          </p:cNvPr>
          <p:cNvSpPr>
            <a:spLocks xmlns:a="http://schemas.openxmlformats.org/drawingml/2006/main" noGrp="1"/>
          </p:cNvSpPr>
          <p:nvPr/>
        </p:nvSpPr>
        <p:spPr>
          <a:xfrm xmlns:a="http://schemas.openxmlformats.org/drawingml/2006/main">
            <a:off x="400050" y="6019800"/>
            <a:ext cx="10572750" cy="504825"/>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15/30/60 s diagnostics are post-hoc—not ICA SLAs · primary base contrast frozen</a:t>
            </a:r>
          </a:p>
          <a:p xmlns:a="http://schemas.openxmlformats.org/drawingml/2006/main">
            <a:pPr algn="l">
              <a:buNone/>
              <a:defRPr sz="1600" b="0">
                <a:solidFill>
                  <a:srgbClr val="5E6570"/>
                </a:solidFill>
                <a:latin typeface="Helvetica Neue"/>
                <a:ea typeface="Helvetica Neue"/>
                <a:cs typeface="Helvetica Neue"/>
              </a:defRPr>
            </a:pPr>
            <a:r>
              <a:rPr sz="1600" b="0">
                <a:solidFill>
                  <a:srgbClr val="5E6570"/>
                </a:solidFill>
                <a:latin typeface="Helvetica Neue"/>
                <a:ea typeface="Helvetica Neue"/>
                <a:cs typeface="Helvetica Neue"/>
              </a:rPr>
              <a:t>Nominal offered load on x-axis · fixed service · pooled FCFS · empty start · full drain</a:t>
            </a:r>
          </a:p>
        </p:txBody>
      </p:sp>
      <p:sp>
        <p:nvSpPr>
          <p:cNvPr id="10" name="results-footer">
            <a:extLst xmlns:a="http://schemas.openxmlformats.org/drawingml/2006/main">
              <a:ext uri="{FF2B5EF4-FFF2-40B4-BE49-F238E27FC236}">
                <a16:creationId xmlns:a16="http://schemas.microsoft.com/office/drawing/2014/main" id="{27597D40-AFDB-4FC0-ACD9-A4DD815D8485}"/>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graphicFrame>
        <p:nvGraphicFramePr>
          <p:cNvPr id="24" name="Chart"/>
          <p:cNvGraphicFramePr/>
          <p:nvPr/>
        </p:nvGraphicFramePr>
        <p:xfrm>
          <a:off xmlns:a="http://schemas.openxmlformats.org/drawingml/2006/main" x="400050" y="1381125"/>
          <a:ext xmlns:a="http://schemas.openxmlformats.org/drawingml/2006/main" cx="5762625" cy="4476750"/>
        </p:xfrm>
        <a:graphic xmlns:a="http://schemas.openxmlformats.org/drawingml/2006/main">
          <a:graphicData uri="http://schemas.openxmlformats.org/drawingml/2006/chart">
            <c:chart xmlns:r="http://schemas.openxmlformats.org/officeDocument/2006/relationships" xmlns:c="http://schemas.openxmlformats.org/drawingml/2006/chart" r:id="R92b88b4ee4cd4299"/>
          </a:graphicData>
        </a:graphic>
      </p:graphicFrame>
    </p:spTree>
    <p:extLst>
      <p:ext uri="{BB962C8B-B14F-4D97-AF65-F5344CB8AC3E}">
        <p14:creationId xmlns:p14="http://schemas.microsoft.com/office/powerpoint/2010/main" val="192870694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5" name="Google-Shape-532-p58-2">
            <a:extLst xmlns:a="http://schemas.openxmlformats.org/drawingml/2006/main">
              <a:ext uri="{FF2B5EF4-FFF2-40B4-BE49-F238E27FC236}">
                <a16:creationId xmlns:a16="http://schemas.microsoft.com/office/drawing/2014/main" id="{781BD1AE-7A11-4633-9882-26A54E61AC61}"/>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wrap="square" lIns="0" tIns="0" rIns="0" bIns="0" anchor="b">
            <a:noAutofit/>
          </a:bodyPr>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2" name="Google-Shape-533-p58-3">
            <a:extLst xmlns:a="http://schemas.openxmlformats.org/drawingml/2006/main">
              <a:ext uri="{FF2B5EF4-FFF2-40B4-BE49-F238E27FC236}">
                <a16:creationId xmlns:a16="http://schemas.microsoft.com/office/drawing/2014/main" id="{60D39F14-0FCC-4D48-84A9-503858E93BCD}"/>
              </a:ext>
            </a:extLst>
          </p:cNvPr>
          <p:cNvSpPr>
            <a:spLocks xmlns:a="http://schemas.openxmlformats.org/drawingml/2006/main" noGrp="1"/>
          </p:cNvSpPr>
          <p:nvPr/>
        </p:nvSpPr>
        <p:spPr>
          <a:xfrm xmlns:a="http://schemas.openxmlformats.org/drawingml/2006/main">
            <a:off x="393668" y="323850"/>
            <a:ext cx="11404568" cy="762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00" b="0">
                <a:solidFill>
                  <a:srgbClr val="000000"/>
                </a:solidFill>
                <a:latin typeface="Helvetica Neue"/>
                <a:ea typeface="Helvetica Neue"/>
                <a:cs typeface="Helvetica Neue"/>
              </a:defRPr>
            </a:pPr>
            <a:r>
              <a:rPr sz="3200" b="0">
                <a:solidFill>
                  <a:srgbClr val="000000"/>
                </a:solidFill>
                <a:latin typeface="Helvetica Neue"/>
                <a:ea typeface="Helvetica Neue"/>
                <a:cs typeface="Helvetica Neue"/>
              </a:rPr>
              <a:t>Advance joint +4/+3 to field calibration—not staffing rollout</a:t>
            </a:r>
          </a:p>
        </p:txBody>
      </p:sp>
      <p:sp>
        <p:nvSpPr>
          <p:cNvPr id="3" name="Google-Shape-534-p58-4">
            <a:extLst xmlns:a="http://schemas.openxmlformats.org/drawingml/2006/main">
              <a:ext uri="{FF2B5EF4-FFF2-40B4-BE49-F238E27FC236}">
                <a16:creationId xmlns:a16="http://schemas.microsoft.com/office/drawing/2014/main" id="{7F8701F3-1B1E-49E7-8742-4A2E4C408D79}"/>
              </a:ext>
            </a:extLst>
          </p:cNvPr>
          <p:cNvSpPr>
            <a:spLocks xmlns:a="http://schemas.openxmlformats.org/drawingml/2006/main" noGrp="1"/>
          </p:cNvSpPr>
          <p:nvPr/>
        </p:nvSpPr>
        <p:spPr>
          <a:xfrm xmlns:a="http://schemas.openxmlformats.org/drawingml/2006/main">
            <a:off x="393668" y="1619250"/>
            <a:ext cx="10001250" cy="590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0">
                <a:solidFill>
                  <a:srgbClr val="000000"/>
                </a:solidFill>
                <a:latin typeface="Helvetica Neue"/>
                <a:ea typeface="Helvetica Neue"/>
                <a:cs typeface="Helvetica Neue"/>
              </a:defRPr>
            </a:pPr>
            <a:r>
              <a:rPr sz="2100" b="0">
                <a:solidFill>
                  <a:srgbClr val="000000"/>
                </a:solidFill>
                <a:latin typeface="Helvetica Neue"/>
                <a:ea typeface="Helvetica Neue"/>
                <a:cs typeface="Helvetica Neue"/>
              </a:rPr>
              <a:t>NOW: calibrate → TRIGGER: peak queues → NEXT: price pilot → LIMIT: no rollout</a:t>
            </a:r>
          </a:p>
        </p:txBody>
      </p:sp>
      <p:sp>
        <p:nvSpPr>
          <p:cNvPr id="4" name="Content-Placeholder-10-5">
            <a:extLst xmlns:a="http://schemas.openxmlformats.org/drawingml/2006/main">
              <a:ext uri="{FF2B5EF4-FFF2-40B4-BE49-F238E27FC236}">
                <a16:creationId xmlns:a16="http://schemas.microsoft.com/office/drawing/2014/main" id="{1F734D25-6349-400F-AF66-BD1D9FB85B0D}"/>
              </a:ext>
            </a:extLst>
          </p:cNvPr>
          <p:cNvSpPr>
            <a:spLocks xmlns:a="http://schemas.openxmlformats.org/drawingml/2006/main" noGrp="1"/>
          </p:cNvSpPr>
          <p:nvPr/>
        </p:nvSpPr>
        <p:spPr>
          <a:xfrm xmlns:a="http://schemas.openxmlformats.org/drawingml/2006/main">
            <a:off x="7886700" y="29241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Collect time-of-day arrivals and signed event times</a:t>
            </a:r>
          </a:p>
        </p:txBody>
      </p:sp>
      <p:sp>
        <p:nvSpPr>
          <p:cNvPr id="5" name="Google-Shape-340-p61-6">
            <a:extLst xmlns:a="http://schemas.openxmlformats.org/drawingml/2006/main">
              <a:ext uri="{FF2B5EF4-FFF2-40B4-BE49-F238E27FC236}">
                <a16:creationId xmlns:a16="http://schemas.microsoft.com/office/drawing/2014/main" id="{6E6D46D7-9507-4899-9A12-17E0E2922281}"/>
              </a:ext>
            </a:extLst>
          </p:cNvPr>
          <p:cNvSpPr>
            <a:spLocks xmlns:a="http://schemas.openxmlformats.org/drawingml/2006/main" noGrp="1"/>
          </p:cNvSpPr>
          <p:nvPr/>
        </p:nvSpPr>
        <p:spPr>
          <a:xfrm xmlns:a="http://schemas.openxmlformats.org/drawingml/2006/main">
            <a:off x="7507700" y="3015139"/>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6" name="TextBox-11-7">
            <a:extLst xmlns:a="http://schemas.openxmlformats.org/drawingml/2006/main">
              <a:ext uri="{FF2B5EF4-FFF2-40B4-BE49-F238E27FC236}">
                <a16:creationId xmlns:a16="http://schemas.microsoft.com/office/drawing/2014/main" id="{CBEFA16B-F7C2-4B24-A924-9B27DF4A85C6}"/>
              </a:ext>
            </a:extLst>
          </p:cNvPr>
          <p:cNvSpPr>
            <a:spLocks xmlns:a="http://schemas.openxmlformats.org/drawingml/2006/main" noGrp="1"/>
          </p:cNvSpPr>
          <p:nvPr/>
        </p:nvSpPr>
        <p:spPr>
          <a:xfrm xmlns:a="http://schemas.openxmlformats.org/drawingml/2006/main">
            <a:off x="393668" y="2781300"/>
            <a:ext cx="6191250" cy="3143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spcBef>
                <a:spcPts val="0"/>
              </a:spcBef>
              <a:spcAft>
                <a:spcPts val="8"/>
              </a:spcAft>
              <a:buNone/>
              <a:defRPr sz="1600">
                <a:solidFill>
                  <a:srgbClr val="000000"/>
                </a:solidFill>
                <a:latin typeface="Helvetica Neue"/>
                <a:ea typeface="Helvetica Neue"/>
                <a:cs typeface="Helvetica Neue"/>
              </a:defRPr>
            </a:pPr>
            <a:r>
              <a:rPr sz="1875" b="1">
                <a:solidFill>
                  <a:srgbClr val="000000"/>
                </a:solidFill>
                <a:latin typeface="Helvetica Neue"/>
                <a:ea typeface="Helvetica Neue"/>
                <a:cs typeface="Helvetica Neue"/>
              </a:rPr>
              <a:t>NOW — carry joint +4/+3 into field calibration</a:t>
            </a:r>
          </a:p>
          <a:p xmlns:a="http://schemas.openxmlformats.org/drawingml/2006/main">
            <a:pPr algn="l">
              <a:spcBef>
                <a:spcPts val="0"/>
              </a:spcBef>
              <a:spcAft>
                <a:spcPts val="2"/>
              </a:spcAft>
              <a:buNone/>
              <a:defRPr sz="1600">
                <a:solidFill>
                  <a:srgbClr val="000000"/>
                </a:solidFill>
                <a:latin typeface="Helvetica Neue"/>
                <a:ea typeface="Helvetica Neue"/>
                <a:cs typeface="Helvetica Neue"/>
              </a:defRPr>
            </a:pPr>
            <a:r>
              <a:rPr sz="2250" b="1">
                <a:solidFill>
                  <a:srgbClr val="3D8DFF"/>
                </a:solidFill>
                <a:latin typeface="Helvetica Neue"/>
                <a:ea typeface="Helvetica Neue"/>
                <a:cs typeface="Helvetica Neue"/>
              </a:rPr>
              <a:t>EVIDENCE — 2.679 s base; 33.158 s high</a:t>
            </a:r>
          </a:p>
          <a:p xmlns:a="http://schemas.openxmlformats.org/drawingml/2006/main">
            <a:pPr algn="l">
              <a:spcBef>
                <a:spcPts val="0"/>
              </a:spcBef>
              <a:spcAft>
                <a:spcPts val="7"/>
              </a:spcAft>
              <a:buNone/>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Paired 95% CIs exclude zero · 50 replications per cell</a:t>
            </a:r>
          </a:p>
          <a:p xmlns:a="http://schemas.openxmlformats.org/drawingml/2006/main">
            <a:pPr algn="l">
              <a:spcBef>
                <a:spcPts val="0"/>
              </a:spcBef>
              <a:spcAft>
                <a:spcPts val="2"/>
              </a:spcAft>
              <a:buNone/>
              <a:defRPr sz="1600">
                <a:solidFill>
                  <a:srgbClr val="000000"/>
                </a:solidFill>
                <a:latin typeface="Helvetica Neue"/>
                <a:ea typeface="Helvetica Neue"/>
                <a:cs typeface="Helvetica Neue"/>
              </a:defRPr>
            </a:pPr>
            <a:r>
              <a:rPr sz="2175" b="1">
                <a:solidFill>
                  <a:srgbClr val="3D8DFF"/>
                </a:solidFill>
                <a:latin typeface="Helvetica Neue"/>
                <a:ea typeface="Helvetica Neue"/>
                <a:cs typeface="Helvetica Neue"/>
              </a:rPr>
              <a:t>TRIGGER — measured peak queues are material</a:t>
            </a:r>
          </a:p>
          <a:p xmlns:a="http://schemas.openxmlformats.org/drawingml/2006/main">
            <a:pPr algn="l">
              <a:spcBef>
                <a:spcPts val="0"/>
              </a:spcBef>
              <a:spcAft>
                <a:spcPts val="8"/>
              </a:spcAft>
              <a:buNone/>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Use time-of-day arrivals + stage service distributions</a:t>
            </a:r>
          </a:p>
          <a:p xmlns:a="http://schemas.openxmlformats.org/drawingml/2006/main">
            <a:pPr algn="l">
              <a:spcBef>
                <a:spcPts val="0"/>
              </a:spcBef>
              <a:spcAft>
                <a:spcPts val="0"/>
              </a:spcAft>
              <a:buNone/>
              <a:defRPr sz="1600">
                <a:solidFill>
                  <a:srgbClr val="000000"/>
                </a:solidFill>
                <a:latin typeface="Helvetica Neue"/>
                <a:ea typeface="Helvetica Neue"/>
                <a:cs typeface="Helvetica Neue"/>
              </a:defRPr>
            </a:pPr>
            <a:r>
              <a:rPr sz="1600" b="0">
                <a:solidFill>
                  <a:srgbClr val="5E6570"/>
                </a:solidFill>
                <a:latin typeface="Helvetica Neue"/>
                <a:ea typeface="Helvetica Neue"/>
                <a:cs typeface="Helvetica Neue"/>
              </a:rPr>
              <a:t>LIMIT — no roster count, site forecast, economic optimum or deployment approval.</a:t>
            </a:r>
          </a:p>
        </p:txBody>
      </p:sp>
      <p:sp>
        <p:nvSpPr>
          <p:cNvPr id="7" name="Content-Placeholder-10-8">
            <a:extLst xmlns:a="http://schemas.openxmlformats.org/drawingml/2006/main">
              <a:ext uri="{FF2B5EF4-FFF2-40B4-BE49-F238E27FC236}">
                <a16:creationId xmlns:a16="http://schemas.microsoft.com/office/drawing/2014/main" id="{9655FE59-28B3-4208-9D38-8CA87FE9D7E8}"/>
              </a:ext>
            </a:extLst>
          </p:cNvPr>
          <p:cNvSpPr>
            <a:spLocks xmlns:a="http://schemas.openxmlformats.org/drawingml/2006/main" noGrp="1"/>
          </p:cNvSpPr>
          <p:nvPr/>
        </p:nvSpPr>
        <p:spPr>
          <a:xfrm xmlns:a="http://schemas.openxmlformats.org/drawingml/2006/main">
            <a:off x="7886700" y="35337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Measure stage service-time and exception distributions</a:t>
            </a:r>
          </a:p>
        </p:txBody>
      </p:sp>
      <p:sp>
        <p:nvSpPr>
          <p:cNvPr id="8" name="Google-Shape-340-p61-9">
            <a:extLst xmlns:a="http://schemas.openxmlformats.org/drawingml/2006/main">
              <a:ext uri="{FF2B5EF4-FFF2-40B4-BE49-F238E27FC236}">
                <a16:creationId xmlns:a16="http://schemas.microsoft.com/office/drawing/2014/main" id="{CC826CCF-C388-4016-A482-29D3EE8809DD}"/>
              </a:ext>
            </a:extLst>
          </p:cNvPr>
          <p:cNvSpPr>
            <a:spLocks xmlns:a="http://schemas.openxmlformats.org/drawingml/2006/main" noGrp="1"/>
          </p:cNvSpPr>
          <p:nvPr/>
        </p:nvSpPr>
        <p:spPr>
          <a:xfrm xmlns:a="http://schemas.openxmlformats.org/drawingml/2006/main">
            <a:off x="7507700" y="3624739"/>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9" name="Content-Placeholder-10-10">
            <a:extLst xmlns:a="http://schemas.openxmlformats.org/drawingml/2006/main">
              <a:ext uri="{FF2B5EF4-FFF2-40B4-BE49-F238E27FC236}">
                <a16:creationId xmlns:a16="http://schemas.microsoft.com/office/drawing/2014/main" id="{D0C114C5-CD12-458B-A70E-03F6AAD9C325}"/>
              </a:ext>
            </a:extLst>
          </p:cNvPr>
          <p:cNvSpPr>
            <a:spLocks xmlns:a="http://schemas.openxmlformats.org/drawingml/2006/main" noGrp="1"/>
          </p:cNvSpPr>
          <p:nvPr/>
        </p:nvSpPr>
        <p:spPr>
          <a:xfrm xmlns:a="http://schemas.openxmlformats.org/drawingml/2006/main">
            <a:off x="7886700" y="41433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Observe queues, open resources, rosters and downtime</a:t>
            </a:r>
          </a:p>
        </p:txBody>
      </p:sp>
      <p:sp>
        <p:nvSpPr>
          <p:cNvPr id="10" name="Google-Shape-340-p61-11">
            <a:extLst xmlns:a="http://schemas.openxmlformats.org/drawingml/2006/main">
              <a:ext uri="{FF2B5EF4-FFF2-40B4-BE49-F238E27FC236}">
                <a16:creationId xmlns:a16="http://schemas.microsoft.com/office/drawing/2014/main" id="{7BA09227-E603-41B2-A52E-4BA0F973A16E}"/>
              </a:ext>
            </a:extLst>
          </p:cNvPr>
          <p:cNvSpPr>
            <a:spLocks xmlns:a="http://schemas.openxmlformats.org/drawingml/2006/main" noGrp="1"/>
          </p:cNvSpPr>
          <p:nvPr/>
        </p:nvSpPr>
        <p:spPr>
          <a:xfrm xmlns:a="http://schemas.openxmlformats.org/drawingml/2006/main">
            <a:off x="7507700" y="4239578"/>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1" name="Content-Placeholder-10-12">
            <a:extLst xmlns:a="http://schemas.openxmlformats.org/drawingml/2006/main">
              <a:ext uri="{FF2B5EF4-FFF2-40B4-BE49-F238E27FC236}">
                <a16:creationId xmlns:a16="http://schemas.microsoft.com/office/drawing/2014/main" id="{C79C4205-427A-49A2-BB34-A8B17223E66F}"/>
              </a:ext>
            </a:extLst>
          </p:cNvPr>
          <p:cNvSpPr>
            <a:spLocks xmlns:a="http://schemas.openxmlformats.org/drawingml/2006/main" noGrp="1"/>
          </p:cNvSpPr>
          <p:nvPr/>
        </p:nvSpPr>
        <p:spPr>
          <a:xfrm xmlns:a="http://schemas.openxmlformats.org/drawingml/2006/main">
            <a:off x="7886700" y="47529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Calibrate, validate and price a joint +4/+3 pilot</a:t>
            </a:r>
          </a:p>
        </p:txBody>
      </p:sp>
      <p:sp>
        <p:nvSpPr>
          <p:cNvPr id="12" name="Google-Shape-340-p61-13">
            <a:extLst xmlns:a="http://schemas.openxmlformats.org/drawingml/2006/main">
              <a:ext uri="{FF2B5EF4-FFF2-40B4-BE49-F238E27FC236}">
                <a16:creationId xmlns:a16="http://schemas.microsoft.com/office/drawing/2014/main" id="{259AF994-9B8C-40D7-A87E-8E5704D99BE4}"/>
              </a:ext>
            </a:extLst>
          </p:cNvPr>
          <p:cNvSpPr>
            <a:spLocks xmlns:a="http://schemas.openxmlformats.org/drawingml/2006/main" noGrp="1"/>
          </p:cNvSpPr>
          <p:nvPr/>
        </p:nvSpPr>
        <p:spPr>
          <a:xfrm xmlns:a="http://schemas.openxmlformats.org/drawingml/2006/main">
            <a:off x="7507700" y="4849178"/>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
        <p:nvSpPr>
          <p:cNvPr id="13" name="Content-Placeholder-10-14">
            <a:extLst xmlns:a="http://schemas.openxmlformats.org/drawingml/2006/main">
              <a:ext uri="{FF2B5EF4-FFF2-40B4-BE49-F238E27FC236}">
                <a16:creationId xmlns:a16="http://schemas.microsoft.com/office/drawing/2014/main" id="{7312FCBA-29F0-4015-BEE9-35804F58E381}"/>
              </a:ext>
            </a:extLst>
          </p:cNvPr>
          <p:cNvSpPr>
            <a:spLocks xmlns:a="http://schemas.openxmlformats.org/drawingml/2006/main" noGrp="1"/>
          </p:cNvSpPr>
          <p:nvPr/>
        </p:nvSpPr>
        <p:spPr>
          <a:xfrm xmlns:a="http://schemas.openxmlformats.org/drawingml/2006/main">
            <a:off x="7886700" y="5362575"/>
            <a:ext cx="3911632" cy="590550"/>
          </a:xfrm>
          <a:prstGeom xmlns:a="http://schemas.openxmlformats.org/drawingml/2006/main" prst="rect">
            <a:avLst/>
          </a:prstGeom>
        </p:spPr>
        <p:txBody>
          <a:bodyPr xmlns:a="http://schemas.openxmlformats.org/drawingml/2006/main" lIns="0" tIns="0" rIns="0" bIns="0" anchor="ctr">
            <a:noAutofit/>
          </a:bodyPr>
          <a:lstStyle xmlns:a="http://schemas.openxmlformats.org/drawingml/2006/main"/>
          <a:p xmlns:a="http://schemas.openxmlformats.org/drawingml/2006/main">
            <a:pPr algn="l">
              <a:buNone/>
              <a:defRPr sz="1838" b="0">
                <a:solidFill>
                  <a:srgbClr val="000000"/>
                </a:solidFill>
                <a:latin typeface="Helvetica Neue"/>
                <a:ea typeface="Helvetica Neue"/>
                <a:cs typeface="Helvetica Neue"/>
              </a:defRPr>
            </a:pPr>
            <a:r>
              <a:rPr sz="1838" b="0">
                <a:solidFill>
                  <a:srgbClr val="000000"/>
                </a:solidFill>
                <a:latin typeface="Helvetica Neue"/>
                <a:ea typeface="Helvetica Neue"/>
                <a:cs typeface="Helvetica Neue"/>
              </a:rPr>
              <a:t>Confirm production CV licence and security controls</a:t>
            </a:r>
          </a:p>
        </p:txBody>
      </p:sp>
      <p:sp>
        <p:nvSpPr>
          <p:cNvPr id="14" name="Google-Shape-340-p61-15">
            <a:extLst xmlns:a="http://schemas.openxmlformats.org/drawingml/2006/main">
              <a:ext uri="{FF2B5EF4-FFF2-40B4-BE49-F238E27FC236}">
                <a16:creationId xmlns:a16="http://schemas.microsoft.com/office/drawing/2014/main" id="{96FBE91E-D88B-4CA9-A68E-7D71952C155F}"/>
              </a:ext>
            </a:extLst>
          </p:cNvPr>
          <p:cNvSpPr>
            <a:spLocks xmlns:a="http://schemas.openxmlformats.org/drawingml/2006/main" noGrp="1"/>
          </p:cNvSpPr>
          <p:nvPr/>
        </p:nvSpPr>
        <p:spPr>
          <a:xfrm xmlns:a="http://schemas.openxmlformats.org/drawingml/2006/main">
            <a:off x="7507700" y="5471541"/>
            <a:ext cx="212598" cy="212503"/>
          </a:xfrm>
          <a:custGeom xmlns:a="http://schemas.openxmlformats.org/drawingml/2006/main">
            <a:pathLst>
              <a:path w="205740000" h="205740000">
                <a:moveTo>
                  <a:pt x="102870000" y="20574000"/>
                </a:moveTo>
                <a:cubicBezTo>
                  <a:pt x="57426225" y="20574000"/>
                  <a:pt x="20574000" y="57426225"/>
                  <a:pt x="20574000" y="102870000"/>
                </a:cubicBezTo>
                <a:cubicBezTo>
                  <a:pt x="20574000" y="148313775"/>
                  <a:pt x="57426225" y="185166000"/>
                  <a:pt x="102870000" y="185166000"/>
                </a:cubicBezTo>
                <a:cubicBezTo>
                  <a:pt x="148313775" y="185166000"/>
                  <a:pt x="185166000" y="148313775"/>
                  <a:pt x="185166000" y="102870000"/>
                </a:cubicBezTo>
                <a:cubicBezTo>
                  <a:pt x="185166000" y="57426225"/>
                  <a:pt x="148313775" y="20574000"/>
                  <a:pt x="102870000" y="20574000"/>
                </a:cubicBezTo>
                <a:close/>
                <a:moveTo>
                  <a:pt x="0" y="102870000"/>
                </a:moveTo>
                <a:cubicBezTo>
                  <a:pt x="0" y="46053375"/>
                  <a:pt x="46053375" y="0"/>
                  <a:pt x="102870000" y="0"/>
                </a:cubicBezTo>
                <a:cubicBezTo>
                  <a:pt x="159686625" y="0"/>
                  <a:pt x="205740000" y="46053375"/>
                  <a:pt x="205740000" y="102870000"/>
                </a:cubicBezTo>
                <a:cubicBezTo>
                  <a:pt x="205740000" y="159686625"/>
                  <a:pt x="159686625" y="205740000"/>
                  <a:pt x="102870000" y="205740000"/>
                </a:cubicBezTo>
                <a:cubicBezTo>
                  <a:pt x="46053375" y="205740000"/>
                  <a:pt x="0" y="159686625"/>
                  <a:pt x="0" y="102870000"/>
                </a:cubicBezTo>
                <a:close/>
                <a:moveTo>
                  <a:pt x="144789525" y="61026675"/>
                </a:moveTo>
                <a:cubicBezTo>
                  <a:pt x="149437725" y="64293750"/>
                  <a:pt x="150561675" y="70713600"/>
                  <a:pt x="147285075" y="75352275"/>
                </a:cubicBezTo>
                <a:lnTo>
                  <a:pt x="98421825" y="144789525"/>
                </a:lnTo>
                <a:cubicBezTo>
                  <a:pt x="96621600" y="147351750"/>
                  <a:pt x="93764100" y="148942425"/>
                  <a:pt x="90649425" y="149142450"/>
                </a:cubicBezTo>
                <a:cubicBezTo>
                  <a:pt x="87534750" y="149332950"/>
                  <a:pt x="84496275" y="148104225"/>
                  <a:pt x="82400775" y="145799175"/>
                </a:cubicBezTo>
                <a:lnTo>
                  <a:pt x="56683275" y="117509925"/>
                </a:lnTo>
                <a:cubicBezTo>
                  <a:pt x="52863750" y="113299875"/>
                  <a:pt x="53178075" y="106803825"/>
                  <a:pt x="57369075" y="102974775"/>
                </a:cubicBezTo>
                <a:cubicBezTo>
                  <a:pt x="61579125" y="99155250"/>
                  <a:pt x="68075175" y="99469575"/>
                  <a:pt x="71904225" y="103660575"/>
                </a:cubicBezTo>
                <a:lnTo>
                  <a:pt x="88982550" y="122453400"/>
                </a:lnTo>
                <a:lnTo>
                  <a:pt x="130463925" y="63522225"/>
                </a:lnTo>
                <a:cubicBezTo>
                  <a:pt x="133731000" y="58874025"/>
                  <a:pt x="140150850" y="57750075"/>
                  <a:pt x="144789525" y="61026675"/>
                </a:cubicBezTo>
                <a:close/>
              </a:path>
            </a:pathLst>
          </a:custGeom>
          <a:solidFill xmlns:a="http://schemas.openxmlformats.org/drawingml/2006/main">
            <a:srgbClr val="000000"/>
          </a:solidFill>
        </p:spPr>
      </p:sp>
    </p:spTree>
    <p:extLst>
      <p:ext uri="{BB962C8B-B14F-4D97-AF65-F5344CB8AC3E}">
        <p14:creationId xmlns:p14="http://schemas.microsoft.com/office/powerpoint/2010/main" val="9875442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2026-07-28T09:29:18.4100000Z</dcterms:created>
  <dcterms:modified xsi:type="dcterms:W3CDTF">2026-07-28T09:29:18.4110000Z</dcterms:modified>
</coreProperties>
</file>