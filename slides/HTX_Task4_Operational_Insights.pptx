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7476684168b4cc3" /><Relationship Type="http://schemas.openxmlformats.org/officeDocument/2006/relationships/extended-properties" Target="/docProps/app.xml" Id="R297965697a0042a0" /><Relationship Type="http://schemas.openxmlformats.org/officeDocument/2006/relationships/officeDocument" Target="/ppt/presentation.xml" Id="R58aff6421fd94cca" /></Relationships>
</file>

<file path=ppt/presentation.xml><?xml version="1.0" encoding="utf-8"?>
<p:presentation xmlns:p="http://schemas.openxmlformats.org/presentationml/2006/main">
  <p:sldMasterIdLst>
    <p:sldMasterId xmlns:r="http://schemas.openxmlformats.org/officeDocument/2006/relationships" id="2147483648" r:id="R5d7b85e9967e4ddd"/>
  </p:sldMasterIdLst>
  <p:notesMasterIdLst>
    <p:notesMasterId xmlns:r="http://schemas.openxmlformats.org/officeDocument/2006/relationships" r:id="R74d78462c58749ad"/>
  </p:notesMasterIdLst>
  <p:sldIdLst>
    <p:sldId xmlns:r="http://schemas.openxmlformats.org/officeDocument/2006/relationships" id="256" r:id="R3377183f1d2043fe"/>
    <p:sldId xmlns:r="http://schemas.openxmlformats.org/officeDocument/2006/relationships" id="257" r:id="R6b7ae976f76d4549"/>
    <p:sldId xmlns:r="http://schemas.openxmlformats.org/officeDocument/2006/relationships" id="258" r:id="R3ef653f8c9cd495e"/>
    <p:sldId xmlns:r="http://schemas.openxmlformats.org/officeDocument/2006/relationships" id="259" r:id="Rb3a78dfbf3594d0e"/>
    <p:sldId xmlns:r="http://schemas.openxmlformats.org/officeDocument/2006/relationships" id="260" r:id="R1f1bc3634c2349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c84cb77455473f" /><Relationship Type="http://schemas.openxmlformats.org/officeDocument/2006/relationships/slideMaster" Target="/ppt/slideMasters/slideMaster1.xml" Id="R5d7b85e9967e4ddd" /><Relationship Type="http://schemas.openxmlformats.org/officeDocument/2006/relationships/notesMaster" Target="/ppt/notesMasters/notesMaster1.xml" Id="R74d78462c58749ad" /><Relationship Type="http://schemas.openxmlformats.org/officeDocument/2006/relationships/presProps" Target="/ppt/presProps.xml" Id="Rbc57f8f569ea4dcd" /><Relationship Type="http://schemas.openxmlformats.org/officeDocument/2006/relationships/tableStyles" Target="/ppt/tableStyles.xml" Id="Rb3656de5c7464a5f" /><Relationship Type="http://schemas.openxmlformats.org/officeDocument/2006/relationships/slide" Target="/ppt/slides/slide1.xml" Id="R3377183f1d2043fe" /><Relationship Type="http://schemas.openxmlformats.org/officeDocument/2006/relationships/slide" Target="/ppt/slides/slide2.xml" Id="R6b7ae976f76d4549" /><Relationship Type="http://schemas.openxmlformats.org/officeDocument/2006/relationships/slide" Target="/ppt/slides/slide3.xml" Id="R3ef653f8c9cd495e" /><Relationship Type="http://schemas.openxmlformats.org/officeDocument/2006/relationships/slide" Target="/ppt/slides/slide4.xml" Id="Rb3a78dfbf3594d0e" /><Relationship Type="http://schemas.openxmlformats.org/officeDocument/2006/relationships/slide" Target="/ppt/slides/slide5.xml" Id="R1f1bc3634c2349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e572d37db240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9f1dacc09c4f7e" /><Relationship Type="http://schemas.openxmlformats.org/officeDocument/2006/relationships/notesMaster" Target="/ppt/notesMasters/notesMaster1.xml" Id="Ra64e848fdf5543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0fb4558af8486a" /><Relationship Type="http://schemas.openxmlformats.org/officeDocument/2006/relationships/notesMaster" Target="/ppt/notesMasters/notesMaster1.xml" Id="R193826212ad34f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d3489567f14111" /><Relationship Type="http://schemas.openxmlformats.org/officeDocument/2006/relationships/notesMaster" Target="/ppt/notesMasters/notesMaster1.xml" Id="R5d843333ec384d2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aeeae37dfc442c" /><Relationship Type="http://schemas.openxmlformats.org/officeDocument/2006/relationships/notesMaster" Target="/ppt/notesMasters/notesMaster1.xml" Id="Rbc8945a2dfd64a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cca8f6544ed40ee" /><Relationship Type="http://schemas.openxmlformats.org/officeDocument/2006/relationships/notesMaster" Target="/ppt/notesMasters/notesMaster1.xml" Id="Re789cd844f2a4e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operational question is larger than the local evidence. We have one 24.9-second corridor clip, so the responsible output is an auditable what-if model—not a calibrated checkpoint forecast. Human adjudication owns the accepted directional counts, the simulation makes every capacity and service assumption explicit, and a predeclared 600-run study quantifies the capacity mechanism under those assumptions. The purpose of this deck is to identify a mechanism worth field-testing and the evidence still required before any staffing or deployment decision.</a:t>
            </a:r>
          </a:p>
          <a:p xmlns:a="http://schemas.openxmlformats.org/drawingml/2006/main">
            <a:r>
              <a:t/>
            </a:r>
          </a:p>
          <a:p xmlns:a="http://schemas.openxmlformats.org/drawingml/2006/main">
            <a:r>
              <a:t>[Sources]</a:t>
            </a:r>
          </a:p>
          <a:p xmlns:a="http://schemas.openxmlformats.org/drawingml/2006/main">
            <a:r>
              <a:t>- HTX Data Scientist Technical Test.docx (assessment brief, local source)</a:t>
            </a:r>
          </a:p>
          <a:p xmlns:a="http://schemas.openxmlformats.org/drawingml/2006/main">
            <a:r>
              <a:t>- data/derived/task1_final_aggregate.csv (accepted aggregate and exact clip duration, local source)</a:t>
            </a:r>
          </a:p>
          <a:p xmlns:a="http://schemas.openxmlformats.org/drawingml/2006/main">
            <a:r>
              <a:t>- docs/task3_confirmatory_design.md (frozen design and claim boundary, local source)</a:t>
            </a:r>
          </a:p>
          <a:p xmlns:a="http://schemas.openxmlformats.org/drawingml/2006/main">
            <a:r>
              <a:t>- results/analysis/confirmatory_capacity/analysis_manifest.json (executed study result,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control is ownership of the measurement. The accepted aggregate is 12 left-to-right and 34 right-to-left; only the 34 right-to-left crossings feed the arrival anchor. The exact 0.945-to-1.906 per-second interval represents Poisson count sampling conditional on that accepted count; it does not represent human disagreement or time-of-day demand. The second control is a deliberately minimal two-stage pooled queue. The third is a frozen confirmatory contract: 12 cells, 50 replications each and 150 common-random-number groups, with pairing authorized only after traveller-level alignment passes.</a:t>
            </a:r>
          </a:p>
          <a:p xmlns:a="http://schemas.openxmlformats.org/drawingml/2006/main">
            <a:r>
              <a:t/>
            </a:r>
          </a:p>
          <a:p xmlns:a="http://schemas.openxmlformats.org/drawingml/2006/main">
            <a:r>
              <a:t>[Sources]</a:t>
            </a:r>
          </a:p>
          <a:p xmlns:a="http://schemas.openxmlformats.org/drawingml/2006/main">
            <a:r>
              <a:t>- data/derived/task1_final_aggregate.csv (accepted aggregate and duration, local source)</a:t>
            </a:r>
          </a:p>
          <a:p xmlns:a="http://schemas.openxmlformats.org/drawingml/2006/main">
            <a:r>
              <a:t>- docs/task2_system_design.md (conceptual model and assumptions, local source)</a:t>
            </a:r>
          </a:p>
          <a:p xmlns:a="http://schemas.openxmlformats.org/drawingml/2006/main">
            <a:r>
              <a:t>- docs/task3_confirmatory_design.md (input interval, precision target and primary contrast, local source)</a:t>
            </a:r>
          </a:p>
          <a:p xmlns:a="http://schemas.openxmlformats.org/drawingml/2006/main">
            <a:r>
              <a:t>- config/confirmatory_seed_manifest.csv (frozen random-stream groups, local source)</a:t>
            </a:r>
          </a:p>
          <a:p xmlns:a="http://schemas.openxmlformats.org/drawingml/2006/main">
            <a:r>
              <a:t>- results/analysis/confirmatory_capacity/crn_alignment.json (executed alignment gate, local source)</a:t>
            </a:r>
          </a:p>
          <a:p xmlns:a="http://schemas.openxmlformats.org/drawingml/2006/main">
            <a:r>
              <a:t>- https://informs-sim.org/wsc20papers/134.pdf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status comes from the contract, not the label. Before seeing these outcomes, the study fixed one primary comparison, a one-second half-width target, 50 replications per cell and all random streams. The study completed all 600 planned runs across 12 cells, producing 253,756 traveller rows. CRN validation then matched 150 scenario groups, identical traveller sets and more than 1.14 million branch-invariant draw values. Only after that PASS was the paired interval authorised. The result is still conditional on the registered model; it is not observed checkpoint performance.</a:t>
            </a:r>
          </a:p>
          <a:p xmlns:a="http://schemas.openxmlformats.org/drawingml/2006/main">
            <a:r>
              <a:t/>
            </a:r>
          </a:p>
          <a:p xmlns:a="http://schemas.openxmlformats.org/drawingml/2006/main">
            <a:r>
              <a:t>[Sources]</a:t>
            </a:r>
          </a:p>
          <a:p xmlns:a="http://schemas.openxmlformats.org/drawingml/2006/main">
            <a:r>
              <a:t>- docs/task3_confirmatory_design.md (predeclared design and precision target, local source)</a:t>
            </a:r>
          </a:p>
          <a:p xmlns:a="http://schemas.openxmlformats.org/drawingml/2006/main">
            <a:r>
              <a:t>- results/analysis/confirmatory_capacity/validation.json (600-run coverage gate, local source)</a:t>
            </a:r>
          </a:p>
          <a:p xmlns:a="http://schemas.openxmlformats.org/drawingml/2006/main">
            <a:r>
              <a:t>- results/analysis/confirmatory_capacity/crn_alignment.json (traveller-level CRN gate, local source)</a:t>
            </a:r>
          </a:p>
          <a:p xmlns:a="http://schemas.openxmlformats.org/drawingml/2006/main">
            <a:r>
              <a:t>- results/analysis/confirmatory_capacity/primary_result.json (achieved precision, local source)</a:t>
            </a:r>
          </a:p>
          <a:p xmlns:a="http://schemas.openxmlformats.org/drawingml/2006/main">
            <a:r>
              <a:t>- https://www.gao.gov/assets/a257263.html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base arrival rate, the joint arm lowers mean replication-level total queue-wait P95 from 3.929 to 1.250 seconds. The predeclared paired difference is minus 2.679 seconds, with a 95% interval from minus 3.061 to minus 2.297 and a 0.382-second half-width. Supporting rate checks show a resolved joint benefit versus reference at all three count-based rates: 0.067 seconds at the lower endpoint, 2.679 at the point estimate and 33.158 at the upper endpoint. Joint is lowest at the base and high rates; at the low endpoint it ties Immigration plus three at zero. Some other pairwise intervals remain unresolved, so this is not evidence that every capacity option is statistically distinct.</a:t>
            </a:r>
          </a:p>
          <a:p xmlns:a="http://schemas.openxmlformats.org/drawingml/2006/main">
            <a:r>
              <a:t/>
            </a:r>
          </a:p>
          <a:p xmlns:a="http://schemas.openxmlformats.org/drawingml/2006/main">
            <a:r>
              <a:t>[Sources]</a:t>
            </a:r>
          </a:p>
          <a:p xmlns:a="http://schemas.openxmlformats.org/drawingml/2006/main">
            <a:r>
              <a:t>- results/analysis/confirmatory_capacity/scenario_estimates.csv (base-rate stage estimates, local source)</a:t>
            </a:r>
          </a:p>
          <a:p xmlns:a="http://schemas.openxmlformats.org/drawingml/2006/main">
            <a:r>
              <a:t>- results/analysis/confirmatory_capacity/primary_result.json (predeclared primary result, local source)</a:t>
            </a:r>
          </a:p>
          <a:p xmlns:a="http://schemas.openxmlformats.org/drawingml/2006/main">
            <a:r>
              <a:t>- results/analysis/confirmatory_capacity/within_rate_pairwise_contrasts.csv (rate-boundary contrasts, local source)</a:t>
            </a:r>
          </a:p>
          <a:p xmlns:a="http://schemas.openxmlformats.org/drawingml/2006/main">
            <a:r>
              <a:t>- results/analysis/confirmatory_capacity/ranking_stability.json (supporting ranking interpretation, local source)</a:t>
            </a:r>
          </a:p>
          <a:p xmlns:a="http://schemas.openxmlformats.org/drawingml/2006/main">
            <a:r>
              <a:t>- results/analysis/confirmatory_capacity/crn_alignment.json (paired-analysis gate,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evidence is strong enough to advance one mechanism, not to prescribe staffing. Under the registered assumptions, joint plus-four and plus-three reduces the base-rate P95 by 2.679 seconds and remains beneficial at both exact count-rate endpoints. The next gate is field evidence: signed event times across time of day, stage service and exception distributions, observed open resources, rosters and downtime. Only after calibration and validation should HTX price a controlled joint-capacity pilot and assess space, staffing, security and production computer-vision licensing.</a:t>
            </a:r>
          </a:p>
          <a:p xmlns:a="http://schemas.openxmlformats.org/drawingml/2006/main">
            <a:r>
              <a:t/>
            </a:r>
          </a:p>
          <a:p xmlns:a="http://schemas.openxmlformats.org/drawingml/2006/main">
            <a:r>
              <a:t>[Sources]</a:t>
            </a:r>
          </a:p>
          <a:p xmlns:a="http://schemas.openxmlformats.org/drawingml/2006/main">
            <a:r>
              <a:t>- results/analysis/confirmatory_capacity/primary_result.json (primary capacity result, local source)</a:t>
            </a:r>
          </a:p>
          <a:p xmlns:a="http://schemas.openxmlformats.org/drawingml/2006/main">
            <a:r>
              <a:t>- results/analysis/confirmatory_capacity/ranking_stability.json (cross-rate supporting result, local source)</a:t>
            </a:r>
          </a:p>
          <a:p xmlns:a="http://schemas.openxmlformats.org/drawingml/2006/main">
            <a:r>
              <a:t>- docs/task3_results.md (decision interpretation and limitations, local source)</a:t>
            </a:r>
          </a:p>
          <a:p xmlns:a="http://schemas.openxmlformats.org/drawingml/2006/main">
            <a:r>
              <a:t>- docs/analysis_plan.md (confirmatory precision and claim controls, local source)</a:t>
            </a:r>
          </a:p>
          <a:p xmlns:a="http://schemas.openxmlformats.org/drawingml/2006/main">
            <a:r>
              <a:t>- LICENSING.md (measurement and deployment licence boundary, local source)</a:t>
            </a:r>
          </a:p>
          <a:p xmlns:a="http://schemas.openxmlformats.org/drawingml/2006/main">
            <a:r>
              <a:t>- https://www.ultralytics.com/license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822c98ac384bd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9b2ab4fc7743e5" /><Relationship Type="http://schemas.openxmlformats.org/officeDocument/2006/relationships/slideLayout" Target="/ppt/slideLayouts/slideLayout1.xml" Id="Raf4017933ae748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4017933ae748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2081c69411a44f5" /><Relationship Type="http://schemas.openxmlformats.org/officeDocument/2006/relationships/notesSlide" Target="/ppt/notesSlides/notesSlide1.xml" Id="R3e9b607cbeff4c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3e25cef766544cc" /><Relationship Type="http://schemas.openxmlformats.org/officeDocument/2006/relationships/notesSlide" Target="/ppt/notesSlides/notesSlide2.xml" Id="Red305cbc2aea4f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004989db7e4d68" /><Relationship Type="http://schemas.openxmlformats.org/officeDocument/2006/relationships/notesSlide" Target="/ppt/notesSlides/notesSlide3.xml" Id="R2bfd8090b4e34d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5e713bf03c84d54" /><Relationship Type="http://schemas.openxmlformats.org/officeDocument/2006/relationships/chart" Target="/ppt/slides/charts/chart1.xml" Id="R02207a6133c04e3c" /><Relationship Type="http://schemas.openxmlformats.org/officeDocument/2006/relationships/notesSlide" Target="/ppt/notesSlides/notesSlide4.xml" Id="R08e04e1ac77f4c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3e6054503904f52" /><Relationship Type="http://schemas.openxmlformats.org/officeDocument/2006/relationships/notesSlide" Target="/ppt/notesSlides/notesSlide5.xml" Id="Rd07f70f633ac4fd1" /></Relationships>
</file>

<file path=ppt/slides/charts/chart1.xml><?xml version="1.0" encoding="utf-8"?>
<c:chartSpace xmlns:c="http://schemas.openxmlformats.org/drawingml/2006/chart">
  <c:lang val="en-US"/>
  <c:chart>
    <c:plotArea>
      <c:barChart>
        <c:barDir val="col"/>
        <c:grouping val="clustered"/>
        <c:varyColors val="0"/>
        <c:ser>
          <c:idx val="0"/>
          <c:order val="0"/>
          <c:tx>
            <c:v>Security wait P95</c:v>
          </c:tx>
          <c:spPr>
            <a:solidFill xmlns:a="http://schemas.openxmlformats.org/drawingml/2006/main">
              <a:srgbClr val="000000"/>
            </a:solidFill>
          </c:spPr>
          <c:cat>
            <c:strLit>
              <c:ptCount val="4"/>
              <c:pt idx="0">
                <c:v>Reference</c:v>
              </c:pt>
              <c:pt idx="1">
                <c:v>Security +4</c:v>
              </c:pt>
              <c:pt idx="2">
                <c:v>Immigration +3</c:v>
              </c:pt>
              <c:pt idx="3">
                <c:v>Both +4/+3</c:v>
              </c:pt>
            </c:strLit>
          </c:cat>
          <c:val>
            <c:numLit>
              <c:formatCode>0.00</c:formatCode>
              <c:ptCount val="4"/>
              <c:pt idx="0">
                <c:v>2.318877</c:v>
              </c:pt>
              <c:pt idx="1">
                <c:v>0.530461</c:v>
              </c:pt>
              <c:pt idx="2">
                <c:v>2.318877</c:v>
              </c:pt>
              <c:pt idx="3">
                <c:v>0.530461</c:v>
              </c:pt>
            </c:numLit>
          </c:val>
        </c:ser>
        <c:ser>
          <c:idx val="1"/>
          <c:order val="1"/>
          <c:tx>
            <c:v>Immigration wait P95</c:v>
          </c:tx>
          <c:spPr>
            <a:solidFill xmlns:a="http://schemas.openxmlformats.org/drawingml/2006/main">
              <a:srgbClr val="6DCBF4"/>
            </a:solidFill>
          </c:spPr>
          <c:cat>
            <c:strLit>
              <c:ptCount val="4"/>
              <c:pt idx="0">
                <c:v>Reference</c:v>
              </c:pt>
              <c:pt idx="1">
                <c:v>Security +4</c:v>
              </c:pt>
              <c:pt idx="2">
                <c:v>Immigration +3</c:v>
              </c:pt>
              <c:pt idx="3">
                <c:v>Both +4/+3</c:v>
              </c:pt>
            </c:strLit>
          </c:cat>
          <c:val>
            <c:numLit>
              <c:formatCode>0.00</c:formatCode>
              <c:ptCount val="4"/>
              <c:pt idx="0">
                <c:v>2.334975</c:v>
              </c:pt>
              <c:pt idx="1">
                <c:v>3.259367</c:v>
              </c:pt>
              <c:pt idx="2">
                <c:v>0.359401</c:v>
              </c:pt>
              <c:pt idx="3">
                <c:v>0.705027</c:v>
              </c:pt>
            </c:numLit>
          </c:val>
        </c:ser>
        <c:ser>
          <c:idx val="2"/>
          <c:order val="2"/>
          <c:tx>
            <c:v>Total wait P95</c:v>
          </c:tx>
          <c:spPr>
            <a:solidFill xmlns:a="http://schemas.openxmlformats.org/drawingml/2006/main">
              <a:srgbClr val="3D8DFF"/>
            </a:solidFill>
          </c:spPr>
          <c:cat>
            <c:strLit>
              <c:ptCount val="4"/>
              <c:pt idx="0">
                <c:v>Reference</c:v>
              </c:pt>
              <c:pt idx="1">
                <c:v>Security +4</c:v>
              </c:pt>
              <c:pt idx="2">
                <c:v>Immigration +3</c:v>
              </c:pt>
              <c:pt idx="3">
                <c:v>Both +4/+3</c:v>
              </c:pt>
            </c:strLit>
          </c:cat>
          <c:val>
            <c:numLit>
              <c:formatCode>0.00</c:formatCode>
              <c:ptCount val="4"/>
              <c:pt idx="0">
                <c:v>3.928792</c:v>
              </c:pt>
              <c:pt idx="1">
                <c:v>3.71883</c:v>
              </c:pt>
              <c:pt idx="2">
                <c:v>2.576771</c:v>
              </c:pt>
              <c:pt idx="3">
                <c:v>1.25006</c:v>
              </c:pt>
            </c:numLit>
          </c:val>
        </c:ser>
        <c:dLbls>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00">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4"/>
          <c:min val="0"/>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1"/>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3-1">
            <a:extLst xmlns:a="http://schemas.openxmlformats.org/drawingml/2006/main">
              <a:ext uri="{FF2B5EF4-FFF2-40B4-BE49-F238E27FC236}">
                <a16:creationId xmlns:a16="http://schemas.microsoft.com/office/drawing/2014/main" id="{9288D322-DDC7-4465-82AC-EDF830779CE5}"/>
              </a:ext>
            </a:extLst>
          </p:cNvPr>
          <p:cNvSpPr>
            <a:spLocks xmlns:a="http://schemas.openxmlformats.org/drawingml/2006/main" noGrp="1"/>
          </p:cNvSpPr>
          <p:nvPr/>
        </p:nvSpPr>
        <p:spPr>
          <a:xfrm xmlns:a="http://schemas.openxmlformats.org/drawingml/2006/main">
            <a:off x="393668" y="1619250"/>
            <a:ext cx="10668000" cy="2571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5400" b="0">
                <a:solidFill>
                  <a:srgbClr val="000000"/>
                </a:solidFill>
                <a:latin typeface="Helvetica Neue"/>
                <a:ea typeface="Helvetica Neue"/>
                <a:cs typeface="Helvetica Neue"/>
              </a:defRPr>
            </a:pPr>
            <a:r>
              <a:rPr sz="5400" b="0">
                <a:solidFill>
                  <a:srgbClr val="000000"/>
                </a:solidFill>
                <a:latin typeface="Helvetica Neue"/>
                <a:ea typeface="Helvetica Neue"/>
                <a:cs typeface="Helvetica Neue"/>
              </a:rPr>
              <a:t>From 24.9 seconds of video to an auditable checkpoint what-if model</a:t>
            </a:r>
          </a:p>
        </p:txBody>
      </p:sp>
      <p:sp>
        <p:nvSpPr>
          <p:cNvPr id="2" name="Subtitle-4-2">
            <a:extLst xmlns:a="http://schemas.openxmlformats.org/drawingml/2006/main">
              <a:ext uri="{FF2B5EF4-FFF2-40B4-BE49-F238E27FC236}">
                <a16:creationId xmlns:a16="http://schemas.microsoft.com/office/drawing/2014/main" id="{339B7715-2F50-423E-A74B-06CA95BAB84F}"/>
              </a:ext>
            </a:extLst>
          </p:cNvPr>
          <p:cNvSpPr>
            <a:spLocks xmlns:a="http://schemas.openxmlformats.org/drawingml/2006/main" noGrp="1"/>
          </p:cNvSpPr>
          <p:nvPr/>
        </p:nvSpPr>
        <p:spPr>
          <a:xfrm xmlns:a="http://schemas.openxmlformats.org/drawingml/2006/main">
            <a:off x="393668" y="4572000"/>
            <a:ext cx="9525000" cy="128587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Peak-period decisions; one short local corridor clip.</a:t>
            </a:r>
          </a:p>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Human-adjudicated aggregate · executable DES · predeclared 600-run evidence</a:t>
            </a:r>
          </a:p>
        </p:txBody>
      </p:sp>
      <p:sp>
        <p:nvSpPr>
          <p:cNvPr id="3" name="Subtitle-4-3">
            <a:extLst xmlns:a="http://schemas.openxmlformats.org/drawingml/2006/main">
              <a:ext uri="{FF2B5EF4-FFF2-40B4-BE49-F238E27FC236}">
                <a16:creationId xmlns:a16="http://schemas.microsoft.com/office/drawing/2014/main" id="{259ADD88-C8CE-4179-B463-D903CA998FDC}"/>
              </a:ext>
            </a:extLst>
          </p:cNvPr>
          <p:cNvSpPr>
            <a:spLocks xmlns:a="http://schemas.openxmlformats.org/drawingml/2006/main" noGrp="1"/>
          </p:cNvSpPr>
          <p:nvPr/>
        </p:nvSpPr>
        <p:spPr>
          <a:xfrm xmlns:a="http://schemas.openxmlformats.org/drawingml/2006/main">
            <a:off x="393668" y="381000"/>
            <a:ext cx="8572500" cy="4572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WANG YU · HTX DSAI TECHNICAL ASSESSMENT · TASK 4</a:t>
            </a:r>
          </a:p>
        </p:txBody>
      </p:sp>
    </p:spTree>
    <p:extLst>
      <p:ext uri="{BB962C8B-B14F-4D97-AF65-F5344CB8AC3E}">
        <p14:creationId xmlns:p14="http://schemas.microsoft.com/office/powerpoint/2010/main" val="115334464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D38DAD70-2A86-4BD4-978B-BD273F8C6E2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2" name="Title-10-3">
            <a:extLst xmlns:a="http://schemas.openxmlformats.org/drawingml/2006/main">
              <a:ext uri="{FF2B5EF4-FFF2-40B4-BE49-F238E27FC236}">
                <a16:creationId xmlns:a16="http://schemas.microsoft.com/office/drawing/2014/main" id="{129D017A-65A3-4E55-9F0E-DC4DBDDAD9A6}"/>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Measurement, model and inference are kept separate</a:t>
            </a:r>
          </a:p>
        </p:txBody>
      </p:sp>
      <p:cxnSp>
        <p:nvCxnSpPr>
          <p:cNvPr id="27" name="Google-Shape-2259-p159-4"/>
          <p:cNvCxnSpPr/>
          <p:nvPr/>
        </p:nvCxnSpPr>
        <p:spPr>
          <a:xfrm xmlns:a="http://schemas.openxmlformats.org/drawingml/2006/main">
            <a:off x="337757" y="2857500"/>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487547AA-ECC4-4531-BD08-1C372AD76A8D}"/>
              </a:ext>
            </a:extLst>
          </p:cNvPr>
          <p:cNvSpPr>
            <a:spLocks xmlns:a="http://schemas.openxmlformats.org/drawingml/2006/main" noGrp="1"/>
          </p:cNvSpPr>
          <p:nvPr/>
        </p:nvSpPr>
        <p:spPr>
          <a:xfrm xmlns:a="http://schemas.openxmlformats.org/drawingml/2006/main">
            <a:off x="337757" y="2803970"/>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A71D475A-EDF8-4616-87BD-C163D054565C}"/>
              </a:ext>
            </a:extLst>
          </p:cNvPr>
          <p:cNvSpPr>
            <a:spLocks xmlns:a="http://schemas.openxmlformats.org/drawingml/2006/main" noGrp="1"/>
          </p:cNvSpPr>
          <p:nvPr/>
        </p:nvSpPr>
        <p:spPr>
          <a:xfrm xmlns:a="http://schemas.openxmlformats.org/drawingml/2006/main">
            <a:off x="4251770" y="2803970"/>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948C384B-9230-4861-A686-4C8CA9CCD478}"/>
              </a:ext>
            </a:extLst>
          </p:cNvPr>
          <p:cNvSpPr>
            <a:spLocks xmlns:a="http://schemas.openxmlformats.org/drawingml/2006/main" noGrp="1"/>
          </p:cNvSpPr>
          <p:nvPr/>
        </p:nvSpPr>
        <p:spPr>
          <a:xfrm xmlns:a="http://schemas.openxmlformats.org/drawingml/2006/main">
            <a:off x="8176070" y="2803970"/>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A90C8628-8309-4514-ABFD-80131C52A1EB}"/>
              </a:ext>
            </a:extLst>
          </p:cNvPr>
          <p:cNvSpPr>
            <a:spLocks xmlns:a="http://schemas.openxmlformats.org/drawingml/2006/main" noGrp="1"/>
          </p:cNvSpPr>
          <p:nvPr/>
        </p:nvSpPr>
        <p:spPr>
          <a:xfrm xmlns:a="http://schemas.openxmlformats.org/drawingml/2006/main">
            <a:off x="393668"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MEASURE</a:t>
            </a:r>
          </a:p>
        </p:txBody>
      </p:sp>
      <p:sp>
        <p:nvSpPr>
          <p:cNvPr id="8" name="Content-Placeholder-15-9">
            <a:extLst xmlns:a="http://schemas.openxmlformats.org/drawingml/2006/main">
              <a:ext uri="{FF2B5EF4-FFF2-40B4-BE49-F238E27FC236}">
                <a16:creationId xmlns:a16="http://schemas.microsoft.com/office/drawing/2014/main" id="{8AC50856-0B9B-495F-B745-200E4DC80846}"/>
              </a:ext>
            </a:extLst>
          </p:cNvPr>
          <p:cNvSpPr>
            <a:spLocks xmlns:a="http://schemas.openxmlformats.org/drawingml/2006/main" noGrp="1"/>
          </p:cNvSpPr>
          <p:nvPr/>
        </p:nvSpPr>
        <p:spPr>
          <a:xfrm xmlns:a="http://schemas.openxmlformats.org/drawingml/2006/main">
            <a:off x="4314825"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MODEL</a:t>
            </a:r>
          </a:p>
        </p:txBody>
      </p:sp>
      <p:sp>
        <p:nvSpPr>
          <p:cNvPr id="9" name="Content-Placeholder-15-10">
            <a:extLst xmlns:a="http://schemas.openxmlformats.org/drawingml/2006/main">
              <a:ext uri="{FF2B5EF4-FFF2-40B4-BE49-F238E27FC236}">
                <a16:creationId xmlns:a16="http://schemas.microsoft.com/office/drawing/2014/main" id="{B60960C8-3730-4C31-9AE0-C17FFA195361}"/>
              </a:ext>
            </a:extLst>
          </p:cNvPr>
          <p:cNvSpPr>
            <a:spLocks xmlns:a="http://schemas.openxmlformats.org/drawingml/2006/main" noGrp="1"/>
          </p:cNvSpPr>
          <p:nvPr/>
        </p:nvSpPr>
        <p:spPr>
          <a:xfrm xmlns:a="http://schemas.openxmlformats.org/drawingml/2006/main">
            <a:off x="8229600"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INFER</a:t>
            </a:r>
          </a:p>
        </p:txBody>
      </p:sp>
      <p:sp>
        <p:nvSpPr>
          <p:cNvPr id="10" name="Text-Placeholder-16-11">
            <a:extLst xmlns:a="http://schemas.openxmlformats.org/drawingml/2006/main">
              <a:ext uri="{FF2B5EF4-FFF2-40B4-BE49-F238E27FC236}">
                <a16:creationId xmlns:a16="http://schemas.microsoft.com/office/drawing/2014/main" id="{2353D8EF-2AB9-4BC4-83C6-DCEEEB69E9BE}"/>
              </a:ext>
            </a:extLst>
          </p:cNvPr>
          <p:cNvSpPr>
            <a:spLocks xmlns:a="http://schemas.openxmlformats.org/drawingml/2006/main" noGrp="1"/>
          </p:cNvSpPr>
          <p:nvPr/>
        </p:nvSpPr>
        <p:spPr>
          <a:xfrm xmlns:a="http://schemas.openxmlformats.org/drawingml/2006/main">
            <a:off x="4314825"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A minimal DES exposes the mechanism</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Poisson arrivals → pooled FCFS Security → Immigration → full drain; empty and idle start.</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36 / 21 resources; fixed 21.82 / 13.0 s service. Four capacities × three rates; no site calibration.</a:t>
            </a:r>
          </a:p>
        </p:txBody>
      </p:sp>
      <p:sp>
        <p:nvSpPr>
          <p:cNvPr id="11" name="Text-Placeholder-16-12">
            <a:extLst xmlns:a="http://schemas.openxmlformats.org/drawingml/2006/main">
              <a:ext uri="{FF2B5EF4-FFF2-40B4-BE49-F238E27FC236}">
                <a16:creationId xmlns:a16="http://schemas.microsoft.com/office/drawing/2014/main" id="{9AA59D89-3FCE-416F-9E9C-2F45161A0EC6}"/>
              </a:ext>
            </a:extLst>
          </p:cNvPr>
          <p:cNvSpPr>
            <a:spLocks xmlns:a="http://schemas.openxmlformats.org/drawingml/2006/main" noGrp="1"/>
          </p:cNvSpPr>
          <p:nvPr/>
        </p:nvSpPr>
        <p:spPr>
          <a:xfrm xmlns:a="http://schemas.openxmlformats.org/drawingml/2006/main">
            <a:off x="393668"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The count is owned; its error is explicit</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Accepted: 12 L→R / 34 R→L. Arrival anchor: 34 ÷ 24.9228 s = 1.364/s.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Exact conditional HPP 95% interval: 0.945–1.906/s. It excludes adjudication and time-of-day error.</a:t>
            </a:r>
          </a:p>
        </p:txBody>
      </p:sp>
      <p:sp>
        <p:nvSpPr>
          <p:cNvPr id="12" name="Text-Placeholder-16-13">
            <a:extLst xmlns:a="http://schemas.openxmlformats.org/drawingml/2006/main">
              <a:ext uri="{FF2B5EF4-FFF2-40B4-BE49-F238E27FC236}">
                <a16:creationId xmlns:a16="http://schemas.microsoft.com/office/drawing/2014/main" id="{5D61E3C9-CDBA-4B52-866E-004F630827F8}"/>
              </a:ext>
            </a:extLst>
          </p:cNvPr>
          <p:cNvSpPr>
            <a:spLocks xmlns:a="http://schemas.openxmlformats.org/drawingml/2006/main" noGrp="1"/>
          </p:cNvSpPr>
          <p:nvPr/>
        </p:nvSpPr>
        <p:spPr>
          <a:xfrm xmlns:a="http://schemas.openxmlformats.org/drawingml/2006/main">
            <a:off x="8229600"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One question is confirmatory</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 600 serial runs. Frozen 150 CRN groups align travellers and branch-invariant draws.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only after CRN PASS. Primary: base-rate joint +4/+3 versus reference.</a:t>
            </a:r>
          </a:p>
        </p:txBody>
      </p:sp>
    </p:spTree>
    <p:extLst>
      <p:ext uri="{BB962C8B-B14F-4D97-AF65-F5344CB8AC3E}">
        <p14:creationId xmlns:p14="http://schemas.microsoft.com/office/powerpoint/2010/main" val="4623974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Rounded-Rectangle-5-1">
            <a:extLst xmlns:a="http://schemas.openxmlformats.org/drawingml/2006/main">
              <a:ext uri="{FF2B5EF4-FFF2-40B4-BE49-F238E27FC236}">
                <a16:creationId xmlns:a16="http://schemas.microsoft.com/office/drawing/2014/main" id="{ABD6C80F-C38F-43FF-96F7-09D97564428F}"/>
              </a:ext>
            </a:extLst>
          </p:cNvPr>
          <p:cNvSpPr>
            <a:spLocks xmlns:a="http://schemas.openxmlformats.org/drawingml/2006/main" noGrp="1"/>
          </p:cNvSpPr>
          <p:nvPr/>
        </p:nvSpPr>
        <p:spPr>
          <a:xfrm xmlns:a="http://schemas.openxmlformats.org/drawingml/2006/main">
            <a:off x="393668"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200A7CB3-7E7B-405A-9694-53EBD5E477D9}"/>
              </a:ext>
            </a:extLst>
          </p:cNvPr>
          <p:cNvSpPr>
            <a:spLocks xmlns:a="http://schemas.openxmlformats.org/drawingml/2006/main" noGrp="1"/>
          </p:cNvSpPr>
          <p:nvPr/>
        </p:nvSpPr>
        <p:spPr>
          <a:xfrm xmlns:a="http://schemas.openxmlformats.org/drawingml/2006/main">
            <a:off x="4311682"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E16EAF83-C4F9-4C2D-8468-8E04D2AA076C}"/>
              </a:ext>
            </a:extLst>
          </p:cNvPr>
          <p:cNvSpPr>
            <a:spLocks xmlns:a="http://schemas.openxmlformats.org/drawingml/2006/main" noGrp="1"/>
          </p:cNvSpPr>
          <p:nvPr/>
        </p:nvSpPr>
        <p:spPr>
          <a:xfrm xmlns:a="http://schemas.openxmlformats.org/drawingml/2006/main">
            <a:off x="8232267"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5EBEC7DA-1448-4CDE-A649-37F5DB8B5B1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5" name="Title-2-5">
            <a:extLst xmlns:a="http://schemas.openxmlformats.org/drawingml/2006/main">
              <a:ext uri="{FF2B5EF4-FFF2-40B4-BE49-F238E27FC236}">
                <a16:creationId xmlns:a16="http://schemas.microsoft.com/office/drawing/2014/main" id="{C9A4D58F-1822-47DA-98B7-4FBC77D98298}"/>
              </a:ext>
            </a:extLst>
          </p:cNvPr>
          <p:cNvSpPr>
            <a:spLocks xmlns:a="http://schemas.openxmlformats.org/drawingml/2006/main" noGrp="1"/>
          </p:cNvSpPr>
          <p:nvPr/>
        </p:nvSpPr>
        <p:spPr>
          <a:xfrm xmlns:a="http://schemas.openxmlformats.org/drawingml/2006/main">
            <a:off x="393668" y="323850"/>
            <a:ext cx="11404568" cy="7429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The 600-run claim is predeclared, paired and auditable</a:t>
            </a:r>
          </a:p>
        </p:txBody>
      </p:sp>
      <p:sp>
        <p:nvSpPr>
          <p:cNvPr id="6" name="Content-Placeholder-9-6">
            <a:extLst xmlns:a="http://schemas.openxmlformats.org/drawingml/2006/main">
              <a:ext uri="{FF2B5EF4-FFF2-40B4-BE49-F238E27FC236}">
                <a16:creationId xmlns:a16="http://schemas.microsoft.com/office/drawing/2014/main" id="{1C6B5623-A0A6-49BC-AA8A-957A6E0065C3}"/>
              </a:ext>
            </a:extLst>
          </p:cNvPr>
          <p:cNvSpPr>
            <a:spLocks xmlns:a="http://schemas.openxmlformats.org/drawingml/2006/main" noGrp="1"/>
          </p:cNvSpPr>
          <p:nvPr/>
        </p:nvSpPr>
        <p:spPr>
          <a:xfrm xmlns:a="http://schemas.openxmlformats.org/drawingml/2006/main">
            <a:off x="70237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replications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253,756 traveller rows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strict coverage PASS</a:t>
            </a:r>
          </a:p>
        </p:txBody>
      </p:sp>
      <p:sp>
        <p:nvSpPr>
          <p:cNvPr id="7" name="Content-Placeholder-10-7">
            <a:extLst xmlns:a="http://schemas.openxmlformats.org/drawingml/2006/main">
              <a:ext uri="{FF2B5EF4-FFF2-40B4-BE49-F238E27FC236}">
                <a16:creationId xmlns:a16="http://schemas.microsoft.com/office/drawing/2014/main" id="{935125B4-FFFD-4636-91CE-49671F834417}"/>
              </a:ext>
            </a:extLst>
          </p:cNvPr>
          <p:cNvSpPr>
            <a:spLocks xmlns:a="http://schemas.openxmlformats.org/drawingml/2006/main" noGrp="1"/>
          </p:cNvSpPr>
          <p:nvPr/>
        </p:nvSpPr>
        <p:spPr>
          <a:xfrm xmlns:a="http://schemas.openxmlformats.org/drawingml/2006/main">
            <a:off x="8541830"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Actual 95% half-width</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target ≤ 1.0 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no post-hoc runs</a:t>
            </a:r>
          </a:p>
        </p:txBody>
      </p:sp>
      <p:sp>
        <p:nvSpPr>
          <p:cNvPr id="8" name="Content-Placeholder-11-8">
            <a:extLst xmlns:a="http://schemas.openxmlformats.org/drawingml/2006/main">
              <a:ext uri="{FF2B5EF4-FFF2-40B4-BE49-F238E27FC236}">
                <a16:creationId xmlns:a16="http://schemas.microsoft.com/office/drawing/2014/main" id="{85A00259-C2B9-427C-99EE-5574837B160B}"/>
              </a:ext>
            </a:extLst>
          </p:cNvPr>
          <p:cNvSpPr>
            <a:spLocks xmlns:a="http://schemas.openxmlformats.org/drawingml/2006/main" noGrp="1"/>
          </p:cNvSpPr>
          <p:nvPr/>
        </p:nvSpPr>
        <p:spPr>
          <a:xfrm xmlns:a="http://schemas.openxmlformats.org/drawingml/2006/main">
            <a:off x="462124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150 pairing groups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1,141,902 draw checks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t authorised</a:t>
            </a:r>
          </a:p>
        </p:txBody>
      </p:sp>
      <p:sp>
        <p:nvSpPr>
          <p:cNvPr id="9" name="Content-Placeholder-9-9">
            <a:extLst xmlns:a="http://schemas.openxmlformats.org/drawingml/2006/main">
              <a:ext uri="{FF2B5EF4-FFF2-40B4-BE49-F238E27FC236}">
                <a16:creationId xmlns:a16="http://schemas.microsoft.com/office/drawing/2014/main" id="{1C1CA881-1E2C-4353-A0D1-3EEACE6E3E2F}"/>
              </a:ext>
            </a:extLst>
          </p:cNvPr>
          <p:cNvSpPr>
            <a:spLocks xmlns:a="http://schemas.openxmlformats.org/drawingml/2006/main" noGrp="1"/>
          </p:cNvSpPr>
          <p:nvPr/>
        </p:nvSpPr>
        <p:spPr>
          <a:xfrm xmlns:a="http://schemas.openxmlformats.org/drawingml/2006/main">
            <a:off x="70237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600 / 600</a:t>
            </a:r>
          </a:p>
        </p:txBody>
      </p:sp>
      <p:sp>
        <p:nvSpPr>
          <p:cNvPr id="10" name="Content-Placeholder-9-10">
            <a:extLst xmlns:a="http://schemas.openxmlformats.org/drawingml/2006/main">
              <a:ext uri="{FF2B5EF4-FFF2-40B4-BE49-F238E27FC236}">
                <a16:creationId xmlns:a16="http://schemas.microsoft.com/office/drawing/2014/main" id="{C96B3E29-F756-45E7-A465-063F96184D56}"/>
              </a:ext>
            </a:extLst>
          </p:cNvPr>
          <p:cNvSpPr>
            <a:spLocks xmlns:a="http://schemas.openxmlformats.org/drawingml/2006/main" noGrp="1"/>
          </p:cNvSpPr>
          <p:nvPr/>
        </p:nvSpPr>
        <p:spPr>
          <a:xfrm xmlns:a="http://schemas.openxmlformats.org/drawingml/2006/main">
            <a:off x="4612958"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3750" b="1">
                <a:solidFill>
                  <a:srgbClr val="000000"/>
                </a:solidFill>
                <a:latin typeface="Helvetica Neue"/>
                <a:ea typeface="Helvetica Neue"/>
                <a:cs typeface="Helvetica Neue"/>
              </a:defRPr>
            </a:pPr>
            <a:r>
              <a:rPr sz="3750" b="1">
                <a:solidFill>
                  <a:srgbClr val="000000"/>
                </a:solidFill>
                <a:latin typeface="Helvetica Neue"/>
                <a:ea typeface="Helvetica Neue"/>
                <a:cs typeface="Helvetica Neue"/>
              </a:rPr>
              <a:t>CRN PASS</a:t>
            </a:r>
          </a:p>
        </p:txBody>
      </p:sp>
      <p:sp>
        <p:nvSpPr>
          <p:cNvPr id="11" name="Content-Placeholder-9-11">
            <a:extLst xmlns:a="http://schemas.openxmlformats.org/drawingml/2006/main">
              <a:ext uri="{FF2B5EF4-FFF2-40B4-BE49-F238E27FC236}">
                <a16:creationId xmlns:a16="http://schemas.microsoft.com/office/drawing/2014/main" id="{C226B1E0-29FF-458E-B5F1-A730B0B73A47}"/>
              </a:ext>
            </a:extLst>
          </p:cNvPr>
          <p:cNvSpPr>
            <a:spLocks xmlns:a="http://schemas.openxmlformats.org/drawingml/2006/main" noGrp="1"/>
          </p:cNvSpPr>
          <p:nvPr/>
        </p:nvSpPr>
        <p:spPr>
          <a:xfrm xmlns:a="http://schemas.openxmlformats.org/drawingml/2006/main">
            <a:off x="856240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0.382 s</a:t>
            </a:r>
          </a:p>
        </p:txBody>
      </p:sp>
      <p:sp>
        <p:nvSpPr>
          <p:cNvPr id="12" name="Content-Placeholder-15-12">
            <a:extLst xmlns:a="http://schemas.openxmlformats.org/drawingml/2006/main">
              <a:ext uri="{FF2B5EF4-FFF2-40B4-BE49-F238E27FC236}">
                <a16:creationId xmlns:a16="http://schemas.microsoft.com/office/drawing/2014/main" id="{46CB0780-B1AF-4986-A806-811D3AB10704}"/>
              </a:ext>
            </a:extLst>
          </p:cNvPr>
          <p:cNvSpPr>
            <a:spLocks xmlns:a="http://schemas.openxmlformats.org/drawingml/2006/main" noGrp="1"/>
          </p:cNvSpPr>
          <p:nvPr/>
        </p:nvSpPr>
        <p:spPr>
          <a:xfrm xmlns:a="http://schemas.openxmlformats.org/drawingml/2006/main">
            <a:off x="393668" y="1104900"/>
            <a:ext cx="11404568" cy="1809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ONE PRIMARY CONTRAST · FIXED N · NO POST-HOC EXTENSION</a:t>
            </a:r>
          </a:p>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Base-rate joint +4/+3 minus reference; low/high rate endpoints are supporting. N=50 per cell was frozen from pilot precision before outcome inspection.</a:t>
            </a:r>
          </a:p>
          <a:p xmlns:a="http://schemas.openxmlformats.org/drawingml/2006/main">
            <a:pPr algn="l">
              <a:spcBef>
                <a:spcPts val="0"/>
              </a:spcBef>
              <a:spcAft>
                <a:spcPts val="5"/>
              </a:spcAft>
              <a:defRPr sz="1600">
                <a:solidFill>
                  <a:srgbClr val="000000"/>
                </a:solidFill>
                <a:latin typeface="Helvetica Neue"/>
                <a:ea typeface="Helvetica Neue"/>
                <a:cs typeface="Helvetica Neue"/>
              </a:defRPr>
            </a:pPr>
            <a:r>
              <a:rPr sz="1600" b="1">
                <a:solidFill>
                  <a:srgbClr val="000000"/>
                </a:solidFill>
                <a:latin typeface="Helvetica Neue"/>
                <a:ea typeface="Helvetica Neue"/>
                <a:cs typeface="Helvetica Neue"/>
              </a:rPr>
              <a:t>Conditional model: pooled FCFS · fixed service · empty start · full drain · not calibrated HTX performance.</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Executed 600/600 runs · 253,756 traveller rows · exact coverage, conservation and CRN validators PASS.</a:t>
            </a:r>
          </a:p>
        </p:txBody>
      </p:sp>
    </p:spTree>
    <p:extLst>
      <p:ext uri="{BB962C8B-B14F-4D97-AF65-F5344CB8AC3E}">
        <p14:creationId xmlns:p14="http://schemas.microsoft.com/office/powerpoint/2010/main" val="68489495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2" name="results-title">
            <a:extLst xmlns:a="http://schemas.openxmlformats.org/drawingml/2006/main">
              <a:ext uri="{FF2B5EF4-FFF2-40B4-BE49-F238E27FC236}">
                <a16:creationId xmlns:a16="http://schemas.microsoft.com/office/drawing/2014/main" id="{5307FA94-A9D9-4290-8525-95CE199D25A6}"/>
              </a:ext>
            </a:extLst>
          </p:cNvPr>
          <p:cNvSpPr>
            <a:spLocks xmlns:a="http://schemas.openxmlformats.org/drawingml/2006/main" noGrp="1"/>
          </p:cNvSpPr>
          <p:nvPr/>
        </p:nvSpPr>
        <p:spPr>
          <a:xfrm xmlns:a="http://schemas.openxmlformats.org/drawingml/2006/main">
            <a:off x="393668" y="323850"/>
            <a:ext cx="11404568" cy="7239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Joint +4/+3 cuts base-rate P95; the modelled gain is rate-dependent</a:t>
            </a:r>
          </a:p>
        </p:txBody>
      </p:sp>
      <p:sp>
        <p:nvSpPr>
          <p:cNvPr id="2" name="chart-label">
            <a:extLst xmlns:a="http://schemas.openxmlformats.org/drawingml/2006/main">
              <a:ext uri="{FF2B5EF4-FFF2-40B4-BE49-F238E27FC236}">
                <a16:creationId xmlns:a16="http://schemas.microsoft.com/office/drawing/2014/main" id="{37E96706-C8D5-4C18-9E58-D0BA6B60FBE3}"/>
              </a:ext>
            </a:extLst>
          </p:cNvPr>
          <p:cNvSpPr>
            <a:spLocks xmlns:a="http://schemas.openxmlformats.org/drawingml/2006/main" noGrp="1"/>
          </p:cNvSpPr>
          <p:nvPr/>
        </p:nvSpPr>
        <p:spPr>
          <a:xfrm xmlns:a="http://schemas.openxmlformats.org/drawingml/2006/main">
            <a:off x="438150" y="1104900"/>
            <a:ext cx="5810250" cy="2667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Base-rate mean stage queue-wait P95 (s), n=50/cell</a:t>
            </a:r>
          </a:p>
        </p:txBody>
      </p:sp>
      <p:sp>
        <p:nvSpPr>
          <p:cNvPr id="3" name="callout-1-bg">
            <a:extLst xmlns:a="http://schemas.openxmlformats.org/drawingml/2006/main">
              <a:ext uri="{FF2B5EF4-FFF2-40B4-BE49-F238E27FC236}">
                <a16:creationId xmlns:a16="http://schemas.microsoft.com/office/drawing/2014/main" id="{E283465D-3155-408A-B407-4DACB608C9BA}"/>
              </a:ext>
            </a:extLst>
          </p:cNvPr>
          <p:cNvSpPr>
            <a:spLocks xmlns:a="http://schemas.openxmlformats.org/drawingml/2006/main" noGrp="1"/>
          </p:cNvSpPr>
          <p:nvPr/>
        </p:nvSpPr>
        <p:spPr>
          <a:xfrm xmlns:a="http://schemas.openxmlformats.org/drawingml/2006/main">
            <a:off x="6572250" y="1143000"/>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4" name="callout-1">
            <a:extLst xmlns:a="http://schemas.openxmlformats.org/drawingml/2006/main">
              <a:ext uri="{FF2B5EF4-FFF2-40B4-BE49-F238E27FC236}">
                <a16:creationId xmlns:a16="http://schemas.microsoft.com/office/drawing/2014/main" id="{00666F93-A6DE-48B7-9502-9EA92D21A081}"/>
              </a:ext>
            </a:extLst>
          </p:cNvPr>
          <p:cNvSpPr>
            <a:spLocks xmlns:a="http://schemas.openxmlformats.org/drawingml/2006/main" noGrp="1"/>
          </p:cNvSpPr>
          <p:nvPr/>
        </p:nvSpPr>
        <p:spPr>
          <a:xfrm xmlns:a="http://schemas.openxmlformats.org/drawingml/2006/main">
            <a:off x="6800850" y="129540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6"/>
              </a:spcAft>
              <a:defRPr sz="1600">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Primary effect: −2.679 s</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Joint minus reference [95% paired CI −3.061, −2.297]. Half-width 0.382 s; target ≤ 1.0 s.</a:t>
            </a:r>
          </a:p>
        </p:txBody>
      </p:sp>
      <p:sp>
        <p:nvSpPr>
          <p:cNvPr id="5" name="callout-2-bg">
            <a:extLst xmlns:a="http://schemas.openxmlformats.org/drawingml/2006/main">
              <a:ext uri="{FF2B5EF4-FFF2-40B4-BE49-F238E27FC236}">
                <a16:creationId xmlns:a16="http://schemas.microsoft.com/office/drawing/2014/main" id="{5765B154-B79E-4702-A998-27A114425999}"/>
              </a:ext>
            </a:extLst>
          </p:cNvPr>
          <p:cNvSpPr>
            <a:spLocks xmlns:a="http://schemas.openxmlformats.org/drawingml/2006/main" noGrp="1"/>
          </p:cNvSpPr>
          <p:nvPr/>
        </p:nvSpPr>
        <p:spPr>
          <a:xfrm xmlns:a="http://schemas.openxmlformats.org/drawingml/2006/main">
            <a:off x="6572250" y="2790825"/>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6" name="callout-2">
            <a:extLst xmlns:a="http://schemas.openxmlformats.org/drawingml/2006/main">
              <a:ext uri="{FF2B5EF4-FFF2-40B4-BE49-F238E27FC236}">
                <a16:creationId xmlns:a16="http://schemas.microsoft.com/office/drawing/2014/main" id="{472EBB82-CE8B-4E35-AB56-7CD70D34C8FF}"/>
              </a:ext>
            </a:extLst>
          </p:cNvPr>
          <p:cNvSpPr>
            <a:spLocks xmlns:a="http://schemas.openxmlformats.org/drawingml/2006/main" noGrp="1"/>
          </p:cNvSpPr>
          <p:nvPr/>
        </p:nvSpPr>
        <p:spPr>
          <a:xfrm xmlns:a="http://schemas.openxmlformats.org/drawingml/2006/main">
            <a:off x="6800850" y="2943225"/>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Supporting rate sensitivity</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Reference minus joint: 0.067 s low; 2.679 s base; 33.158 s high. All three paired intervals exclude zero.</a:t>
            </a:r>
          </a:p>
        </p:txBody>
      </p:sp>
      <p:sp>
        <p:nvSpPr>
          <p:cNvPr id="7" name="callout-3-bg">
            <a:extLst xmlns:a="http://schemas.openxmlformats.org/drawingml/2006/main">
              <a:ext uri="{FF2B5EF4-FFF2-40B4-BE49-F238E27FC236}">
                <a16:creationId xmlns:a16="http://schemas.microsoft.com/office/drawing/2014/main" id="{121BC9E9-AFD6-4420-9AA0-3230B94CF3BB}"/>
              </a:ext>
            </a:extLst>
          </p:cNvPr>
          <p:cNvSpPr>
            <a:spLocks xmlns:a="http://schemas.openxmlformats.org/drawingml/2006/main" noGrp="1"/>
          </p:cNvSpPr>
          <p:nvPr/>
        </p:nvSpPr>
        <p:spPr>
          <a:xfrm xmlns:a="http://schemas.openxmlformats.org/drawingml/2006/main">
            <a:off x="6572250" y="4438650"/>
            <a:ext cx="5219700" cy="1409700"/>
          </a:xfrm>
          <a:prstGeom xmlns:a="http://schemas.openxmlformats.org/drawingml/2006/main" prst="roundRect">
            <a:avLst>
              <a:gd name="adj" fmla="val 5405"/>
            </a:avLst>
          </a:prstGeom>
          <a:solidFill xmlns:a="http://schemas.openxmlformats.org/drawingml/2006/main">
            <a:srgbClr val="EAF5FB"/>
          </a:solidFill>
        </p:spPr>
      </p:sp>
      <p:sp>
        <p:nvSpPr>
          <p:cNvPr id="8" name="callout-3">
            <a:extLst xmlns:a="http://schemas.openxmlformats.org/drawingml/2006/main">
              <a:ext uri="{FF2B5EF4-FFF2-40B4-BE49-F238E27FC236}">
                <a16:creationId xmlns:a16="http://schemas.microsoft.com/office/drawing/2014/main" id="{8269973B-90B6-41F4-BD3D-0D28760D9AF7}"/>
              </a:ext>
            </a:extLst>
          </p:cNvPr>
          <p:cNvSpPr>
            <a:spLocks xmlns:a="http://schemas.openxmlformats.org/drawingml/2006/main" noGrp="1"/>
          </p:cNvSpPr>
          <p:nvPr/>
        </p:nvSpPr>
        <p:spPr>
          <a:xfrm xmlns:a="http://schemas.openxmlformats.org/drawingml/2006/main">
            <a:off x="6800850" y="459105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Joint is lowest or tied-lowest—not dominant</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At the low endpoint, Joint and Immigration +3 tie at 0.000 s. Joint is lowest at base/high; some supporting intervals remain unresolved.</a:t>
            </a:r>
          </a:p>
        </p:txBody>
      </p:sp>
      <p:sp>
        <p:nvSpPr>
          <p:cNvPr id="9" name="results-boundary">
            <a:extLst xmlns:a="http://schemas.openxmlformats.org/drawingml/2006/main">
              <a:ext uri="{FF2B5EF4-FFF2-40B4-BE49-F238E27FC236}">
                <a16:creationId xmlns:a16="http://schemas.microsoft.com/office/drawing/2014/main" id="{3D5C5366-B49C-4D07-BFEE-3692D494DCDB}"/>
              </a:ext>
            </a:extLst>
          </p:cNvPr>
          <p:cNvSpPr>
            <a:spLocks xmlns:a="http://schemas.openxmlformats.org/drawingml/2006/main" noGrp="1"/>
          </p:cNvSpPr>
          <p:nvPr/>
        </p:nvSpPr>
        <p:spPr>
          <a:xfrm xmlns:a="http://schemas.openxmlformats.org/drawingml/2006/main">
            <a:off x="400050" y="6019800"/>
            <a:ext cx="10572750" cy="50482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Confirmatory primary contrast · 12 cells × 50 · CRN PASS → paired 95% CI</a:t>
            </a:r>
          </a:p>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Rate rankings supporting · exact HPP count interval · fixed service · pooled FCFS</a:t>
            </a:r>
          </a:p>
        </p:txBody>
      </p:sp>
      <p:sp>
        <p:nvSpPr>
          <p:cNvPr id="10" name="results-footer">
            <a:extLst xmlns:a="http://schemas.openxmlformats.org/drawingml/2006/main">
              <a:ext uri="{FF2B5EF4-FFF2-40B4-BE49-F238E27FC236}">
                <a16:creationId xmlns:a16="http://schemas.microsoft.com/office/drawing/2014/main" id="{27597D40-AFDB-4FC0-ACD9-A4DD815D8485}"/>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graphicFrame>
        <p:nvGraphicFramePr>
          <p:cNvPr id="24" name="Chart"/>
          <p:cNvGraphicFramePr/>
          <p:nvPr/>
        </p:nvGraphicFramePr>
        <p:xfrm>
          <a:off xmlns:a="http://schemas.openxmlformats.org/drawingml/2006/main" x="400050" y="1381125"/>
          <a:ext xmlns:a="http://schemas.openxmlformats.org/drawingml/2006/main" cx="5762625" cy="4476750"/>
        </p:xfrm>
        <a:graphic xmlns:a="http://schemas.openxmlformats.org/drawingml/2006/main">
          <a:graphicData uri="http://schemas.openxmlformats.org/drawingml/2006/chart">
            <c:chart xmlns:r="http://schemas.openxmlformats.org/officeDocument/2006/relationships" xmlns:c="http://schemas.openxmlformats.org/drawingml/2006/chart" r:id="R02207a6133c04e3c"/>
          </a:graphicData>
        </a:graphic>
      </p:graphicFrame>
    </p:spTree>
    <p:extLst>
      <p:ext uri="{BB962C8B-B14F-4D97-AF65-F5344CB8AC3E}">
        <p14:creationId xmlns:p14="http://schemas.microsoft.com/office/powerpoint/2010/main" val="19287069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Google-Shape-532-p58-2">
            <a:extLst xmlns:a="http://schemas.openxmlformats.org/drawingml/2006/main">
              <a:ext uri="{FF2B5EF4-FFF2-40B4-BE49-F238E27FC236}">
                <a16:creationId xmlns:a16="http://schemas.microsoft.com/office/drawing/2014/main" id="{781BD1AE-7A11-4633-9882-26A54E61AC61}"/>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Google-Shape-533-p58-3">
            <a:extLst xmlns:a="http://schemas.openxmlformats.org/drawingml/2006/main">
              <a:ext uri="{FF2B5EF4-FFF2-40B4-BE49-F238E27FC236}">
                <a16:creationId xmlns:a16="http://schemas.microsoft.com/office/drawing/2014/main" id="{60D39F14-0FCC-4D48-84A9-503858E93BCD}"/>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Advance joint +4/+3 to field calibration—not staffing rollout</a:t>
            </a:r>
          </a:p>
        </p:txBody>
      </p:sp>
      <p:sp>
        <p:nvSpPr>
          <p:cNvPr id="3" name="Google-Shape-534-p58-4">
            <a:extLst xmlns:a="http://schemas.openxmlformats.org/drawingml/2006/main">
              <a:ext uri="{FF2B5EF4-FFF2-40B4-BE49-F238E27FC236}">
                <a16:creationId xmlns:a16="http://schemas.microsoft.com/office/drawing/2014/main" id="{7F8701F3-1B1E-49E7-8742-4A2E4C408D79}"/>
              </a:ext>
            </a:extLst>
          </p:cNvPr>
          <p:cNvSpPr>
            <a:spLocks xmlns:a="http://schemas.openxmlformats.org/drawingml/2006/main" noGrp="1"/>
          </p:cNvSpPr>
          <p:nvPr/>
        </p:nvSpPr>
        <p:spPr>
          <a:xfrm xmlns:a="http://schemas.openxmlformats.org/drawingml/2006/main">
            <a:off x="393668" y="1619250"/>
            <a:ext cx="1000125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000000"/>
                </a:solidFill>
                <a:latin typeface="Helvetica Neue"/>
                <a:ea typeface="Helvetica Neue"/>
                <a:cs typeface="Helvetica Neue"/>
              </a:defRPr>
            </a:pPr>
            <a:r>
              <a:rPr sz="2100" b="0">
                <a:solidFill>
                  <a:srgbClr val="000000"/>
                </a:solidFill>
                <a:latin typeface="Helvetica Neue"/>
                <a:ea typeface="Helvetica Neue"/>
                <a:cs typeface="Helvetica Neue"/>
              </a:rPr>
              <a:t>Confirmatory mechanism PASS → field calibration → costed operational trial</a:t>
            </a:r>
          </a:p>
        </p:txBody>
      </p:sp>
      <p:sp>
        <p:nvSpPr>
          <p:cNvPr id="4" name="Content-Placeholder-10-5">
            <a:extLst xmlns:a="http://schemas.openxmlformats.org/drawingml/2006/main">
              <a:ext uri="{FF2B5EF4-FFF2-40B4-BE49-F238E27FC236}">
                <a16:creationId xmlns:a16="http://schemas.microsoft.com/office/drawing/2014/main" id="{1F734D25-6349-400F-AF66-BD1D9FB85B0D}"/>
              </a:ext>
            </a:extLst>
          </p:cNvPr>
          <p:cNvSpPr>
            <a:spLocks xmlns:a="http://schemas.openxmlformats.org/drawingml/2006/main" noGrp="1"/>
          </p:cNvSpPr>
          <p:nvPr/>
        </p:nvSpPr>
        <p:spPr>
          <a:xfrm xmlns:a="http://schemas.openxmlformats.org/drawingml/2006/main">
            <a:off x="7886700" y="29241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Collect time-of-day arrivals and signed event times</a:t>
            </a:r>
          </a:p>
        </p:txBody>
      </p:sp>
      <p:sp>
        <p:nvSpPr>
          <p:cNvPr id="5" name="Google-Shape-340-p61-6">
            <a:extLst xmlns:a="http://schemas.openxmlformats.org/drawingml/2006/main">
              <a:ext uri="{FF2B5EF4-FFF2-40B4-BE49-F238E27FC236}">
                <a16:creationId xmlns:a16="http://schemas.microsoft.com/office/drawing/2014/main" id="{6E6D46D7-9507-4899-9A12-17E0E2922281}"/>
              </a:ext>
            </a:extLst>
          </p:cNvPr>
          <p:cNvSpPr>
            <a:spLocks xmlns:a="http://schemas.openxmlformats.org/drawingml/2006/main" noGrp="1"/>
          </p:cNvSpPr>
          <p:nvPr/>
        </p:nvSpPr>
        <p:spPr>
          <a:xfrm xmlns:a="http://schemas.openxmlformats.org/drawingml/2006/main">
            <a:off x="7507700" y="30151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6" name="TextBox-11-7">
            <a:extLst xmlns:a="http://schemas.openxmlformats.org/drawingml/2006/main">
              <a:ext uri="{FF2B5EF4-FFF2-40B4-BE49-F238E27FC236}">
                <a16:creationId xmlns:a16="http://schemas.microsoft.com/office/drawing/2014/main" id="{CBEFA16B-F7C2-4B24-A924-9B27DF4A85C6}"/>
              </a:ext>
            </a:extLst>
          </p:cNvPr>
          <p:cNvSpPr>
            <a:spLocks xmlns:a="http://schemas.openxmlformats.org/drawingml/2006/main" noGrp="1"/>
          </p:cNvSpPr>
          <p:nvPr/>
        </p:nvSpPr>
        <p:spPr>
          <a:xfrm xmlns:a="http://schemas.openxmlformats.org/drawingml/2006/main">
            <a:off x="393668" y="2781300"/>
            <a:ext cx="6191250" cy="3143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Decision supported: carry joint +4/+3 forward</a:t>
            </a:r>
          </a:p>
          <a:p xmlns:a="http://schemas.openxmlformats.org/drawingml/2006/main">
            <a:pPr algn="l">
              <a:spcBef>
                <a:spcPts val="0"/>
              </a:spcBef>
              <a:spcAft>
                <a:spcPts val="2"/>
              </a:spcAft>
              <a:defRPr sz="1600">
                <a:solidFill>
                  <a:srgbClr val="000000"/>
                </a:solidFill>
                <a:latin typeface="Helvetica Neue"/>
                <a:ea typeface="Helvetica Neue"/>
                <a:cs typeface="Helvetica Neue"/>
              </a:defRPr>
            </a:pPr>
            <a:r>
              <a:rPr sz="2250" b="1">
                <a:solidFill>
                  <a:srgbClr val="3D8DFF"/>
                </a:solidFill>
                <a:latin typeface="Helvetica Neue"/>
                <a:ea typeface="Helvetica Neue"/>
                <a:cs typeface="Helvetica Neue"/>
              </a:rPr>
              <a:t>Base-rate reduction: 2.679 s</a:t>
            </a:r>
          </a:p>
          <a:p xmlns:a="http://schemas.openxmlformats.org/drawingml/2006/main">
            <a:pPr algn="l">
              <a:spcBef>
                <a:spcPts val="0"/>
              </a:spcBef>
              <a:spcAft>
                <a:spcPts val="7"/>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95% paired CI 2.297–3.061 · half-width 0.382 s</a:t>
            </a:r>
          </a:p>
          <a:p xmlns:a="http://schemas.openxmlformats.org/drawingml/2006/main">
            <a:pPr algn="l">
              <a:spcBef>
                <a:spcPts val="0"/>
              </a:spcBef>
              <a:spcAft>
                <a:spcPts val="2"/>
              </a:spcAft>
              <a:defRPr sz="1600">
                <a:solidFill>
                  <a:srgbClr val="000000"/>
                </a:solidFill>
                <a:latin typeface="Helvetica Neue"/>
                <a:ea typeface="Helvetica Neue"/>
                <a:cs typeface="Helvetica Neue"/>
              </a:defRPr>
            </a:pPr>
            <a:r>
              <a:rPr sz="2175" b="1">
                <a:solidFill>
                  <a:srgbClr val="3D8DFF"/>
                </a:solidFill>
                <a:latin typeface="Helvetica Neue"/>
                <a:ea typeface="Helvetica Neue"/>
                <a:cs typeface="Helvetica Neue"/>
              </a:rPr>
              <a:t>Lowest or tied-lowest at all 3 rates</a:t>
            </a:r>
          </a:p>
          <a:p xmlns:a="http://schemas.openxmlformats.org/drawingml/2006/main">
            <a:pPr algn="l">
              <a:spcBef>
                <a:spcPts val="0"/>
              </a:spcBef>
              <a:spcAft>
                <a:spcPts val="8"/>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Low: tied with Immigration +3 · base/high: lowest point estimate</a:t>
            </a:r>
          </a:p>
          <a:p xmlns:a="http://schemas.openxmlformats.org/drawingml/2006/main">
            <a:pPr algn="l">
              <a:spcBef>
                <a:spcPts val="0"/>
              </a:spcBef>
              <a:spcAft>
                <a:spcPts val="0"/>
              </a:spcAft>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Not a staffing, forecast, cost or site-validation result. The largest uncertainty is real time-of-day arrivals and stage service distributions.</a:t>
            </a:r>
          </a:p>
        </p:txBody>
      </p:sp>
      <p:sp>
        <p:nvSpPr>
          <p:cNvPr id="7" name="Content-Placeholder-10-8">
            <a:extLst xmlns:a="http://schemas.openxmlformats.org/drawingml/2006/main">
              <a:ext uri="{FF2B5EF4-FFF2-40B4-BE49-F238E27FC236}">
                <a16:creationId xmlns:a16="http://schemas.microsoft.com/office/drawing/2014/main" id="{9655FE59-28B3-4208-9D38-8CA87FE9D7E8}"/>
              </a:ext>
            </a:extLst>
          </p:cNvPr>
          <p:cNvSpPr>
            <a:spLocks xmlns:a="http://schemas.openxmlformats.org/drawingml/2006/main" noGrp="1"/>
          </p:cNvSpPr>
          <p:nvPr/>
        </p:nvSpPr>
        <p:spPr>
          <a:xfrm xmlns:a="http://schemas.openxmlformats.org/drawingml/2006/main">
            <a:off x="7886700" y="35337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Measure stage service-time and exception distributions</a:t>
            </a:r>
          </a:p>
        </p:txBody>
      </p:sp>
      <p:sp>
        <p:nvSpPr>
          <p:cNvPr id="8" name="Google-Shape-340-p61-9">
            <a:extLst xmlns:a="http://schemas.openxmlformats.org/drawingml/2006/main">
              <a:ext uri="{FF2B5EF4-FFF2-40B4-BE49-F238E27FC236}">
                <a16:creationId xmlns:a16="http://schemas.microsoft.com/office/drawing/2014/main" id="{CC826CCF-C388-4016-A482-29D3EE8809DD}"/>
              </a:ext>
            </a:extLst>
          </p:cNvPr>
          <p:cNvSpPr>
            <a:spLocks xmlns:a="http://schemas.openxmlformats.org/drawingml/2006/main" noGrp="1"/>
          </p:cNvSpPr>
          <p:nvPr/>
        </p:nvSpPr>
        <p:spPr>
          <a:xfrm xmlns:a="http://schemas.openxmlformats.org/drawingml/2006/main">
            <a:off x="7507700" y="36247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9" name="Content-Placeholder-10-10">
            <a:extLst xmlns:a="http://schemas.openxmlformats.org/drawingml/2006/main">
              <a:ext uri="{FF2B5EF4-FFF2-40B4-BE49-F238E27FC236}">
                <a16:creationId xmlns:a16="http://schemas.microsoft.com/office/drawing/2014/main" id="{D0C114C5-CD12-458B-A70E-03F6AAD9C325}"/>
              </a:ext>
            </a:extLst>
          </p:cNvPr>
          <p:cNvSpPr>
            <a:spLocks xmlns:a="http://schemas.openxmlformats.org/drawingml/2006/main" noGrp="1"/>
          </p:cNvSpPr>
          <p:nvPr/>
        </p:nvSpPr>
        <p:spPr>
          <a:xfrm xmlns:a="http://schemas.openxmlformats.org/drawingml/2006/main">
            <a:off x="7886700" y="41433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Observe queues, open resources, rosters and downtime</a:t>
            </a:r>
          </a:p>
        </p:txBody>
      </p:sp>
      <p:sp>
        <p:nvSpPr>
          <p:cNvPr id="10" name="Google-Shape-340-p61-11">
            <a:extLst xmlns:a="http://schemas.openxmlformats.org/drawingml/2006/main">
              <a:ext uri="{FF2B5EF4-FFF2-40B4-BE49-F238E27FC236}">
                <a16:creationId xmlns:a16="http://schemas.microsoft.com/office/drawing/2014/main" id="{7BA09227-E603-41B2-A52E-4BA0F973A16E}"/>
              </a:ext>
            </a:extLst>
          </p:cNvPr>
          <p:cNvSpPr>
            <a:spLocks xmlns:a="http://schemas.openxmlformats.org/drawingml/2006/main" noGrp="1"/>
          </p:cNvSpPr>
          <p:nvPr/>
        </p:nvSpPr>
        <p:spPr>
          <a:xfrm xmlns:a="http://schemas.openxmlformats.org/drawingml/2006/main">
            <a:off x="7507700" y="42395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1" name="Content-Placeholder-10-12">
            <a:extLst xmlns:a="http://schemas.openxmlformats.org/drawingml/2006/main">
              <a:ext uri="{FF2B5EF4-FFF2-40B4-BE49-F238E27FC236}">
                <a16:creationId xmlns:a16="http://schemas.microsoft.com/office/drawing/2014/main" id="{C79C4205-427A-49A2-BB34-A8B17223E66F}"/>
              </a:ext>
            </a:extLst>
          </p:cNvPr>
          <p:cNvSpPr>
            <a:spLocks xmlns:a="http://schemas.openxmlformats.org/drawingml/2006/main" noGrp="1"/>
          </p:cNvSpPr>
          <p:nvPr/>
        </p:nvSpPr>
        <p:spPr>
          <a:xfrm xmlns:a="http://schemas.openxmlformats.org/drawingml/2006/main">
            <a:off x="7886700" y="47529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Calibrate, validate and price a joint +4/+3 pilot</a:t>
            </a:r>
          </a:p>
        </p:txBody>
      </p:sp>
      <p:sp>
        <p:nvSpPr>
          <p:cNvPr id="12" name="Google-Shape-340-p61-13">
            <a:extLst xmlns:a="http://schemas.openxmlformats.org/drawingml/2006/main">
              <a:ext uri="{FF2B5EF4-FFF2-40B4-BE49-F238E27FC236}">
                <a16:creationId xmlns:a16="http://schemas.microsoft.com/office/drawing/2014/main" id="{259AF994-9B8C-40D7-A87E-8E5704D99BE4}"/>
              </a:ext>
            </a:extLst>
          </p:cNvPr>
          <p:cNvSpPr>
            <a:spLocks xmlns:a="http://schemas.openxmlformats.org/drawingml/2006/main" noGrp="1"/>
          </p:cNvSpPr>
          <p:nvPr/>
        </p:nvSpPr>
        <p:spPr>
          <a:xfrm xmlns:a="http://schemas.openxmlformats.org/drawingml/2006/main">
            <a:off x="7507700" y="48491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3" name="Content-Placeholder-10-14">
            <a:extLst xmlns:a="http://schemas.openxmlformats.org/drawingml/2006/main">
              <a:ext uri="{FF2B5EF4-FFF2-40B4-BE49-F238E27FC236}">
                <a16:creationId xmlns:a16="http://schemas.microsoft.com/office/drawing/2014/main" id="{7312FCBA-29F0-4015-BEE9-35804F58E381}"/>
              </a:ext>
            </a:extLst>
          </p:cNvPr>
          <p:cNvSpPr>
            <a:spLocks xmlns:a="http://schemas.openxmlformats.org/drawingml/2006/main" noGrp="1"/>
          </p:cNvSpPr>
          <p:nvPr/>
        </p:nvSpPr>
        <p:spPr>
          <a:xfrm xmlns:a="http://schemas.openxmlformats.org/drawingml/2006/main">
            <a:off x="7886700" y="53625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Confirm production CV licence and security controls</a:t>
            </a:r>
          </a:p>
        </p:txBody>
      </p:sp>
      <p:sp>
        <p:nvSpPr>
          <p:cNvPr id="14" name="Google-Shape-340-p61-15">
            <a:extLst xmlns:a="http://schemas.openxmlformats.org/drawingml/2006/main">
              <a:ext uri="{FF2B5EF4-FFF2-40B4-BE49-F238E27FC236}">
                <a16:creationId xmlns:a16="http://schemas.microsoft.com/office/drawing/2014/main" id="{96FBE91E-D88B-4CA9-A68E-7D71952C155F}"/>
              </a:ext>
            </a:extLst>
          </p:cNvPr>
          <p:cNvSpPr>
            <a:spLocks xmlns:a="http://schemas.openxmlformats.org/drawingml/2006/main" noGrp="1"/>
          </p:cNvSpPr>
          <p:nvPr/>
        </p:nvSpPr>
        <p:spPr>
          <a:xfrm xmlns:a="http://schemas.openxmlformats.org/drawingml/2006/main">
            <a:off x="7507700" y="5471541"/>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Tree>
    <p:extLst>
      <p:ext uri="{BB962C8B-B14F-4D97-AF65-F5344CB8AC3E}">
        <p14:creationId xmlns:p14="http://schemas.microsoft.com/office/powerpoint/2010/main" val="987544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2026-07-28T08:13:41.2570000Z</dcterms:created>
  <dcterms:modified xsi:type="dcterms:W3CDTF">2026-07-28T08:13:41.2570000Z</dcterms:modified>
</coreProperties>
</file>