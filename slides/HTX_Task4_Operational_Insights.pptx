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d78bc247c54257" /><Relationship Type="http://schemas.openxmlformats.org/officeDocument/2006/relationships/extended-properties" Target="/docProps/app.xml" Id="Rf32370ff22784b7b" /><Relationship Type="http://schemas.openxmlformats.org/officeDocument/2006/relationships/officeDocument" Target="/ppt/presentation.xml" Id="R4da580fb105440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16814f0a9f4452"/>
  </p:sldMasterIdLst>
  <p:notesMasterIdLst>
    <p:notesMasterId xmlns:r="http://schemas.openxmlformats.org/officeDocument/2006/relationships" r:id="R169d0fb4336e4369"/>
  </p:notesMasterIdLst>
  <p:sldIdLst>
    <p:sldId xmlns:r="http://schemas.openxmlformats.org/officeDocument/2006/relationships" id="256" r:id="R56165029c4034130"/>
    <p:sldId xmlns:r="http://schemas.openxmlformats.org/officeDocument/2006/relationships" id="257" r:id="R6ba46074551c4222"/>
    <p:sldId xmlns:r="http://schemas.openxmlformats.org/officeDocument/2006/relationships" id="258" r:id="R198a000c90fc4930"/>
    <p:sldId xmlns:r="http://schemas.openxmlformats.org/officeDocument/2006/relationships" id="259" r:id="R71bd3fb00d804889"/>
    <p:sldId xmlns:r="http://schemas.openxmlformats.org/officeDocument/2006/relationships" id="260" r:id="Re20cf3b48d464a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8d33ffde94a4212" /><Relationship Type="http://schemas.openxmlformats.org/officeDocument/2006/relationships/slideMaster" Target="/ppt/slideMasters/slideMaster1.xml" Id="R6516814f0a9f4452" /><Relationship Type="http://schemas.openxmlformats.org/officeDocument/2006/relationships/notesMaster" Target="/ppt/notesMasters/notesMaster1.xml" Id="R169d0fb4336e4369" /><Relationship Type="http://schemas.openxmlformats.org/officeDocument/2006/relationships/presProps" Target="/ppt/presProps.xml" Id="R50036c08c90a4d4d" /><Relationship Type="http://schemas.openxmlformats.org/officeDocument/2006/relationships/tableStyles" Target="/ppt/tableStyles.xml" Id="R1d495e5ecd0e4e12" /><Relationship Type="http://schemas.openxmlformats.org/officeDocument/2006/relationships/slide" Target="/ppt/slides/slide1.xml" Id="R56165029c4034130" /><Relationship Type="http://schemas.openxmlformats.org/officeDocument/2006/relationships/slide" Target="/ppt/slides/slide2.xml" Id="R6ba46074551c4222" /><Relationship Type="http://schemas.openxmlformats.org/officeDocument/2006/relationships/slide" Target="/ppt/slides/slide3.xml" Id="R198a000c90fc4930" /><Relationship Type="http://schemas.openxmlformats.org/officeDocument/2006/relationships/slide" Target="/ppt/slides/slide4.xml" Id="R71bd3fb00d804889" /><Relationship Type="http://schemas.openxmlformats.org/officeDocument/2006/relationships/slide" Target="/ppt/slides/slide5.xml" Id="Re20cf3b48d464a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22ba991e724d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21ac5a46ae475b" /><Relationship Type="http://schemas.openxmlformats.org/officeDocument/2006/relationships/notesMaster" Target="/ppt/notesMasters/notesMaster1.xml" Id="R3f8b2345b1d94e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94fafe050747f4" /><Relationship Type="http://schemas.openxmlformats.org/officeDocument/2006/relationships/notesMaster" Target="/ppt/notesMasters/notesMaster1.xml" Id="R903eddf3f47f42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bc5ff77ad4458c" /><Relationship Type="http://schemas.openxmlformats.org/officeDocument/2006/relationships/notesMaster" Target="/ppt/notesMasters/notesMaster1.xml" Id="R351e1ab5f11e4c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a448eb8a464255" /><Relationship Type="http://schemas.openxmlformats.org/officeDocument/2006/relationships/notesMaster" Target="/ppt/notesMasters/notesMaster1.xml" Id="R862de0e0041746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1f06359fcb4a82" /><Relationship Type="http://schemas.openxmlformats.org/officeDocument/2006/relationships/notesMaster" Target="/ppt/notesMasters/notesMaster1.xml" Id="Rbb5ce107601c4a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evidence chain: a human-adjudicated short-window count becomes a conditional simulation input, not a site forecast.</a:t>
            </a:r>
          </a:p>
          <a:p xmlns:a="http://schemas.openxmlformats.org/drawingml/2006/main">
            <a:r>
              <a:t>The response surface extends the analysis without changing that measurement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docs/task3_confirmatory_design.md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three layers separate: measurement supplies the demand anchor; the DES encodes the mechanism; inference is split into confirmatory and exploratory studies.</a:t>
            </a:r>
          </a:p>
          <a:p xmlns:a="http://schemas.openxmlformats.org/drawingml/2006/main">
            <a:r>
              <a:t>The five old capacity cells validate reproducibility only and contribute no observations to the new response surface.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simulation/anylogic/HTXCheckpointSimulation/HTXCheckpointSimulation.alpx</a:t>
            </a:r>
          </a:p>
          <a:p xmlns:a="http://schemas.openxmlformats.org/drawingml/2006/main">
            <a:r>
              <a:t>- docs/task3_confirmatory_design.md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straight relationship belongs to throughput capacity, not queueing delay.</a:t>
            </a:r>
          </a:p>
          <a:p xmlns:a="http://schemas.openxmlformats.org/drawingml/2006/main">
            <a:r>
              <a:t>Every cell admits travellers for 300 seconds from an empty and idle start, then drains the full cohort.</a:t>
            </a:r>
          </a:p>
          <a:p xmlns:a="http://schemas.openxmlformats.org/drawingml/2006/main">
            <a:r>
              <a:t>The deterministic oracle uses regular arrivals and fixed service. Stochastic HPP arrivals create transient queues before deterministic saturation.</a:t>
            </a:r>
          </a:p>
          <a:p xmlns:a="http://schemas.openxmlformats.org/drawingml/2006/main">
            <a:r>
              <a:t>The plotted response is the mean replication-level P95 total queue wait: 3.93–35.92 seconds across the 54 cells.</a:t>
            </a:r>
          </a:p>
          <a:p xmlns:a="http://schemas.openxmlformats.org/drawingml/2006/main">
            <a:r>
              <a:t>Neither series is a calibrated site forecast; physical corridor-to-processing-unit allocation, routing and resource sharing were not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- results/analysis/capacity_response_surface/security_only_slice.csv</a:t>
            </a:r>
          </a:p>
          <a:p xmlns:a="http://schemas.openxmlformats.org/drawingml/2006/main">
            <a:r>
              <a:t>- results/analysis/capacity_response_surface/immigration_only_slice.csv</a:t>
            </a:r>
          </a:p>
          <a:p xmlns:a="http://schemas.openxmlformats.org/drawingml/2006/main">
            <a:r>
              <a:t>- results/analysis/capacity_response_surface/ideal_case_comparator.csv</a:t>
            </a:r>
          </a:p>
          <a:p xmlns:a="http://schemas.openxmlformats.org/drawingml/2006/main">
            <a:r>
              <a:t>- results/analysis/capacity_response_surface/validation.json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heatmap by columns and rows: flat regions identify which upstream or downstream stage is masking the other.</a:t>
            </a:r>
          </a:p>
          <a:p xmlns:a="http://schemas.openxmlformats.org/drawingml/2006/main">
            <a:r>
              <a:t>This is a 300-second terminating Base-demand cohort from an empty and idle start, followed by full drain, with 50 independent replications per cell.</a:t>
            </a:r>
          </a:p>
          <a:p xmlns:a="http://schemas.openxmlformats.org/drawingml/2006/main">
            <a:r>
              <a:t>The plotted cell means span 3.93–35.92 seconds. Registered 600-, 900- and 1200-second traveller-level exceedance rates are zero in all 2,700 runs; these are illustrative diagnostics, not a local ICA SLA.</a:t>
            </a:r>
          </a:p>
          <a:p xmlns:a="http://schemas.openxmlformats.org/drawingml/2006/main">
            <a:r>
              <a:t>The negative local interaction is a tandem-queue metering effect. It does not mean removing capacity improves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docs/task3_results.md</a:t>
            </a:r>
          </a:p>
          <a:p xmlns:a="http://schemas.openxmlformats.org/drawingml/2006/main">
            <a:r>
              <a:t>- results/analysis/capacity_response_surface/heatmap.csv</a:t>
            </a:r>
          </a:p>
          <a:p xmlns:a="http://schemas.openxmlformats.org/drawingml/2006/main">
            <a:r>
              <a:t>- results/analysis/capacity_response_surface/stage_bottleneck_map.csv</a:t>
            </a:r>
          </a:p>
          <a:p xmlns:a="http://schemas.openxmlformats.org/drawingml/2006/main">
            <a:r>
              <a:t>- results/analysis/capacity_response_surface/local_interactions.csv</a:t>
            </a:r>
          </a:p>
          <a:p xmlns:a="http://schemas.openxmlformats.org/drawingml/2006/main">
            <a:r>
              <a:t>- results/analysis/capacity_response_surface/threshold_exceedance_diagnostics.json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response surface informs what to measure and which intervention to test; it does not select a roster without calibration.</a:t>
            </a:r>
          </a:p>
          <a:p xmlns:a="http://schemas.openxmlformats.org/drawingml/2006/main">
            <a:r>
              <a:t>The accepted 1.364213/s rate is a directional corridor line-crossing aggregate, not an observed arrival rate for one physical pooled processing unit.</a:t>
            </a:r>
          </a:p>
          <a:p xmlns:a="http://schemas.openxmlformats.org/drawingml/2006/main">
            <a:r>
              <a:t>Field calibration must identify corridor-to-processing-unit allocation, routing, resource sharing, open-resource schedules, stage service and exception pathways.</a:t>
            </a:r>
          </a:p>
          <a:p xmlns:a="http://schemas.openxmlformats.org/drawingml/2006/main">
            <a:r>
              <a:t>Use joint +4/+3 as a validated stress-test mechanism, not a default field recommendation.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docs/task2_system_design.md</a:t>
            </a:r>
          </a:p>
          <a:p xmlns:a="http://schemas.openxmlformats.org/drawingml/2006/main">
            <a:r>
              <a:t>- docs/task3_results.md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- LICENSING.md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6a1d6132ba46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182365dae04e9f" /><Relationship Type="http://schemas.openxmlformats.org/officeDocument/2006/relationships/slideLayout" Target="/ppt/slideLayouts/slideLayout1.xml" Id="R77caedd6d5b449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caedd6d5b449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ef897f2bd4bfd" /><Relationship Type="http://schemas.openxmlformats.org/officeDocument/2006/relationships/image" Target="/ppt/media/image.jpeg" Id="Rd3ed1c7481a24050" /><Relationship Type="http://schemas.openxmlformats.org/officeDocument/2006/relationships/notesSlide" Target="/ppt/notesSlides/notesSlide1.xml" Id="Rfeb0f21706894f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f074e4449412b" /><Relationship Type="http://schemas.openxmlformats.org/officeDocument/2006/relationships/image" Target="/ppt/media/image2.jpeg" Id="R6917c91f7e1a4ff6" /><Relationship Type="http://schemas.openxmlformats.org/officeDocument/2006/relationships/image" Target="/ppt/media/image.png" Id="R1815f72c52684584" /><Relationship Type="http://schemas.openxmlformats.org/officeDocument/2006/relationships/notesSlide" Target="/ppt/notesSlides/notesSlide2.xml" Id="R404f7936fc894b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a02df2de749cc" /><Relationship Type="http://schemas.openxmlformats.org/officeDocument/2006/relationships/image" Target="/ppt/media/image2.png" Id="Rf08fa1ab821f49ec" /><Relationship Type="http://schemas.openxmlformats.org/officeDocument/2006/relationships/notesSlide" Target="/ppt/notesSlides/notesSlide3.xml" Id="R4e4f491afe664a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bcc211bbc4b75" /><Relationship Type="http://schemas.openxmlformats.org/officeDocument/2006/relationships/image" Target="/ppt/media/image3.png" Id="Rb2ed192b369b413e" /><Relationship Type="http://schemas.openxmlformats.org/officeDocument/2006/relationships/notesSlide" Target="/ppt/notesSlides/notesSlide4.xml" Id="Ra1599593c96d40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7b4c3fb2804de6" /><Relationship Type="http://schemas.openxmlformats.org/officeDocument/2006/relationships/notesSlide" Target="/ppt/notesSlides/notesSlide5.xml" Id="Rc64bba895bcf4b8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9288D322-DDC7-4465-82AC-EDF83077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09700"/>
            <a:ext cx="6048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Evidence-Driven Checkpoint Simulation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39B7715-2F50-423E-A74B-06CA95BA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429125"/>
            <a:ext cx="581025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34 accepted R→L crossings anchor the conditional model.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600 confirmatory runs test the mechanism; 2,700 exploratory runs map its operating boundary.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59ADD88-C8CE-4179-B463-D903CA99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81000"/>
            <a:ext cx="8572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WANG YU · HTX DSAI TECHNICAL ASSESSMENT · TASK 4</a:t>
            </a:r>
          </a:p>
        </p:txBody>
      </p:sp>
      <p:sp>
        <p:nvSpPr>
          <p:cNvPr id="5" name="hero-evidence-card">
            <a:extLst xmlns:a="http://schemas.openxmlformats.org/drawingml/2006/main">
              <a:ext uri="{FF2B5EF4-FFF2-40B4-BE49-F238E27FC236}">
                <a16:creationId xmlns:a16="http://schemas.microsoft.com/office/drawing/2014/main" id="{3CCBDDF3-2F4D-45B2-A30E-873909BD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52550"/>
            <a:ext cx="5124450" cy="3905250"/>
          </a:xfrm>
          <a:prstGeom xmlns:a="http://schemas.openxmlformats.org/drawingml/2006/main" prst="roundRect">
            <a:avLst>
              <a:gd name="adj" fmla="val 341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ed1c7481a24050"/>
          <a:srcRect xmlns:a="http://schemas.openxmlformats.org/drawingml/2006/main" l="0" t="21" r="0" b="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390650"/>
            <a:ext cx="5048250" cy="2838450"/>
          </a:xfrm>
          <a:prstGeom xmlns:a="http://schemas.openxmlformats.org/drawingml/2006/main" prst="roundRect">
            <a:avLst>
              <a:gd name="adj" fmla="val 3356"/>
            </a:avLst>
          </a:prstGeom>
        </p:spPr>
      </p:pic>
      <p:sp>
        <p:nvSpPr>
          <p:cNvPr id="7" name="hero-metric-count">
            <a:extLst xmlns:a="http://schemas.openxmlformats.org/drawingml/2006/main">
              <a:ext uri="{FF2B5EF4-FFF2-40B4-BE49-F238E27FC236}">
                <a16:creationId xmlns:a16="http://schemas.microsoft.com/office/drawing/2014/main" id="{39E43281-25B5-49FC-9F8A-5E6336B3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71975"/>
            <a:ext cx="142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8" name="hero-metric-count-label">
            <a:extLst xmlns:a="http://schemas.openxmlformats.org/drawingml/2006/main">
              <a:ext uri="{FF2B5EF4-FFF2-40B4-BE49-F238E27FC236}">
                <a16:creationId xmlns:a16="http://schemas.microsoft.com/office/drawing/2014/main" id="{0A560E4F-ED58-4ADA-B33E-722C5F0A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52975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accepted R→L</a:t>
            </a:r>
          </a:p>
        </p:txBody>
      </p:sp>
      <p:sp>
        <p:nvSpPr>
          <p:cNvPr id="9" name="hero-metric-divider">
            <a:extLst xmlns:a="http://schemas.openxmlformats.org/drawingml/2006/main">
              <a:ext uri="{FF2B5EF4-FFF2-40B4-BE49-F238E27FC236}">
                <a16:creationId xmlns:a16="http://schemas.microsoft.com/office/drawing/2014/main" id="{4BE490AD-B1DB-444D-856D-C7A94749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10075"/>
            <a:ext cx="0" cy="552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0" name="hero-metric-rate">
            <a:extLst xmlns:a="http://schemas.openxmlformats.org/drawingml/2006/main">
              <a:ext uri="{FF2B5EF4-FFF2-40B4-BE49-F238E27FC236}">
                <a16:creationId xmlns:a16="http://schemas.microsoft.com/office/drawing/2014/main" id="{E07274EC-5D66-427C-B24F-94A759BC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91025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1.364/s</a:t>
            </a:r>
          </a:p>
        </p:txBody>
      </p:sp>
      <p:sp>
        <p:nvSpPr>
          <p:cNvPr id="11" name="hero-metric-rate-label">
            <a:extLst xmlns:a="http://schemas.openxmlformats.org/drawingml/2006/main">
              <a:ext uri="{FF2B5EF4-FFF2-40B4-BE49-F238E27FC236}">
                <a16:creationId xmlns:a16="http://schemas.microsoft.com/office/drawing/2014/main" id="{588D3695-C85F-42A9-B865-12D8FB94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529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arrival anchor</a:t>
            </a:r>
          </a:p>
        </p:txBody>
      </p:sp>
      <p:sp>
        <p:nvSpPr>
          <p:cNvPr id="12" name="hero-boundary">
            <a:extLst xmlns:a="http://schemas.openxmlformats.org/drawingml/2006/main">
              <a:ext uri="{FF2B5EF4-FFF2-40B4-BE49-F238E27FC236}">
                <a16:creationId xmlns:a16="http://schemas.microsoft.com/office/drawing/2014/main" id="{1AE69F7F-F4C7-42C1-9BC0-4F5E82BE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9675"/>
            <a:ext cx="470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Human-adjudicated aggregate · not a long-run demand estimate</a:t>
            </a:r>
          </a:p>
        </p:txBody>
      </p:sp>
      <p:sp>
        <p:nvSpPr>
          <p:cNvPr id="1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02F7C1E-79AD-46F9-838D-8F539C78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581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From 24.9 seconds of video to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25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an auditable decision model</a:t>
            </a:r>
          </a:p>
        </p:txBody>
      </p:sp>
    </p:spTree>
    <p:extLst>
      <p:ext uri="{BB962C8B-B14F-4D97-AF65-F5344CB8AC3E}">
        <p14:creationId xmlns:p14="http://schemas.microsoft.com/office/powerpoint/2010/main" val="11533446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D38DAD70-2A86-4BD4-978B-BD273F8C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29D017A-65A3-4E55-9F0E-DC4DBDDA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Measurement, model and inference stay separate—and visible</a:t>
            </a:r>
          </a:p>
        </p:txBody>
      </p:sp>
      <p:cxnSp>
        <p:nvCxnSpPr>
          <p:cNvPr id="92" name="Google-Shape-2259-p159-4"/>
          <p:cNvCxnSpPr/>
          <p:nvPr/>
        </p:nvCxnSpPr>
        <p:spPr>
          <a:xfrm xmlns:a="http://schemas.openxmlformats.org/drawingml/2006/main">
            <a:off x="337757" y="285750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87547AA-ECC4-4531-BD08-1C372AD7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71D475A-EDF8-4616-87BD-C163D054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48C384B-9230-4861-A686-4C8CA9CC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A90C8628-8309-4514-ABFD-80131C52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MEASURE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8AC50856-0B9B-495F-B745-200E4DC8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B60960C8-3730-4C31-9AE0-C17FFA19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INFER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2353D8EF-2AB9-4BC4-83C6-DCEEEB69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Executable two-stage DES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Pooled FCFS · fixed service · full drain.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9AA59D89-3FCE-416F-9E9C-2F45161A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34 accepted R→L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Human-checked count; HPP interval kept separate.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5D61E3C9-CDBA-4B52-866E-004F6308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Confirm: frozen primary contrast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Explore: Base-demand operating boundary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CRN + validation PASS in both.</a:t>
            </a:r>
          </a:p>
        </p:txBody>
      </p:sp>
      <p:sp>
        <p:nvSpPr>
          <p:cNvPr id="34" name="measure-visual-frame">
            <a:extLst xmlns:a="http://schemas.openxmlformats.org/drawingml/2006/main">
              <a:ext uri="{FF2B5EF4-FFF2-40B4-BE49-F238E27FC236}">
                <a16:creationId xmlns:a16="http://schemas.microsoft.com/office/drawing/2014/main" id="{CE96F3AF-84D3-4A9A-B41B-4E1C7EAD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17c91f7e1a4ff6"/>
          <a:srcRect xmlns:a="http://schemas.openxmlformats.org/drawingml/2006/main" l="0" t="1627" r="0" b="16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8625" y="3028950"/>
            <a:ext cx="3448050" cy="1876425"/>
          </a:xfrm>
          <a:prstGeom xmlns:a="http://schemas.openxmlformats.org/drawingml/2006/main" prst="roundRect">
            <a:avLst>
              <a:gd name="adj" fmla="val 4569"/>
            </a:avLst>
          </a:prstGeom>
        </p:spPr>
      </p:pic>
      <p:sp>
        <p:nvSpPr>
          <p:cNvPr id="36" name="model-visual-frame">
            <a:extLst xmlns:a="http://schemas.openxmlformats.org/drawingml/2006/main">
              <a:ext uri="{FF2B5EF4-FFF2-40B4-BE49-F238E27FC236}">
                <a16:creationId xmlns:a16="http://schemas.microsoft.com/office/drawing/2014/main" id="{4821BA4B-F775-4FEE-88F9-0B0D0EB7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15f72c52684584"/>
          <a:srcRect xmlns:a="http://schemas.openxmlformats.org/drawingml/2006/main" l="0" t="8139" r="0" b="81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52925" y="3028950"/>
            <a:ext cx="3448050" cy="1876425"/>
          </a:xfrm>
          <a:prstGeom xmlns:a="http://schemas.openxmlformats.org/drawingml/2006/main" prst="roundRect">
            <a:avLst>
              <a:gd name="adj" fmla="val 4569"/>
            </a:avLst>
          </a:prstGeom>
        </p:spPr>
      </p:pic>
      <p:sp>
        <p:nvSpPr>
          <p:cNvPr id="38" name="infer-grid-frame">
            <a:extLst xmlns:a="http://schemas.openxmlformats.org/drawingml/2006/main">
              <a:ext uri="{FF2B5EF4-FFF2-40B4-BE49-F238E27FC236}">
                <a16:creationId xmlns:a16="http://schemas.microsoft.com/office/drawing/2014/main" id="{25FB288A-58F4-4CD6-BF41-781A0030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9" name="infer-grid-equation">
            <a:extLst xmlns:a="http://schemas.openxmlformats.org/drawingml/2006/main">
              <a:ext uri="{FF2B5EF4-FFF2-40B4-BE49-F238E27FC236}">
                <a16:creationId xmlns:a16="http://schemas.microsoft.com/office/drawing/2014/main" id="{F1DE746B-A337-4C37-9DB6-3F6DE0C7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05150"/>
            <a:ext cx="3181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CONFIRM · 4 × 3 × 50 = 600</a:t>
            </a:r>
          </a:p>
        </p:txBody>
      </p:sp>
      <p:sp>
        <p:nvSpPr>
          <p:cNvPr id="40" name="matrix-col-0">
            <a:extLst xmlns:a="http://schemas.openxmlformats.org/drawingml/2006/main">
              <a:ext uri="{FF2B5EF4-FFF2-40B4-BE49-F238E27FC236}">
                <a16:creationId xmlns:a16="http://schemas.microsoft.com/office/drawing/2014/main" id="{AF16CA2A-689F-4EEA-B50E-0C2F4760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LOW</a:t>
            </a:r>
          </a:p>
        </p:txBody>
      </p:sp>
      <p:sp>
        <p:nvSpPr>
          <p:cNvPr id="41" name="matrix-col-1">
            <a:extLst xmlns:a="http://schemas.openxmlformats.org/drawingml/2006/main">
              <a:ext uri="{FF2B5EF4-FFF2-40B4-BE49-F238E27FC236}">
                <a16:creationId xmlns:a16="http://schemas.microsoft.com/office/drawing/2014/main" id="{55D7DED6-9946-4155-AFA3-9D5D6BBF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BASE</a:t>
            </a:r>
          </a:p>
        </p:txBody>
      </p:sp>
      <p:sp>
        <p:nvSpPr>
          <p:cNvPr id="42" name="matrix-col-2">
            <a:extLst xmlns:a="http://schemas.openxmlformats.org/drawingml/2006/main">
              <a:ext uri="{FF2B5EF4-FFF2-40B4-BE49-F238E27FC236}">
                <a16:creationId xmlns:a16="http://schemas.microsoft.com/office/drawing/2014/main" id="{AC7D9101-4265-456C-B2AF-0BD589A2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HIGH</a:t>
            </a:r>
          </a:p>
        </p:txBody>
      </p:sp>
      <p:sp>
        <p:nvSpPr>
          <p:cNvPr id="43" name="matrix-row-0">
            <a:extLst xmlns:a="http://schemas.openxmlformats.org/drawingml/2006/main">
              <a:ext uri="{FF2B5EF4-FFF2-40B4-BE49-F238E27FC236}">
                <a16:creationId xmlns:a16="http://schemas.microsoft.com/office/drawing/2014/main" id="{C4F040C5-535E-44AD-9340-43E1F224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385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REF</a:t>
            </a:r>
          </a:p>
        </p:txBody>
      </p:sp>
      <p:sp>
        <p:nvSpPr>
          <p:cNvPr id="44" name="matrix-cell-0-0">
            <a:extLst xmlns:a="http://schemas.openxmlformats.org/drawingml/2006/main">
              <a:ext uri="{FF2B5EF4-FFF2-40B4-BE49-F238E27FC236}">
                <a16:creationId xmlns:a16="http://schemas.microsoft.com/office/drawing/2014/main" id="{797CB83C-DD50-4CFD-A969-E38D3FDF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45" name="matrix-cell-0-1">
            <a:extLst xmlns:a="http://schemas.openxmlformats.org/drawingml/2006/main">
              <a:ext uri="{FF2B5EF4-FFF2-40B4-BE49-F238E27FC236}">
                <a16:creationId xmlns:a16="http://schemas.microsoft.com/office/drawing/2014/main" id="{3758280C-E085-415F-86CB-FBE6F85B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46" name="matrix-cell-0-2">
            <a:extLst xmlns:a="http://schemas.openxmlformats.org/drawingml/2006/main">
              <a:ext uri="{FF2B5EF4-FFF2-40B4-BE49-F238E27FC236}">
                <a16:creationId xmlns:a16="http://schemas.microsoft.com/office/drawing/2014/main" id="{AB43D57A-7C35-4CA3-866E-414AFA31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47" name="matrix-row-1">
            <a:extLst xmlns:a="http://schemas.openxmlformats.org/drawingml/2006/main">
              <a:ext uri="{FF2B5EF4-FFF2-40B4-BE49-F238E27FC236}">
                <a16:creationId xmlns:a16="http://schemas.microsoft.com/office/drawing/2014/main" id="{1D98B5A6-A17C-4362-8967-C3C5C0A2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243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S+4</a:t>
            </a:r>
          </a:p>
        </p:txBody>
      </p:sp>
      <p:sp>
        <p:nvSpPr>
          <p:cNvPr id="48" name="matrix-cell-1-0">
            <a:extLst xmlns:a="http://schemas.openxmlformats.org/drawingml/2006/main">
              <a:ext uri="{FF2B5EF4-FFF2-40B4-BE49-F238E27FC236}">
                <a16:creationId xmlns:a16="http://schemas.microsoft.com/office/drawing/2014/main" id="{06A884C2-2DEB-4C55-B02F-162412B5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49" name="matrix-cell-1-1">
            <a:extLst xmlns:a="http://schemas.openxmlformats.org/drawingml/2006/main">
              <a:ext uri="{FF2B5EF4-FFF2-40B4-BE49-F238E27FC236}">
                <a16:creationId xmlns:a16="http://schemas.microsoft.com/office/drawing/2014/main" id="{352B562C-E52E-4313-B6E0-C293AB0A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0" name="matrix-cell-1-2">
            <a:extLst xmlns:a="http://schemas.openxmlformats.org/drawingml/2006/main">
              <a:ext uri="{FF2B5EF4-FFF2-40B4-BE49-F238E27FC236}">
                <a16:creationId xmlns:a16="http://schemas.microsoft.com/office/drawing/2014/main" id="{055605D0-6D7D-4784-9016-C8DF9AAD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1" name="matrix-row-2">
            <a:extLst xmlns:a="http://schemas.openxmlformats.org/drawingml/2006/main">
              <a:ext uri="{FF2B5EF4-FFF2-40B4-BE49-F238E27FC236}">
                <a16:creationId xmlns:a16="http://schemas.microsoft.com/office/drawing/2014/main" id="{B09D421D-A364-40AB-AA09-278169CE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100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I+3</a:t>
            </a:r>
          </a:p>
        </p:txBody>
      </p:sp>
      <p:sp>
        <p:nvSpPr>
          <p:cNvPr id="52" name="matrix-cell-2-0">
            <a:extLst xmlns:a="http://schemas.openxmlformats.org/drawingml/2006/main">
              <a:ext uri="{FF2B5EF4-FFF2-40B4-BE49-F238E27FC236}">
                <a16:creationId xmlns:a16="http://schemas.microsoft.com/office/drawing/2014/main" id="{B7FF171F-9420-4AA0-A27D-C5C58E32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3" name="matrix-cell-2-1">
            <a:extLst xmlns:a="http://schemas.openxmlformats.org/drawingml/2006/main">
              <a:ext uri="{FF2B5EF4-FFF2-40B4-BE49-F238E27FC236}">
                <a16:creationId xmlns:a16="http://schemas.microsoft.com/office/drawing/2014/main" id="{95C83C43-7688-4286-BAC5-92EE2B6E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4" name="matrix-cell-2-2">
            <a:extLst xmlns:a="http://schemas.openxmlformats.org/drawingml/2006/main">
              <a:ext uri="{FF2B5EF4-FFF2-40B4-BE49-F238E27FC236}">
                <a16:creationId xmlns:a16="http://schemas.microsoft.com/office/drawing/2014/main" id="{87931BCE-61EF-45DE-AC82-F3214155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5" name="matrix-row-3">
            <a:extLst xmlns:a="http://schemas.openxmlformats.org/drawingml/2006/main">
              <a:ext uri="{FF2B5EF4-FFF2-40B4-BE49-F238E27FC236}">
                <a16:creationId xmlns:a16="http://schemas.microsoft.com/office/drawing/2014/main" id="{D32483B3-C94B-4ADF-8A1D-8ABB6DD9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958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245FC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45FCB"/>
                </a:solidFill>
                <a:latin typeface="Helvetica Neue"/>
                <a:ea typeface="Helvetica Neue"/>
                <a:cs typeface="Helvetica Neue"/>
              </a:rPr>
              <a:t>JOINT</a:t>
            </a:r>
          </a:p>
        </p:txBody>
      </p:sp>
      <p:sp>
        <p:nvSpPr>
          <p:cNvPr id="56" name="matrix-cell-3-0">
            <a:extLst xmlns:a="http://schemas.openxmlformats.org/drawingml/2006/main">
              <a:ext uri="{FF2B5EF4-FFF2-40B4-BE49-F238E27FC236}">
                <a16:creationId xmlns:a16="http://schemas.microsoft.com/office/drawing/2014/main" id="{709705E3-6709-46DB-B69A-068838B3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7" name="matrix-cell-3-1">
            <a:extLst xmlns:a="http://schemas.openxmlformats.org/drawingml/2006/main">
              <a:ext uri="{FF2B5EF4-FFF2-40B4-BE49-F238E27FC236}">
                <a16:creationId xmlns:a16="http://schemas.microsoft.com/office/drawing/2014/main" id="{D580DDFF-D8DD-4F4D-A764-2890DEAC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8" name="matrix-cell-3-2">
            <a:extLst xmlns:a="http://schemas.openxmlformats.org/drawingml/2006/main">
              <a:ext uri="{FF2B5EF4-FFF2-40B4-BE49-F238E27FC236}">
                <a16:creationId xmlns:a16="http://schemas.microsoft.com/office/drawing/2014/main" id="{FF462A06-0A87-4952-A9CF-C428ED9E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9" name="infer-grid-footer">
            <a:extLst xmlns:a="http://schemas.openxmlformats.org/drawingml/2006/main">
              <a:ext uri="{FF2B5EF4-FFF2-40B4-BE49-F238E27FC236}">
                <a16:creationId xmlns:a16="http://schemas.microsoft.com/office/drawing/2014/main" id="{F4B05477-1CD9-44E8-A650-91B3CF5E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95825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45FC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245FCB"/>
                </a:solidFill>
                <a:latin typeface="Helvetica Neue"/>
                <a:ea typeface="Helvetica Neue"/>
                <a:cs typeface="Helvetica Neue"/>
              </a:rPr>
              <a:t>EXPLORE · 9 × 6 × 50 = 2,700</a:t>
            </a:r>
          </a:p>
        </p:txBody>
      </p:sp>
    </p:spTree>
    <p:extLst>
      <p:ext uri="{BB962C8B-B14F-4D97-AF65-F5344CB8AC3E}">
        <p14:creationId xmlns:p14="http://schemas.microsoft.com/office/powerpoint/2010/main" val="4623974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5307FA94-A9D9-4290-8525-95CE199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Variability creates delay before deterministic saturation</a:t>
            </a:r>
          </a:p>
        </p:txBody>
      </p:sp>
      <p:sp>
        <p:nvSpPr>
          <p:cNvPr id="2" name="chart-label">
            <a:extLst xmlns:a="http://schemas.openxmlformats.org/drawingml/2006/main">
              <a:ext uri="{FF2B5EF4-FFF2-40B4-BE49-F238E27FC236}">
                <a16:creationId xmlns:a16="http://schemas.microsoft.com/office/drawing/2014/main" id="{37E96706-C8D5-4C18-9E58-D0BA6B6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AnyLogic HPP vs deterministic ideal · mean P95 total wait · n=50/cell</a:t>
            </a:r>
          </a:p>
        </p:txBody>
      </p:sp>
      <p:sp>
        <p:nvSpPr>
          <p:cNvPr id="4" name="callout-1">
            <a:extLst xmlns:a="http://schemas.openxmlformats.org/drawingml/2006/main">
              <a:ext uri="{FF2B5EF4-FFF2-40B4-BE49-F238E27FC236}">
                <a16:creationId xmlns:a16="http://schemas.microsoft.com/office/drawing/2014/main" id="{00666F93-A6DE-48B7-9502-9EA92D21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954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Variability arrives early</a:t>
            </a:r>
          </a:p>
          <a:p xmlns:a="http://schemas.openxmlformats.org/drawingml/2006/main">
            <a:pPr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36/21, ideal P95 is 0 s while HPP is 3.93 s.</a:t>
            </a:r>
          </a:p>
        </p:txBody>
      </p:sp>
      <p:sp>
        <p:nvSpPr>
          <p:cNvPr id="6" name="callout-2">
            <a:extLst xmlns:a="http://schemas.openxmlformats.org/drawingml/2006/main">
              <a:ext uri="{FF2B5EF4-FFF2-40B4-BE49-F238E27FC236}">
                <a16:creationId xmlns:a16="http://schemas.microsoft.com/office/drawing/2014/main" id="{472EBB82-CE8B-4E35-AB56-7CD70D3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4797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Penalty accelerates near ρ ≈ 1</a:t>
            </a:r>
          </a:p>
          <a:p xmlns:a="http://schemas.openxmlformats.org/drawingml/2006/main">
            <a:pPr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step: 0.29→6.98 s. Immigration: 1.31→14.68 s.</a:t>
            </a:r>
          </a:p>
        </p:txBody>
      </p:sp>
      <p:sp>
        <p:nvSpPr>
          <p:cNvPr id="8" name="callout-3">
            <a:extLst xmlns:a="http://schemas.openxmlformats.org/drawingml/2006/main">
              <a:ext uri="{FF2B5EF4-FFF2-40B4-BE49-F238E27FC236}">
                <a16:creationId xmlns:a16="http://schemas.microsoft.com/office/drawing/2014/main" id="{8269973B-90B6-41F4-BD3D-0D28760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005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Audited, not smoothed</a:t>
            </a:r>
          </a:p>
          <a:p xmlns:a="http://schemas.openxmlformats.org/drawingml/2006/main">
            <a:pPr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54 cells × 50. 2,700 COMPLETE; 1,113,588 traveller rows; CRN PASS.</a:t>
            </a:r>
          </a:p>
        </p:txBody>
      </p:sp>
      <p:sp>
        <p:nvSpPr>
          <p:cNvPr id="9" name="results-boundary">
            <a:extLst xmlns:a="http://schemas.openxmlformats.org/drawingml/2006/main">
              <a:ext uri="{FF2B5EF4-FFF2-40B4-BE49-F238E27FC236}">
                <a16:creationId xmlns:a16="http://schemas.microsoft.com/office/drawing/2014/main" id="{3D5C5366-B49C-4D07-BFEE-3692D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05727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300-s terminating cohort · empty/idle start · full drain; ideal = regular arrivals + fixed service.</a:t>
            </a:r>
          </a:p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Cell-mean P95 spans 3.93–35.92 s; neither series is a calibrated site forecast.</a:t>
            </a:r>
          </a:p>
        </p:txBody>
      </p:sp>
      <p:sp>
        <p:nvSpPr>
          <p:cNvPr id="10" name="results-footer">
            <a:extLst xmlns:a="http://schemas.openxmlformats.org/drawingml/2006/main"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8fa1ab821f49ec"/>
          <a:stretch xmlns:a="http://schemas.openxmlformats.org/drawingml/2006/main"/>
        </p:blipFill>
        <p:spPr>
          <a:xfrm xmlns:a="http://schemas.openxmlformats.org/drawingml/2006/main">
            <a:off x="400050" y="1974745"/>
            <a:ext cx="7620000" cy="31752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7069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5307FA94-A9D9-4290-8525-95CE199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bottleneck shifts—but waits stay sub-minute at this model scale</a:t>
            </a:r>
          </a:p>
        </p:txBody>
      </p:sp>
      <p:sp>
        <p:nvSpPr>
          <p:cNvPr id="2" name="chart-label">
            <a:extLst xmlns:a="http://schemas.openxmlformats.org/drawingml/2006/main">
              <a:ext uri="{FF2B5EF4-FFF2-40B4-BE49-F238E27FC236}">
                <a16:creationId xmlns:a16="http://schemas.microsoft.com/office/drawing/2014/main" id="{37E96706-C8D5-4C18-9E58-D0BA6B6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54 cells · Base-demand mean P95 total wait · n=50/cell</a:t>
            </a:r>
          </a:p>
        </p:txBody>
      </p:sp>
      <p:sp>
        <p:nvSpPr>
          <p:cNvPr id="4" name="callout-1">
            <a:extLst xmlns:a="http://schemas.openxmlformats.org/drawingml/2006/main">
              <a:ext uri="{FF2B5EF4-FFF2-40B4-BE49-F238E27FC236}">
                <a16:creationId xmlns:a16="http://schemas.microsoft.com/office/drawing/2014/main" id="{00666F93-A6DE-48B7-9502-9EA92D21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954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5651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Immigration dominates</a:t>
            </a:r>
          </a:p>
          <a:p xmlns:a="http://schemas.openxmlformats.org/drawingml/2006/main">
            <a:pPr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I16, S36→31 remains ≈35.61 s; Security capacity changes are initially masked.</a:t>
            </a:r>
          </a:p>
        </p:txBody>
      </p:sp>
      <p:sp>
        <p:nvSpPr>
          <p:cNvPr id="6" name="callout-2">
            <a:extLst xmlns:a="http://schemas.openxmlformats.org/drawingml/2006/main">
              <a:ext uri="{FF2B5EF4-FFF2-40B4-BE49-F238E27FC236}">
                <a16:creationId xmlns:a16="http://schemas.microsoft.com/office/drawing/2014/main" id="{472EBB82-CE8B-4E35-AB56-7CD70D3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4797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5651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dominates</a:t>
            </a:r>
          </a:p>
          <a:p xmlns:a="http://schemas.openxmlformats.org/drawingml/2006/main">
            <a:pPr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S28, I21→17 moves only 24.43→25.38 s; Immigration capacity changes are initially masked.</a:t>
            </a:r>
          </a:p>
        </p:txBody>
      </p:sp>
      <p:sp>
        <p:nvSpPr>
          <p:cNvPr id="8" name="callout-3">
            <a:extLst xmlns:a="http://schemas.openxmlformats.org/drawingml/2006/main">
              <a:ext uri="{FF2B5EF4-FFF2-40B4-BE49-F238E27FC236}">
                <a16:creationId xmlns:a16="http://schemas.microsoft.com/office/drawing/2014/main" id="{8269973B-90B6-41F4-BD3D-0D28760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005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5651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Upstream metering</a:t>
            </a:r>
          </a:p>
          <a:p xmlns:a="http://schemas.openxmlformats.org/drawingml/2006/main">
            <a:pPr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S30→29 with I18→17: DiD −4.02 s [−4.72, −3.32]. Negative means sub-additive—not beneficial.</a:t>
            </a:r>
          </a:p>
        </p:txBody>
      </p:sp>
      <p:sp>
        <p:nvSpPr>
          <p:cNvPr id="9" name="results-boundary">
            <a:extLst xmlns:a="http://schemas.openxmlformats.org/drawingml/2006/main">
              <a:ext uri="{FF2B5EF4-FFF2-40B4-BE49-F238E27FC236}">
                <a16:creationId xmlns:a16="http://schemas.microsoft.com/office/drawing/2014/main" id="{3D5C5366-B49C-4D07-BFEE-3692D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05727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300-s Base cohort · empty/idle start · full drain · n=50/cell</a:t>
            </a:r>
          </a:p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Cell-mean P95 3.93–35.92 s; 600/900/1200-s exceedance = 0—not an ICA SLA.</a:t>
            </a:r>
          </a:p>
        </p:txBody>
      </p:sp>
      <p:sp>
        <p:nvSpPr>
          <p:cNvPr id="10" name="results-footer">
            <a:extLst xmlns:a="http://schemas.openxmlformats.org/drawingml/2006/main"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ed192b369b413e"/>
          <a:srcRect xmlns:a="http://schemas.openxmlformats.org/drawingml/2006/main" l="0" t="9865" r="0" b="9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381125"/>
            <a:ext cx="7620000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7069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81BD1AE-7A11-4633-9882-26A54E61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0D39F14-0FCC-4D48-84A9-503858E9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Calibrate the site, locate the bottleneck, then pilot relief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1F734D25-6349-400F-AF66-BD1D9FB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4805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Time-of-day arrivals + signed event ledger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6E6D46D7-9507-4899-9A12-17E0E292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55282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CBEFA16B-F7C2-4B24-A924-9B27DF4A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0"/>
            <a:ext cx="6191250" cy="2524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DECISION NOW</a:t>
            </a:r>
          </a:p>
          <a:p xmlns:a="http://schemas.openxmlformats.org/drawingml/2006/main">
            <a:pPr>
              <a:spcAft>
                <a:spcPts val="12"/>
              </a:spcAft>
              <a:buNone/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Advance the validated mechanism to site calibration.</a:t>
            </a:r>
          </a:p>
          <a:p xmlns:a="http://schemas.openxmlformats.org/drawingml/2006/main">
            <a:pPr>
              <a:buNone/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WHY THIS MATTERS</a:t>
            </a:r>
          </a:p>
          <a:p xmlns:a="http://schemas.openxmlformats.org/drawingml/2006/main">
            <a:pPr>
              <a:spcAft>
                <a:spcPts val="12"/>
              </a:spcAft>
              <a:buNone/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Capacity loss is nonlinear; the active bottleneck changes which intervention works.</a:t>
            </a:r>
          </a:p>
          <a:p xmlns:a="http://schemas.openxmlformats.org/drawingml/2006/main">
            <a:pPr>
              <a:buNone/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  <a:p xmlns:a="http://schemas.openxmlformats.org/drawingml/2006/main">
            <a:pPr>
              <a:buNone/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36/21 is a derived pooled reference—not observed staffing. Corridor-to-processing-unit allocation is unobserved.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9655FE59-28B3-4208-9D38-8CA87FE9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33825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Corridor-to-processing-unit allocation + routing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CC826CCF-C388-4016-A482-29D3EE88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038600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D0C114C5-CD12-458B-A70E-03F6AAD9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1960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Stage service, exceptions + open-resource schedules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7BA09227-E603-41B2-A52E-4BA0F973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52437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C79C4205-427A-49A2-BB34-A8B17223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905375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Observed queues + costed pilot constraints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259AF994-9B8C-40D7-A87E-8E5704D9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010150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7312FCBA-29F0-4015-BEE9-35804F58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39115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Production CV licence + security controls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96FBE91E-D88B-4CA9-A68E-7D71952C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9592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6" name="phase-gate-1">
            <a:extLst xmlns:a="http://schemas.openxmlformats.org/drawingml/2006/main">
              <a:ext uri="{FF2B5EF4-FFF2-40B4-BE49-F238E27FC236}">
                <a16:creationId xmlns:a16="http://schemas.microsoft.com/office/drawing/2014/main" id="{DC096A07-3EA7-4C3A-838A-9F9AD6A3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4285F4"/>
            </a:solidFill>
            <a:prstDash val="solid"/>
          </a:ln>
        </p:spPr>
        <p:txBody>
          <a:bodyPr xmlns:a="http://schemas.openxmlformats.org/drawingml/2006/main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1  CALIBRATE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Measure time-of-day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arrivals + stage service</a:t>
            </a:r>
          </a:p>
        </p:txBody>
      </p:sp>
      <p:sp>
        <p:nvSpPr>
          <p:cNvPr id="17" name="phase-gate-2">
            <a:extLst xmlns:a="http://schemas.openxmlformats.org/drawingml/2006/main">
              <a:ext uri="{FF2B5EF4-FFF2-40B4-BE49-F238E27FC236}">
                <a16:creationId xmlns:a16="http://schemas.microsoft.com/office/drawing/2014/main" id="{2D791E4B-7071-45D5-A2EB-04E17960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FE0FF"/>
          </a:solidFill>
          <a:ln xmlns:a="http://schemas.openxmlformats.org/drawingml/2006/main" w="9525">
            <a:solidFill>
              <a:srgbClr val="4285F4"/>
            </a:solidFill>
            <a:prstDash val="solid"/>
          </a:ln>
        </p:spPr>
        <p:txBody>
          <a:bodyPr xmlns:a="http://schemas.openxmlformats.org/drawingml/2006/main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2  LOCATE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Place the site on the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capacity surface</a:t>
            </a:r>
          </a:p>
        </p:txBody>
      </p:sp>
      <p:sp>
        <p:nvSpPr>
          <p:cNvPr id="18" name="phase-gate-3">
            <a:extLst xmlns:a="http://schemas.openxmlformats.org/drawingml/2006/main">
              <a:ext uri="{FF2B5EF4-FFF2-40B4-BE49-F238E27FC236}">
                <a16:creationId xmlns:a16="http://schemas.microsoft.com/office/drawing/2014/main" id="{4C31623C-81F3-431F-91E4-47697896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245FCB"/>
            </a:solidFill>
            <a:prstDash val="solid"/>
          </a:ln>
        </p:spPr>
        <p:txBody>
          <a:bodyPr xmlns:a="http://schemas.openxmlformats.org/drawingml/2006/main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  PILOT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Relieve Security,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Immigration or both</a:t>
            </a:r>
          </a:p>
        </p:txBody>
      </p:sp>
      <p:sp>
        <p:nvSpPr>
          <p:cNvPr id="19" name="phase-gate-4">
            <a:extLst xmlns:a="http://schemas.openxmlformats.org/drawingml/2006/main">
              <a:ext uri="{FF2B5EF4-FFF2-40B4-BE49-F238E27FC236}">
                <a16:creationId xmlns:a16="http://schemas.microsoft.com/office/drawing/2014/main" id="{D37384A9-C52E-4C40-9878-631158B4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9ECF2"/>
          </a:solidFill>
          <a:ln xmlns:a="http://schemas.openxmlformats.org/drawingml/2006/main" w="9525">
            <a:solidFill>
              <a:srgbClr val="AAB3C2"/>
            </a:solidFill>
            <a:prstDash val="solid"/>
          </a:ln>
        </p:spPr>
        <p:txBody>
          <a:bodyPr xmlns:a="http://schemas.openxmlformats.org/drawingml/2006/main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4  VALIDATE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Queue impact, cost,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layout + constraints</a:t>
            </a:r>
          </a:p>
        </p:txBody>
      </p:sp>
    </p:spTree>
    <p:extLst>
      <p:ext uri="{BB962C8B-B14F-4D97-AF65-F5344CB8AC3E}">
        <p14:creationId xmlns:p14="http://schemas.microsoft.com/office/powerpoint/2010/main" val="987544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2026-07-28T20:54:41.3500000Z</dcterms:created>
  <dcterms:modified xsi:type="dcterms:W3CDTF">2026-07-28T20:54:41.3500000Z</dcterms:modified>
</coreProperties>
</file>