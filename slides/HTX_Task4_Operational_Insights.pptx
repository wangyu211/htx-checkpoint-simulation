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54e70609a24831" /><Relationship Type="http://schemas.openxmlformats.org/officeDocument/2006/relationships/extended-properties" Target="/docProps/app.xml" Id="R68373739a9e04c81" /><Relationship Type="http://schemas.openxmlformats.org/officeDocument/2006/relationships/officeDocument" Target="/ppt/presentation.xml" Id="R7404eeebe4bd43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425503849e416e"/>
  </p:sldMasterIdLst>
  <p:notesMasterIdLst>
    <p:notesMasterId xmlns:r="http://schemas.openxmlformats.org/officeDocument/2006/relationships" r:id="R6b5b9dc16dac44e3"/>
  </p:notesMasterIdLst>
  <p:sldIdLst>
    <p:sldId xmlns:r="http://schemas.openxmlformats.org/officeDocument/2006/relationships" id="256" r:id="R26e0ce142c7743ee"/>
    <p:sldId xmlns:r="http://schemas.openxmlformats.org/officeDocument/2006/relationships" id="257" r:id="Re8897910e7f34930"/>
    <p:sldId xmlns:r="http://schemas.openxmlformats.org/officeDocument/2006/relationships" id="258" r:id="Rd582a5bf99b74fd2"/>
    <p:sldId xmlns:r="http://schemas.openxmlformats.org/officeDocument/2006/relationships" id="259" r:id="R69666be41df948b7"/>
    <p:sldId xmlns:r="http://schemas.openxmlformats.org/officeDocument/2006/relationships" id="260" r:id="R5f47166071a742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d16cbe87dc4401" /><Relationship Type="http://schemas.openxmlformats.org/officeDocument/2006/relationships/slideMaster" Target="/ppt/slideMasters/slideMaster1.xml" Id="R8c425503849e416e" /><Relationship Type="http://schemas.openxmlformats.org/officeDocument/2006/relationships/notesMaster" Target="/ppt/notesMasters/notesMaster1.xml" Id="R6b5b9dc16dac44e3" /><Relationship Type="http://schemas.openxmlformats.org/officeDocument/2006/relationships/presProps" Target="/ppt/presProps.xml" Id="R729d1f6e53834397" /><Relationship Type="http://schemas.openxmlformats.org/officeDocument/2006/relationships/tableStyles" Target="/ppt/tableStyles.xml" Id="Rffec8f73f1ea4813" /><Relationship Type="http://schemas.openxmlformats.org/officeDocument/2006/relationships/slide" Target="/ppt/slides/slide1.xml" Id="R26e0ce142c7743ee" /><Relationship Type="http://schemas.openxmlformats.org/officeDocument/2006/relationships/slide" Target="/ppt/slides/slide2.xml" Id="Re8897910e7f34930" /><Relationship Type="http://schemas.openxmlformats.org/officeDocument/2006/relationships/slide" Target="/ppt/slides/slide3.xml" Id="Rd582a5bf99b74fd2" /><Relationship Type="http://schemas.openxmlformats.org/officeDocument/2006/relationships/slide" Target="/ppt/slides/slide4.xml" Id="R69666be41df948b7" /><Relationship Type="http://schemas.openxmlformats.org/officeDocument/2006/relationships/slide" Target="/ppt/slides/slide5.xml" Id="R5f47166071a742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581ced763e44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001289656045f3" /><Relationship Type="http://schemas.openxmlformats.org/officeDocument/2006/relationships/notesMaster" Target="/ppt/notesMasters/notesMaster1.xml" Id="R637a312deeae4f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8bebc1065c432c" /><Relationship Type="http://schemas.openxmlformats.org/officeDocument/2006/relationships/notesMaster" Target="/ppt/notesMasters/notesMaster1.xml" Id="Rfceba8d52a6641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452b80da7245b7" /><Relationship Type="http://schemas.openxmlformats.org/officeDocument/2006/relationships/notesMaster" Target="/ppt/notesMasters/notesMaster1.xml" Id="R4a973d072d254e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6c966affbf4703" /><Relationship Type="http://schemas.openxmlformats.org/officeDocument/2006/relationships/notesMaster" Target="/ppt/notesMasters/notesMaster1.xml" Id="R68df19a6a0e84a3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6c0287faab46ca" /><Relationship Type="http://schemas.openxmlformats.org/officeDocument/2006/relationships/notesMaster" Target="/ppt/notesMasters/notesMaster1.xml" Id="R1aa9e9e52d8a45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evidence boundary: the 24.9-second clip provides a human-adjudicated directional corridor anchor, not a site demand forecast.</a:t>
            </a:r>
          </a:p>
          <a:p xmlns:a="http://schemas.openxmlformats.org/drawingml/2006/main">
            <a:r>
              <a:t>The executable model then asks conditional operating questions under explicit assumptions.</a:t>
            </a:r>
          </a:p>
          <a:p xmlns:a="http://schemas.openxmlformats.org/drawingml/2006/main">
            <a:r>
              <a:t>The main AnyLogic evidence comprises 600 confirmatory, 2,700 capacity-surface, 450 service-variability and 1,000 peak-duration runs.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docs/task3_confirmatory_design.md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- docs/task3_service_variability_sensitivity_design.md</a:t>
            </a:r>
          </a:p>
          <a:p xmlns:a="http://schemas.openxmlformats.org/drawingml/2006/main">
            <a:r>
              <a:t>- docs/task3_peak_duration_sensitivity_design.md</a:t>
            </a:r>
          </a:p>
          <a:p xmlns:a="http://schemas.openxmlformats.org/drawingml/2006/main">
            <a:r>
              <a:t>- simulation/anylogic/HTXCheckpointSimulation/HTXCheckpointSimulation.alpx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keeps the evidence layers separate so each claim can be traced to its source and assumptions.</a:t>
            </a:r>
          </a:p>
          <a:p xmlns:a="http://schemas.openxmlformats.org/drawingml/2006/main">
            <a:r>
              <a:t>The production-reference detector/tracker is licence-permissive YOLOX-S + ByteTrack; the YOLO26m + BoT-SORT run is retained only as a rapid technical-assessment demonstration.</a:t>
            </a:r>
          </a:p>
          <a:p xmlns:a="http://schemas.openxmlformats.org/drawingml/2006/main">
            <a:r>
              <a:t>The queue-layout result is an offline exact-gated conditional replay. The AnyLogic model and UI implement pooled FCFS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docs/task2_system_design.md</a:t>
            </a:r>
          </a:p>
          <a:p xmlns:a="http://schemas.openxmlformats.org/drawingml/2006/main">
            <a:r>
              <a:t>- docs/task3_results.md</a:t>
            </a:r>
          </a:p>
          <a:p xmlns:a="http://schemas.openxmlformats.org/drawingml/2006/main">
            <a:r>
              <a:t>- results/analysis/capacity_response_surface/validation.json</a:t>
            </a:r>
          </a:p>
          <a:p xmlns:a="http://schemas.openxmlformats.org/drawingml/2006/main">
            <a:r>
              <a:t>- results/analysis/service_variability/validation.json</a:t>
            </a:r>
          </a:p>
          <a:p xmlns:a="http://schemas.openxmlformats.org/drawingml/2006/main">
            <a:r>
              <a:t>- results/analysis/peak_duration_sensitivity/validation.json</a:t>
            </a:r>
          </a:p>
          <a:p xmlns:a="http://schemas.openxmlformats.org/drawingml/2006/main">
            <a:r>
              <a:t>- LICENSING.md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heatmap is the decision surface: flat regions show one stage masking the other; steep regions expose the active bottleneck.</a:t>
            </a:r>
          </a:p>
          <a:p xmlns:a="http://schemas.openxmlformats.org/drawingml/2006/main">
            <a:r>
              <a:t>The deterministic oracle remains useful as a counterfactual: at the 36/21 model reference it predicts zero wait, whereas HPP arrivals create a 3.93-second P95.</a:t>
            </a:r>
          </a:p>
          <a:p xmlns:a="http://schemas.openxmlformats.org/drawingml/2006/main">
            <a:r>
              <a:t>36/21 is a derived pooled capacity reference, not observed staffing or a recommended roster.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- results/analysis/capacity_response_surface/heatmap.csv</a:t>
            </a:r>
          </a:p>
          <a:p xmlns:a="http://schemas.openxmlformats.org/drawingml/2006/main">
            <a:r>
              <a:t>- results/analysis/capacity_response_surface/stage_bottleneck_map.csv</a:t>
            </a:r>
          </a:p>
          <a:p xmlns:a="http://schemas.openxmlformats.org/drawingml/2006/main">
            <a:r>
              <a:t>- results/analysis/capacity_response_surface/ideal_case_comparator.csv</a:t>
            </a:r>
          </a:p>
          <a:p xmlns:a="http://schemas.openxmlformats.org/drawingml/2006/main">
            <a:r>
              <a:t>- results/analysis/capacity_response_surface/validation.json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Duration changes the interpretation. The stable model reference remains bounded, the near-critical case has a long transient, and rho above one accumulates travellers over the finite exposure.</a:t>
            </a:r>
          </a:p>
          <a:p xmlns:a="http://schemas.openxmlformats.org/drawingml/2006/main">
            <a:r>
              <a:t>The two robustness checks identify different operational levers: service variability mainly affects tail and recovery, while pooling absorbs randomness that separate queues cannot share.</a:t>
            </a:r>
          </a:p>
          <a:p xmlns:a="http://schemas.openxmlformats.org/drawingml/2006/main">
            <a:r>
              <a:t>The stationary-HPP extension is a conditional sensitivity, not an observed two-hour peak or a steady-state forecast.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docs/task3_peak_duration_sensitivity_design.md</a:t>
            </a:r>
          </a:p>
          <a:p xmlns:a="http://schemas.openxmlformats.org/drawingml/2006/main">
            <a:r>
              <a:t>- results/analysis/peak_duration_sensitivity/peak_duration_queue_sensitivity.csv</a:t>
            </a:r>
          </a:p>
          <a:p xmlns:a="http://schemas.openxmlformats.org/drawingml/2006/main">
            <a:r>
              <a:t>- results/analysis/peak_duration_sensitivity/validation.json</a:t>
            </a:r>
          </a:p>
          <a:p xmlns:a="http://schemas.openxmlformats.org/drawingml/2006/main">
            <a:r>
              <a:t>- results/analysis/service_variability/paired_contrasts.csv</a:t>
            </a:r>
          </a:p>
          <a:p xmlns:a="http://schemas.openxmlformats.org/drawingml/2006/main">
            <a:r>
              <a:t>- results/analysis/queue_policy_sensitivity/paired_contrasts.csv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output is a decision sequence, not a roster recommendation.</a:t>
            </a:r>
          </a:p>
          <a:p xmlns:a="http://schemas.openxmlformats.org/drawingml/2006/main">
            <a:r>
              <a:t>First calibrate actual time-of-day arrivals, routing, open resources and stage service distributions. Then locate the operating regime and active bottleneck before choosing a lever.</a:t>
            </a:r>
          </a:p>
          <a:p xmlns:a="http://schemas.openxmlformats.org/drawingml/2006/main">
            <a:r>
              <a:t>The pilot must validate queue, tail, recovery, cost, layout and security constraints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docs/task2_system_design.md</a:t>
            </a:r>
          </a:p>
          <a:p xmlns:a="http://schemas.openxmlformats.org/drawingml/2006/main">
            <a:r>
              <a:t>- docs/task3_results.md</a:t>
            </a:r>
          </a:p>
          <a:p xmlns:a="http://schemas.openxmlformats.org/drawingml/2006/main">
            <a:r>
              <a:t>- docs/task3_peak_duration_sensitivity_design.md</a:t>
            </a:r>
          </a:p>
          <a:p xmlns:a="http://schemas.openxmlformats.org/drawingml/2006/main">
            <a:r>
              <a:t>- LICENSING.md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7375243012496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46cbac0c944050" /><Relationship Type="http://schemas.openxmlformats.org/officeDocument/2006/relationships/slideLayout" Target="/ppt/slideLayouts/slideLayout1.xml" Id="R3fc44018402f44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c44018402f44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bf2ec0aa34992" /><Relationship Type="http://schemas.openxmlformats.org/officeDocument/2006/relationships/image" Target="/ppt/media/image.png" Id="Rd8d3dc3955164a19" /><Relationship Type="http://schemas.openxmlformats.org/officeDocument/2006/relationships/notesSlide" Target="/ppt/notesSlides/notesSlide1.xml" Id="R6660535e4c7f4f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7b1ddc34943be" /><Relationship Type="http://schemas.openxmlformats.org/officeDocument/2006/relationships/image" Target="/ppt/media/image2.png" Id="Ra54d4421968a4de4" /><Relationship Type="http://schemas.openxmlformats.org/officeDocument/2006/relationships/notesSlide" Target="/ppt/notesSlides/notesSlide2.xml" Id="R4aa4d218d6104f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92de00a1c4e0c" /><Relationship Type="http://schemas.openxmlformats.org/officeDocument/2006/relationships/image" Target="/ppt/media/image3.png" Id="Raa1bd7119d684c87" /><Relationship Type="http://schemas.openxmlformats.org/officeDocument/2006/relationships/notesSlide" Target="/ppt/notesSlides/notesSlide3.xml" Id="Rc8f7e1a372204c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9058b669a144cb" /><Relationship Type="http://schemas.openxmlformats.org/officeDocument/2006/relationships/image" Target="/ppt/media/image4.png" Id="Rf2b644a604a940c5" /><Relationship Type="http://schemas.openxmlformats.org/officeDocument/2006/relationships/notesSlide" Target="/ppt/notesSlides/notesSlide4.xml" Id="R3f0ef9f7dad64a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fc983fcbb474d" /><Relationship Type="http://schemas.openxmlformats.org/officeDocument/2006/relationships/notesSlide" Target="/ppt/notesSlides/notesSlide5.xml" Id="R6d9312f0640f403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9288D322-DDC7-4465-82AC-EDF83077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09700"/>
            <a:ext cx="6048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Evidence-Driven Checkpoint Simulation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39B7715-2F50-423E-A74B-06CA95BA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429125"/>
            <a:ext cx="581025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5"/>
              </a:spcAft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34 accepted R→L crossings anchor the conditional model.</a:t>
            </a:r>
          </a:p>
          <a:p xmlns:a="http://schemas.openxmlformats.org/drawingml/2006/main">
            <a:pPr algn="l"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4,750 validated AnyLogic runs + exact-gated replay map its operating boundary.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59ADD88-C8CE-4179-B463-D903CA99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81000"/>
            <a:ext cx="8572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WANG YU · HTX DSAI TECHNICAL ASSESSMENT · TASK 4</a:t>
            </a:r>
          </a:p>
        </p:txBody>
      </p:sp>
      <p:sp>
        <p:nvSpPr>
          <p:cNvPr id="5" name="hero-evidence-card">
            <a:extLst xmlns:a="http://schemas.openxmlformats.org/drawingml/2006/main">
              <a:ext uri="{FF2B5EF4-FFF2-40B4-BE49-F238E27FC236}">
                <a16:creationId xmlns:a16="http://schemas.microsoft.com/office/drawing/2014/main" id="{3CCBDDF3-2F4D-45B2-A30E-873909BD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52550"/>
            <a:ext cx="5124450" cy="3905250"/>
          </a:xfrm>
          <a:prstGeom xmlns:a="http://schemas.openxmlformats.org/drawingml/2006/main" prst="roundRect">
            <a:avLst>
              <a:gd name="adj" fmla="val 341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3dc3955164a19"/>
          <a:srcRect xmlns:a="http://schemas.openxmlformats.org/drawingml/2006/main" l="0" t="8696" r="0" b="86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390650"/>
            <a:ext cx="5048250" cy="2838450"/>
          </a:xfrm>
          <a:prstGeom xmlns:a="http://schemas.openxmlformats.org/drawingml/2006/main" prst="roundRect">
            <a:avLst/>
          </a:prstGeom>
        </p:spPr>
      </p:pic>
      <p:sp>
        <p:nvSpPr>
          <p:cNvPr id="7" name="hero-metric-count">
            <a:extLst xmlns:a="http://schemas.openxmlformats.org/drawingml/2006/main">
              <a:ext uri="{FF2B5EF4-FFF2-40B4-BE49-F238E27FC236}">
                <a16:creationId xmlns:a16="http://schemas.microsoft.com/office/drawing/2014/main" id="{39E43281-25B5-49FC-9F8A-5E6336B3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71975"/>
            <a:ext cx="142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8" name="hero-metric-count-label">
            <a:extLst xmlns:a="http://schemas.openxmlformats.org/drawingml/2006/main">
              <a:ext uri="{FF2B5EF4-FFF2-40B4-BE49-F238E27FC236}">
                <a16:creationId xmlns:a16="http://schemas.microsoft.com/office/drawing/2014/main" id="{0A560E4F-ED58-4ADA-B33E-722C5F0A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52975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9" name="hero-metric-divider">
            <a:extLst xmlns:a="http://schemas.openxmlformats.org/drawingml/2006/main">
              <a:ext uri="{FF2B5EF4-FFF2-40B4-BE49-F238E27FC236}">
                <a16:creationId xmlns:a16="http://schemas.microsoft.com/office/drawing/2014/main" id="{4BE490AD-B1DB-444D-856D-C7A94749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10075"/>
            <a:ext cx="0" cy="552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0" name="hero-metric-rate">
            <a:extLst xmlns:a="http://schemas.openxmlformats.org/drawingml/2006/main">
              <a:ext uri="{FF2B5EF4-FFF2-40B4-BE49-F238E27FC236}">
                <a16:creationId xmlns:a16="http://schemas.microsoft.com/office/drawing/2014/main" id="{E07274EC-5D66-427C-B24F-94A759BC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9102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1.364/s</a:t>
            </a:r>
          </a:p>
        </p:txBody>
      </p:sp>
      <p:sp>
        <p:nvSpPr>
          <p:cNvPr id="11" name="hero-metric-rate-label">
            <a:extLst xmlns:a="http://schemas.openxmlformats.org/drawingml/2006/main">
              <a:ext uri="{FF2B5EF4-FFF2-40B4-BE49-F238E27FC236}">
                <a16:creationId xmlns:a16="http://schemas.microsoft.com/office/drawing/2014/main" id="{588D3695-C85F-42A9-B865-12D8FB94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529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short-window anchor</a:t>
            </a:r>
          </a:p>
        </p:txBody>
      </p:sp>
      <p:sp>
        <p:nvSpPr>
          <p:cNvPr id="12" name="hero-boundary">
            <a:extLst xmlns:a="http://schemas.openxmlformats.org/drawingml/2006/main">
              <a:ext uri="{FF2B5EF4-FFF2-40B4-BE49-F238E27FC236}">
                <a16:creationId xmlns:a16="http://schemas.microsoft.com/office/drawing/2014/main" id="{1AE69F7F-F4C7-42C1-9BC0-4F5E82BE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9675"/>
            <a:ext cx="470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Human-adjudicated short-window aggregate · not a long-run demand estimate</a:t>
            </a:r>
          </a:p>
        </p:txBody>
      </p:sp>
      <p:sp>
        <p:nvSpPr>
          <p:cNvPr id="1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02F7C1E-79AD-46F9-838D-8F539C78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581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From a 24.9-second observation to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a bounded decision sandbox</a:t>
            </a:r>
          </a:p>
        </p:txBody>
      </p:sp>
    </p:spTree>
    <p:extLst>
      <p:ext uri="{BB962C8B-B14F-4D97-AF65-F5344CB8AC3E}">
        <p14:creationId xmlns:p14="http://schemas.microsoft.com/office/powerpoint/2010/main" val="11533446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38DAD70-2A86-4BD4-978B-BD273F8C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29D017A-65A3-4E55-9F0E-DC4DBDDA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Measurement, mechanism and inference stay separate—and auditable</a:t>
            </a:r>
          </a:p>
        </p:txBody>
      </p:sp>
      <p:cxnSp>
        <p:nvCxnSpPr>
          <p:cNvPr id="107" name="Google-Shape-2259-p159-4"/>
          <p:cNvCxnSpPr/>
          <p:nvPr/>
        </p:nvCxnSpPr>
        <p:spPr>
          <a:xfrm xmlns:a="http://schemas.openxmlformats.org/drawingml/2006/main">
            <a:off x="337757" y="285750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87547AA-ECC4-4531-BD08-1C372AD7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71D475A-EDF8-4616-87BD-C163D054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48C384B-9230-4861-A686-4C8CA9CC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A90C8628-8309-4514-ABFD-80131C52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MEASURE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8AC50856-0B9B-495F-B745-200E4DC8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B60960C8-3730-4C31-9AE0-C17FFA19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INFER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2353D8EF-2AB9-4BC4-83C6-DCEEEB69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Executable two-stage DES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Pooled FCFS · finite resources · full drain.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36/21 derived model reference.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AA59D89-3FCE-416F-9E9C-2F45161A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34 accepted R→L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CV-assisted; human-adjudicated.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YOLOX-S + ByteTrack deployment reference.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5D61E3C9-CDBA-4B52-866E-004F6308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 validated AnyLogic studies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CRN + strict gates; queue replay exact-gated.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staffing, SLA or site-forecast claim.</a:t>
            </a:r>
          </a:p>
        </p:txBody>
      </p:sp>
      <p:sp>
        <p:nvSpPr>
          <p:cNvPr id="34" name="measure-visual-frame">
            <a:extLst xmlns:a="http://schemas.openxmlformats.org/drawingml/2006/main">
              <a:ext uri="{FF2B5EF4-FFF2-40B4-BE49-F238E27FC236}">
                <a16:creationId xmlns:a16="http://schemas.microsoft.com/office/drawing/2014/main" id="{CE96F3AF-84D3-4A9A-B41B-4E1C7EAD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6" name="model-visual-frame">
            <a:extLst xmlns:a="http://schemas.openxmlformats.org/drawingml/2006/main">
              <a:ext uri="{FF2B5EF4-FFF2-40B4-BE49-F238E27FC236}">
                <a16:creationId xmlns:a16="http://schemas.microsoft.com/office/drawing/2014/main" id="{4821BA4B-F775-4FEE-88F9-0B0D0EB7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1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4d4421968a4de4"/>
          <a:srcRect xmlns:a="http://schemas.openxmlformats.org/drawingml/2006/main" l="0" t="8139" r="0" b="81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52925" y="3028950"/>
            <a:ext cx="3448050" cy="1876425"/>
          </a:xfrm>
          <a:prstGeom xmlns:a="http://schemas.openxmlformats.org/drawingml/2006/main" prst="roundRect">
            <a:avLst>
              <a:gd name="adj" fmla="val 4569"/>
            </a:avLst>
          </a:prstGeom>
        </p:spPr>
      </p:pic>
      <p:sp>
        <p:nvSpPr>
          <p:cNvPr id="38" name="infer-grid-frame">
            <a:extLst xmlns:a="http://schemas.openxmlformats.org/drawingml/2006/main">
              <a:ext uri="{FF2B5EF4-FFF2-40B4-BE49-F238E27FC236}">
                <a16:creationId xmlns:a16="http://schemas.microsoft.com/office/drawing/2014/main" id="{25FB288A-58F4-4CD6-BF41-781A0030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9" name="infer-grid-equation">
            <a:extLst xmlns:a="http://schemas.openxmlformats.org/drawingml/2006/main">
              <a:ext uri="{FF2B5EF4-FFF2-40B4-BE49-F238E27FC236}">
                <a16:creationId xmlns:a16="http://schemas.microsoft.com/office/drawing/2014/main" id="{F1DE746B-A337-4C37-9DB6-3F6DE0C7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05150"/>
            <a:ext cx="3181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VALIDATED ANYLOGIC STUDIES</a:t>
            </a:r>
          </a:p>
        </p:txBody>
      </p:sp>
      <p:sp>
        <p:nvSpPr>
          <p:cNvPr id="40" name="matrix-col-0">
            <a:extLst xmlns:a="http://schemas.openxmlformats.org/drawingml/2006/main">
              <a:ext uri="{FF2B5EF4-FFF2-40B4-BE49-F238E27FC236}">
                <a16:creationId xmlns:a16="http://schemas.microsoft.com/office/drawing/2014/main" id="{AF16CA2A-689F-4EEA-B50E-0C2F4760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RUNS</a:t>
            </a:r>
          </a:p>
        </p:txBody>
      </p:sp>
      <p:sp>
        <p:nvSpPr>
          <p:cNvPr id="41" name="matrix-col-1">
            <a:extLst xmlns:a="http://schemas.openxmlformats.org/drawingml/2006/main">
              <a:ext uri="{FF2B5EF4-FFF2-40B4-BE49-F238E27FC236}">
                <a16:creationId xmlns:a16="http://schemas.microsoft.com/office/drawing/2014/main" id="{55D7DED6-9946-4155-AFA3-9D5D6BBF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CRN</a:t>
            </a:r>
          </a:p>
        </p:txBody>
      </p:sp>
      <p:sp>
        <p:nvSpPr>
          <p:cNvPr id="42" name="matrix-col-2">
            <a:extLst xmlns:a="http://schemas.openxmlformats.org/drawingml/2006/main">
              <a:ext uri="{FF2B5EF4-FFF2-40B4-BE49-F238E27FC236}">
                <a16:creationId xmlns:a16="http://schemas.microsoft.com/office/drawing/2014/main" id="{AC7D9101-4265-456C-B2AF-0BD589A2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GATE</a:t>
            </a:r>
          </a:p>
        </p:txBody>
      </p:sp>
      <p:sp>
        <p:nvSpPr>
          <p:cNvPr id="43" name="matrix-row-0">
            <a:extLst xmlns:a="http://schemas.openxmlformats.org/drawingml/2006/main">
              <a:ext uri="{FF2B5EF4-FFF2-40B4-BE49-F238E27FC236}">
                <a16:creationId xmlns:a16="http://schemas.microsoft.com/office/drawing/2014/main" id="{C4F040C5-535E-44AD-9340-43E1F224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385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CONF</a:t>
            </a:r>
          </a:p>
        </p:txBody>
      </p:sp>
      <p:sp>
        <p:nvSpPr>
          <p:cNvPr id="44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797CB83C-DD50-4CFD-A969-E38D3FDF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600</a:t>
            </a:r>
          </a:p>
        </p:txBody>
      </p:sp>
      <p:sp>
        <p:nvSpPr>
          <p:cNvPr id="45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3758280C-E085-415F-86CB-FBE6F85B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46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AB43D57A-7C35-4CA3-866E-414AFA31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47" name="matrix-row-1">
            <a:extLst xmlns:a="http://schemas.openxmlformats.org/drawingml/2006/main">
              <a:ext uri="{FF2B5EF4-FFF2-40B4-BE49-F238E27FC236}">
                <a16:creationId xmlns:a16="http://schemas.microsoft.com/office/drawing/2014/main" id="{1D98B5A6-A17C-4362-8967-C3C5C0A2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243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CAP</a:t>
            </a:r>
          </a:p>
        </p:txBody>
      </p:sp>
      <p:sp>
        <p:nvSpPr>
          <p:cNvPr id="48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06A884C2-2DEB-4C55-B02F-162412B5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2,700</a:t>
            </a:r>
          </a:p>
        </p:txBody>
      </p:sp>
      <p:sp>
        <p:nvSpPr>
          <p:cNvPr id="49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352B562C-E52E-4313-B6E0-C293AB0A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0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055605D0-6D7D-4784-9016-C8DF9AAD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1" name="matrix-row-2">
            <a:extLst xmlns:a="http://schemas.openxmlformats.org/drawingml/2006/main">
              <a:ext uri="{FF2B5EF4-FFF2-40B4-BE49-F238E27FC236}">
                <a16:creationId xmlns:a16="http://schemas.microsoft.com/office/drawing/2014/main" id="{B09D421D-A364-40AB-AA09-278169CE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100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CV</a:t>
            </a:r>
          </a:p>
        </p:txBody>
      </p:sp>
      <p:sp>
        <p:nvSpPr>
          <p:cNvPr id="52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B7FF171F-9420-4AA0-A27D-C5C58E32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450</a:t>
            </a:r>
          </a:p>
        </p:txBody>
      </p:sp>
      <p:sp>
        <p:nvSpPr>
          <p:cNvPr id="53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95C83C43-7688-4286-BAC5-92EE2B6E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4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87931BCE-61EF-45DE-AC82-F3214155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5" name="matrix-row-3">
            <a:extLst xmlns:a="http://schemas.openxmlformats.org/drawingml/2006/main">
              <a:ext uri="{FF2B5EF4-FFF2-40B4-BE49-F238E27FC236}">
                <a16:creationId xmlns:a16="http://schemas.microsoft.com/office/drawing/2014/main" id="{D32483B3-C94B-4ADF-8A1D-8ABB6DD9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958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PEAK</a:t>
            </a:r>
          </a:p>
        </p:txBody>
      </p:sp>
      <p:sp>
        <p:nvSpPr>
          <p:cNvPr id="56" name="matrix-cell-3-0">
            <a:extLst xmlns:a="http://schemas.openxmlformats.org/drawingml/2006/main">
              <a:ext uri="{FF2B5EF4-FFF2-40B4-BE49-F238E27FC236}">
                <a16:creationId xmlns:a16="http://schemas.microsoft.com/office/drawing/2014/main" id="{709705E3-6709-46DB-B69A-068838B3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1,000</a:t>
            </a:r>
          </a:p>
        </p:txBody>
      </p:sp>
      <p:sp>
        <p:nvSpPr>
          <p:cNvPr id="57" name="matrix-cell-3-1">
            <a:extLst xmlns:a="http://schemas.openxmlformats.org/drawingml/2006/main">
              <a:ext uri="{FF2B5EF4-FFF2-40B4-BE49-F238E27FC236}">
                <a16:creationId xmlns:a16="http://schemas.microsoft.com/office/drawing/2014/main" id="{D580DDFF-D8DD-4F4D-A764-2890DEAC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8" name="matrix-cell-3-2">
            <a:extLst xmlns:a="http://schemas.openxmlformats.org/drawingml/2006/main">
              <a:ext uri="{FF2B5EF4-FFF2-40B4-BE49-F238E27FC236}">
                <a16:creationId xmlns:a16="http://schemas.microsoft.com/office/drawing/2014/main" id="{FF462A06-0A87-4952-A9CF-C428ED9E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9" name="infer-grid-footer">
            <a:extLst xmlns:a="http://schemas.openxmlformats.org/drawingml/2006/main">
              <a:ext uri="{FF2B5EF4-FFF2-40B4-BE49-F238E27FC236}">
                <a16:creationId xmlns:a16="http://schemas.microsoft.com/office/drawing/2014/main" id="{F4B05477-1CD9-44E8-A650-91B3CF5E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95825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QUEUE REPLAY · 2 × 50 paired · exact gate PASS</a:t>
            </a:r>
          </a:p>
        </p:txBody>
      </p:sp>
      <p:sp>
        <p:nvSpPr>
          <p:cNvPr id="100" name="measure-r2l-value">
            <a:extLst xmlns:a="http://schemas.openxmlformats.org/drawingml/2006/main">
              <a:ext uri="{FF2B5EF4-FFF2-40B4-BE49-F238E27FC236}">
                <a16:creationId xmlns:a16="http://schemas.microsoft.com/office/drawing/2014/main" id="{1AD6F9AB-3B95-4EBE-8870-44ADB9DC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71825"/>
            <a:ext cx="1381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101" name="measure-r2l-label">
            <a:extLst xmlns:a="http://schemas.openxmlformats.org/drawingml/2006/main">
              <a:ext uri="{FF2B5EF4-FFF2-40B4-BE49-F238E27FC236}">
                <a16:creationId xmlns:a16="http://schemas.microsoft.com/office/drawing/2014/main" id="{072C557A-5B2F-490D-B12B-BA429137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102" name="measure-l2r-value">
            <a:extLst xmlns:a="http://schemas.openxmlformats.org/drawingml/2006/main">
              <a:ext uri="{FF2B5EF4-FFF2-40B4-BE49-F238E27FC236}">
                <a16:creationId xmlns:a16="http://schemas.microsoft.com/office/drawing/2014/main" id="{659EABDE-9269-42A2-8097-47179DD9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257550"/>
            <a:ext cx="1095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103" name="measure-l2r-label">
            <a:extLst xmlns:a="http://schemas.openxmlformats.org/drawingml/2006/main">
              <a:ext uri="{FF2B5EF4-FFF2-40B4-BE49-F238E27FC236}">
                <a16:creationId xmlns:a16="http://schemas.microsoft.com/office/drawing/2014/main" id="{DFA3461E-90F0-4773-9450-B9A0D1C5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857625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opposite direction</a:t>
            </a:r>
          </a:p>
        </p:txBody>
      </p:sp>
      <p:sp>
        <p:nvSpPr>
          <p:cNvPr id="104" name="measure-adjudication-flow">
            <a:extLst xmlns:a="http://schemas.openxmlformats.org/drawingml/2006/main">
              <a:ext uri="{FF2B5EF4-FFF2-40B4-BE49-F238E27FC236}">
                <a16:creationId xmlns:a16="http://schemas.microsoft.com/office/drawing/2014/main" id="{9412E7DE-6D34-4598-A24F-AF54075F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CV-assisted  →  human accepted</a:t>
            </a:r>
          </a:p>
        </p:txBody>
      </p:sp>
    </p:spTree>
    <p:extLst>
      <p:ext uri="{BB962C8B-B14F-4D97-AF65-F5344CB8AC3E}">
        <p14:creationId xmlns:p14="http://schemas.microsoft.com/office/powerpoint/2010/main" val="4623974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Queueing starts early—and the active bottleneck shifts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54-cell capacity surface · mean P95 total wait · n=50/cell</a:t>
            </a:r>
          </a:p>
        </p:txBody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954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Queueing starts early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36/21, ideal P95 is 0 s; HPP arrivals produce 3.93 s.</a:t>
            </a:r>
          </a:p>
        </p:txBody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4797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bottleneck shifts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I16, Security is masked; at S28, Immigration is masked.</a:t>
            </a:r>
          </a:p>
        </p:txBody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005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Interpret the regime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Near ρ ≈ 1, one lost position creates a much larger delay penalty.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05727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300-s Base cohort · pooled FCFS · fixed service · empty/idle start · full drain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54 cells × 50; 2,700 COMPLETE; CRN + validation PASS—not a site forecast.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1bd7119d684c87"/>
          <a:srcRect xmlns:a="http://schemas.openxmlformats.org/drawingml/2006/main" l="0" t="9865" r="0" b="9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381125"/>
            <a:ext cx="762000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Duration exposes the operating regime around ρ ≈ 1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Stationary-HPP duration sensitivity · n=50/cell</a:t>
            </a:r>
          </a:p>
        </p:txBody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954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Stable / near-critical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ρ=.845: 4.47 s at 120 min. ρ=.992: 55.91 s.</a:t>
            </a:r>
          </a:p>
        </p:txBody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4797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Accumulating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ρ=1.043: 307 s. ρ=1.108: 748 s.</a:t>
            </a:r>
          </a:p>
        </p:txBody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005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Robustness checks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Joint CV1: +96.0 s clearance. Separate queues: +7.58 s P95.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05727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Only 5/15/30/60/120 min simulated · 1,000/1,000 runs · full drain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Stationary-HPP sensitivity—not observed time-of-day, steady-state SLA or staffing advice.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b644a604a940c5"/>
          <a:stretch xmlns:a="http://schemas.openxmlformats.org/drawingml/2006/main"/>
        </p:blipFill>
        <p:spPr>
          <a:xfrm xmlns:a="http://schemas.openxmlformats.org/drawingml/2006/main">
            <a:off x="400050" y="1992894"/>
            <a:ext cx="7620000" cy="33960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81BD1AE-7A11-4633-9882-26A54E61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0D39F14-0FCC-4D48-84A9-503858E9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Calibrate the site, locate the regime, then pilot the right lever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1F734D25-6349-400F-AF66-BD1D9FB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4805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Time-of-day arrivals + signed event ledger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6E6D46D7-9507-4899-9A12-17E0E292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55282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CBEFA16B-F7C2-4B24-A924-9B27DF4A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0"/>
            <a:ext cx="6191250" cy="2524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DECISION NOW</a:t>
            </a:r>
          </a:p>
          <a:p xmlns:a="http://schemas.openxmlformats.org/drawingml/2006/main">
            <a:pPr algn="l">
              <a:spcAft>
                <a:spcPts val="10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Advance the validated mechanism to site calibration.</a:t>
            </a:r>
          </a:p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THIS MATTERS</a:t>
            </a:r>
          </a:p>
          <a:p xmlns:a="http://schemas.openxmlformats.org/drawingml/2006/main">
            <a:pPr algn="l">
              <a:spcAft>
                <a:spcPts val="10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model exposes three levers: capacity margin, service variability and queue pooling.</a:t>
            </a:r>
          </a:p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36/21 is a derived pooled reference—not observed staffing; routing, open-resource schedules and service distributions remain unobserved.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9655FE59-28B3-4208-9D38-8CA87FE9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33825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Corridor-to-processing-unit allocation + routing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CC826CCF-C388-4016-A482-29D3EE88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038600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D0C114C5-CD12-458B-A70E-03F6AAD9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1960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Stage service distributions + exceptions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7BA09227-E603-41B2-A52E-4BA0F973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52437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C79C4205-427A-49A2-BB34-A8B17223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905375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Observed queue policy + physical capacity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259AF994-9B8C-40D7-A87E-8E5704D9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010150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7312FCBA-29F0-4015-BEE9-35804F58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39115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CV licence + security controls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96FBE91E-D88B-4CA9-A68E-7D71952C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9592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6" name="phase-gate-1">
            <a:extLst xmlns:a="http://schemas.openxmlformats.org/drawingml/2006/main">
              <a:ext uri="{FF2B5EF4-FFF2-40B4-BE49-F238E27FC236}">
                <a16:creationId xmlns:a16="http://schemas.microsoft.com/office/drawing/2014/main" id="{DC096A07-3EA7-4C3A-838A-9F9AD6A3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1  CALIBRATE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Time-of-day arrivals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+ stage service</a:t>
            </a:r>
          </a:p>
        </p:txBody>
      </p:sp>
      <p:sp>
        <p:nvSpPr>
          <p:cNvPr id="17" name="phase-gate-2">
            <a:extLst xmlns:a="http://schemas.openxmlformats.org/drawingml/2006/main">
              <a:ext uri="{FF2B5EF4-FFF2-40B4-BE49-F238E27FC236}">
                <a16:creationId xmlns:a16="http://schemas.microsoft.com/office/drawing/2014/main" id="{2D791E4B-7071-45D5-A2EB-04E17960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FE0FF"/>
          </a:solidFill>
          <a:ln xmlns:a="http://schemas.openxmlformats.org/drawingml/2006/main" w="9525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2  LOCATE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ρ + active bottleneck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+ duration regime</a:t>
            </a:r>
          </a:p>
        </p:txBody>
      </p:sp>
      <p:sp>
        <p:nvSpPr>
          <p:cNvPr id="18" name="phase-gate-3">
            <a:extLst xmlns:a="http://schemas.openxmlformats.org/drawingml/2006/main">
              <a:ext uri="{FF2B5EF4-FFF2-40B4-BE49-F238E27FC236}">
                <a16:creationId xmlns:a16="http://schemas.microsoft.com/office/drawing/2014/main" id="{4C31623C-81F3-431F-91E4-47697896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245FCB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rPr>
              <a:t>3  PILOT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rPr>
              <a:t>Capacity, pooling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rPr>
              <a:t>or variability relief</a:t>
            </a:r>
          </a:p>
        </p:txBody>
      </p:sp>
      <p:sp>
        <p:nvSpPr>
          <p:cNvPr id="19" name="phase-gate-4">
            <a:extLst xmlns:a="http://schemas.openxmlformats.org/drawingml/2006/main">
              <a:ext uri="{FF2B5EF4-FFF2-40B4-BE49-F238E27FC236}">
                <a16:creationId xmlns:a16="http://schemas.microsoft.com/office/drawing/2014/main" id="{D37384A9-C52E-4C40-9878-631158B4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9ECF2"/>
          </a:solidFill>
          <a:ln xmlns:a="http://schemas.openxmlformats.org/drawingml/2006/main" w="9525">
            <a:solidFill>
              <a:srgbClr val="AAB3C2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4  VALIDATE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Tail, recovery, cost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+ physical constraints</a:t>
            </a:r>
          </a:p>
        </p:txBody>
      </p:sp>
    </p:spTree>
    <p:extLst>
      <p:ext uri="{BB962C8B-B14F-4D97-AF65-F5344CB8AC3E}">
        <p14:creationId xmlns:p14="http://schemas.microsoft.com/office/powerpoint/2010/main" val="987544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2026-07-29T11:31:54.3580000Z</dcterms:created>
  <dcterms:modified xsi:type="dcterms:W3CDTF">2026-07-29T11:31:54.3580000Z</dcterms:modified>
</coreProperties>
</file>