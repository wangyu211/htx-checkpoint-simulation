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4dbf598d94621" /><Relationship Type="http://schemas.openxmlformats.org/officeDocument/2006/relationships/extended-properties" Target="/docProps/app.xml" Id="Rba3245651c704f58" /><Relationship Type="http://schemas.openxmlformats.org/officeDocument/2006/relationships/officeDocument" Target="/ppt/presentation.xml" Id="R8075dcea8558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3e7b5eebd4c60"/>
  </p:sldMasterIdLst>
  <p:notesMasterIdLst>
    <p:notesMasterId xmlns:r="http://schemas.openxmlformats.org/officeDocument/2006/relationships" r:id="R7686effcad0b4b8d"/>
  </p:notesMasterIdLst>
  <p:sldIdLst>
    <p:sldId xmlns:r="http://schemas.openxmlformats.org/officeDocument/2006/relationships" id="256" r:id="Re7b2fb3566e04da2"/>
    <p:sldId xmlns:r="http://schemas.openxmlformats.org/officeDocument/2006/relationships" id="257" r:id="R8a548c80ca0e4597"/>
    <p:sldId xmlns:r="http://schemas.openxmlformats.org/officeDocument/2006/relationships" id="258" r:id="R63084f3414714c6a"/>
    <p:sldId xmlns:r="http://schemas.openxmlformats.org/officeDocument/2006/relationships" id="259" r:id="Re7f1b29a70764b66"/>
    <p:sldId xmlns:r="http://schemas.openxmlformats.org/officeDocument/2006/relationships" id="260" r:id="R365bc181325243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4e3ec612d4dba" /><Relationship Type="http://schemas.openxmlformats.org/officeDocument/2006/relationships/slideMaster" Target="/ppt/slideMasters/slideMaster1.xml" Id="R4f63e7b5eebd4c60" /><Relationship Type="http://schemas.openxmlformats.org/officeDocument/2006/relationships/notesMaster" Target="/ppt/notesMasters/notesMaster1.xml" Id="R7686effcad0b4b8d" /><Relationship Type="http://schemas.openxmlformats.org/officeDocument/2006/relationships/presProps" Target="/ppt/presProps.xml" Id="Re4d35404648842c4" /><Relationship Type="http://schemas.openxmlformats.org/officeDocument/2006/relationships/viewProps" Target="/ppt/viewProps.xml" Id="R111f9bd160e64f6a" /><Relationship Type="http://schemas.openxmlformats.org/officeDocument/2006/relationships/tableStyles" Target="/ppt/tableStyles.xml" Id="R3713c628e7434608" /><Relationship Type="http://schemas.openxmlformats.org/officeDocument/2006/relationships/slide" Target="/ppt/slides/slide1.xml" Id="Re7b2fb3566e04da2" /><Relationship Type="http://schemas.openxmlformats.org/officeDocument/2006/relationships/slide" Target="/ppt/slides/slide2.xml" Id="R8a548c80ca0e4597" /><Relationship Type="http://schemas.openxmlformats.org/officeDocument/2006/relationships/slide" Target="/ppt/slides/slide3.xml" Id="R63084f3414714c6a" /><Relationship Type="http://schemas.openxmlformats.org/officeDocument/2006/relationships/slide" Target="/ppt/slides/slide4.xml" Id="Re7f1b29a70764b66" /><Relationship Type="http://schemas.openxmlformats.org/officeDocument/2006/relationships/slide" Target="/ppt/slides/slide5.xml" Id="R365bc1813252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f5a68a7d143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1782dc4804632" /><Relationship Type="http://schemas.openxmlformats.org/officeDocument/2006/relationships/notesMaster" Target="/ppt/notesMasters/notesMaster1.xml" Id="R9efd8e59761d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38ed038e87432f" /><Relationship Type="http://schemas.openxmlformats.org/officeDocument/2006/relationships/notesMaster" Target="/ppt/notesMasters/notesMaster1.xml" Id="R3e53d202c54f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6adac11f54d8b" /><Relationship Type="http://schemas.openxmlformats.org/officeDocument/2006/relationships/notesMaster" Target="/ppt/notesMasters/notesMaster1.xml" Id="R3c8e0ab4427e44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af0d691484bad" /><Relationship Type="http://schemas.openxmlformats.org/officeDocument/2006/relationships/notesMaster" Target="/ppt/notesMasters/notesMaster1.xml" Id="R081ee1fa1792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6dcdc13ef4c4e" /><Relationship Type="http://schemas.openxmlformats.org/officeDocument/2006/relationships/notesMaster" Target="/ppt/notesMasters/notesMaster1.xml" Id="R4e0e7c08dbe3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 defines the supplied evidence and the measurement geometry; it deliberately does not present the accepted traveller count or arrival-rate output.</a:t>
            </a:r>
          </a:p>
          <a:p xmlns:a="http://schemas.openxmlformats.org/drawingml/2006/main">
            <a:r>
              <a:t>The supplied video is 1280×720 pixels, 748 frames and 24.922788889 seconds long. The recorded frame rate is 30.012692534 FPS, shown as approximately 30 FPS.</a:t>
            </a:r>
          </a:p>
          <a:p xmlns:a="http://schemas.openxmlformats.org/drawingml/2006/main">
            <a:r>
              <a:t>The analysis ROI is the full width and top 310 pixels: [0,0,1280,310], described as y&lt;310. The vertical count line is x=640.</a:t>
            </a:r>
          </a:p>
          <a:p xmlns:a="http://schemas.openxmlformats.org/drawingml/2006/main">
            <a:r>
              <a:t>Accepted results—34 R→L / 12 L→R and the 1.364213 travellers/s short-window anchor—are presented on slide 2.</a:t>
            </a:r>
          </a:p>
          <a:p xmlns:a="http://schemas.openxmlformats.org/drawingml/2006/main">
            <a:r>
              <a:t>The 5,150 AnyLogic runs comprise 600 confirmatory, 2,700 capacity-surface, 450 service-variability, 1,000 peak-duration and 400 finite-buffer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TechnicalTestVideo-main/TestVidTask.mov</a:t>
            </a:r>
          </a:p>
          <a:p xmlns:a="http://schemas.openxmlformats.org/drawingml/2006/main">
            <a:r>
              <a:t>- _work/tracker_ab_yolo26m_20260727/botsort/run_summary.json</a:t>
            </a:r>
          </a:p>
          <a:p xmlns:a="http://schemas.openxmlformats.org/drawingml/2006/main">
            <a:r>
              <a:t>- docs/task1_measurement.md</a:t>
            </a:r>
          </a:p>
          <a:p xmlns:a="http://schemas.openxmlformats.org/drawingml/2006/main">
            <a:r>
              <a:t>- docs/task3_confirmatory_design.md</a:t>
            </a:r>
          </a:p>
          <a:p xmlns:a="http://schemas.openxmlformats.org/drawingml/2006/main">
            <a:r>
              <a:t>- docs/task3_capacity_response_surface_design.md</a:t>
            </a:r>
          </a:p>
          <a:p xmlns:a="http://schemas.openxmlformats.org/drawingml/2006/main">
            <a:r>
              <a:t>- docs/task3_service_variability_sensitivity_design.md</a:t>
            </a:r>
          </a:p>
          <a:p xmlns:a="http://schemas.openxmlformats.org/drawingml/2006/main">
            <a:r>
              <a:t>- docs/task3_peak_duration_sensitivity_design.md</a:t>
            </a:r>
          </a:p>
          <a:p xmlns:a="http://schemas.openxmlformats.org/drawingml/2006/main">
            <a:r>
              <a:t>- config/interstage_buffer_study.json</a:t>
            </a:r>
          </a:p>
          <a:p xmlns:a="http://schemas.openxmlformats.org/drawingml/2006/main">
            <a:r>
              <a:t>- results/analysis/interstage_buffer/validation.json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 implements a basic AI inference pipeline for data collection: supplied video → YOLO26m ONNX person detections → BoT-SORT tracking → crossing ledger → full-video human audit → simulation input.</a:t>
            </a:r>
          </a:p>
          <a:p xmlns:a="http://schemas.openxmlformats.org/drawingml/2006/main">
            <a:r>
              <a:t>The screenshot is a literal ROI crop at 14.9 seconds from the executed run. It shows a running count of 18 R→L and 7 L→R at that frame.</a:t>
            </a:r>
          </a:p>
          <a:p xmlns:a="http://schemas.openxmlformats.org/drawingml/2006/main">
            <a:r>
              <a:t>The completed BoT-SORT machine candidate ledger contains 30 R→L and 8 L→R candidates. These are not ground truth.</a:t>
            </a:r>
          </a:p>
          <a:p xmlns:a="http://schemas.openxmlformats.org/drawingml/2006/main">
            <a:r>
              <a:t>Full-video human review accepts an aggregate of 34 R→L and 12 L→R. The 34 R→L events over 24.922788889 seconds yield the 1.364213 travellers/s short-window simulation anchor.</a:t>
            </a:r>
          </a:p>
          <a:p xmlns:a="http://schemas.openxmlformats.org/drawingml/2006/main">
            <a:r>
              <a:t>Detector sensitivity, holding Hungarian association fixed: YOLOX-S 28/8, YOLO26s 38/14, YOLO26m 34/12 (R→L/L→R).</a:t>
            </a:r>
          </a:p>
          <a:p xmlns:a="http://schemas.openxmlformats.org/drawingml/2006/main">
            <a:r>
              <a:t>Tracker sensitivity, holding the YOLO26m detection cache fixed: Hungarian 34/12, ByteTrack 27/9, BoT-SORT 30/8.</a:t>
            </a:r>
          </a:p>
          <a:p xmlns:a="http://schemas.openxmlformats.org/drawingml/2006/main">
            <a:r>
              <a:t>The exact aggregate match from YOLO26m plus Hungarian is not validation; it can contain compensating misses and duplicates. No signed human event-time ledger exists, so no model accuracy is claimed.</a:t>
            </a:r>
          </a:p>
          <a:p xmlns:a="http://schemas.openxmlformats.org/drawingml/2006/main">
            <a:r>
              <a:t>YOLO26m and the Ultralytics BoT-SORT implementation are retained as research/demo benchmarks. Production deployment requires appropriate licensing and security review; YOLOX-S plus Supervision ByteTrack is the licence-friendlier cross-check, not a fully production-cleared system.</a:t>
            </a:r>
          </a:p>
          <a:p xmlns:a="http://schemas.openxmlformats.org/drawingml/2006/main"/>
          <a:p xmlns:a="http://schemas.openxmlformats.org/drawingml/2006/main">
            <a:r>
              <a:rPr b="1"/>
              <a:t>GMC off：</a:t>
            </a:r>
            <a:r>
              <a:t> Global Motion Compensation</a:t>
            </a:r>
          </a:p>
          <a:p xmlns:a="http://schemas.openxmlformats.org/drawingml/2006/main">
            <a:r>
              <a:t>ReID off： Re-identification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TechnicalTestVideo-main/TestVidTask.mov</a:t>
            </a:r>
          </a:p>
          <a:p xmlns:a="http://schemas.openxmlformats.org/drawingml/2006/main">
            <a:r>
              <a:t>- src/cv/yolo26_onnx.py</a:t>
            </a:r>
          </a:p>
          <a:p xmlns:a="http://schemas.openxmlformats.org/drawingml/2006/main">
            <a:r>
              <a:t>- src/cv/audit_crossings.py</a:t>
            </a:r>
          </a:p>
          <a:p xmlns:a="http://schemas.openxmlformats.org/drawingml/2006/main">
            <a:r>
              <a:t>- _work/tracker_ab_yolo26m_20260727/botsort/annotated_crossings.mp4</a:t>
            </a:r>
          </a:p>
          <a:p xmlns:a="http://schemas.openxmlformats.org/drawingml/2006/main">
            <a:r>
              <a:t>- _work/tracker_ab_yolo26m_20260727/botsort/crossing_ledger.csv</a:t>
            </a:r>
          </a:p>
          <a:p xmlns:a="http://schemas.openxmlformats.org/drawingml/2006/main">
            <a:r>
              <a:t>- _work/tracker_ab_yolo26m_20260727/botsort/run_summary.json</a:t>
            </a:r>
          </a:p>
          <a:p xmlns:a="http://schemas.openxmlformats.org/drawingml/2006/main">
            <a:r>
              <a:t>- data/derived/task1_final_aggregate.csv</a:t>
            </a:r>
          </a:p>
          <a:p xmlns:a="http://schemas.openxmlformats.org/drawingml/2006/main">
            <a:r>
              <a:t>- docs/task1_measurement.md</a:t>
            </a:r>
          </a:p>
          <a:p xmlns:a="http://schemas.openxmlformats.org/drawingml/2006/main">
            <a:r>
              <a:t>- docs/yolo26_detector_ab.md</a:t>
            </a:r>
          </a:p>
          <a:p xmlns:a="http://schemas.openxmlformats.org/drawingml/2006/main">
            <a:r>
              <a:t>- docs/yolo26m_tracker_sensitivity.md</a:t>
            </a:r>
          </a:p>
          <a:p xmlns:a="http://schemas.openxmlformats.org/drawingml/2006/main">
            <a:r>
              <a:t>- LICENSING.md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 exposes the implemented traveller-level DES and separates measured, externally contextualised and assumed inputs.</a:t>
            </a:r>
          </a:p>
          <a:p xmlns:a="http://schemas.openxmlformats.org/drawingml/2006/main">
            <a:r>
              <a:t>The 1.364213 travellers/s arrival anchor is the accepted 34 right-to-left crossings divided by the 24.922788889-second supplied clip. The stationary HPP timing and 300-second arrival window are modelling assumptions, not time-of-day calibration.</a:t>
            </a:r>
          </a:p>
          <a:p xmlns:a="http://schemas.openxmlformats.org/drawingml/2006/main">
            <a:r>
              <a:t>The Security proxy is 21.818181818 seconds, the reciprocal of the conservative 165 passengers/hour/lane external throughput context. It is not a measured local individual-service distribution.</a:t>
            </a:r>
          </a:p>
          <a:p xmlns:a="http://schemas.openxmlformats.org/drawingml/2006/main">
            <a:r>
              <a:t>The Immigration proxy is the named 13-second Singapore bus-hall passport-clearance context. It is a deterministic scenario input, not a measurement from the supplied corridor.</a:t>
            </a:r>
          </a:p>
          <a:p xmlns:a="http://schemas.openxmlformats.org/drawingml/2006/main">
            <a:r>
              <a:t>The target utilisation rho &lt;= 0.85 is a design rule retaining at least 15% nominal headroom. Applying ceil(lambda times service demand divided by 0.85) yields the derived pooled reference capacities 36/21; these are not observed staffing.</a:t>
            </a:r>
          </a:p>
          <a:p xmlns:a="http://schemas.openxmlformats.org/drawingml/2006/main">
            <a:r>
              <a:t>The model implements two finite-resource stages, pooled FCFS, full drain and explicit logging. Routing, automation, service variability, capacity and arrival duration are controlled experimental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config/provenance_registry.csv</a:t>
            </a:r>
          </a:p>
          <a:p xmlns:a="http://schemas.openxmlformats.org/drawingml/2006/main">
            <a:r>
              <a:t>- config/parameter_registry.csv</a:t>
            </a:r>
          </a:p>
          <a:p xmlns:a="http://schemas.openxmlformats.org/drawingml/2006/main">
            <a:r>
              <a:t>- docs/task2_system_design.md</a:t>
            </a:r>
          </a:p>
          <a:p xmlns:a="http://schemas.openxmlformats.org/drawingml/2006/main">
            <a:r>
              <a:t>- docs/task3_results.md</a:t>
            </a:r>
          </a:p>
          <a:p xmlns:a="http://schemas.openxmlformats.org/drawingml/2006/main">
            <a:r>
              <a:t>- https://www.gao.gov/assets/a257263.html</a:t>
            </a:r>
          </a:p>
          <a:p xmlns:a="http://schemas.openxmlformats.org/drawingml/2006/main">
            <a:r>
              <a:t>- https://www.mha.gov.sg/media-room/newsroom/average-duration-to-process-travellers-at-bus-halls-of-land-checkpoints-using-qr-code-or-passport/</a:t>
            </a:r>
          </a:p>
          <a:p xmlns:a="http://schemas.openxmlformats.org/drawingml/2006/main">
            <a:r>
              <a:t>- results/analysis/capacity_response_surface/validation.json</a:t>
            </a:r>
          </a:p>
          <a:p xmlns:a="http://schemas.openxmlformats.org/drawingml/2006/main">
            <a:r>
              <a:t>- results/analysis/service_variability/validation.json</a:t>
            </a:r>
          </a:p>
          <a:p xmlns:a="http://schemas.openxmlformats.org/drawingml/2006/main">
            <a:r>
              <a:t>- results/analysis/peak_duration_sensitivity/validation.json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Slide-reading logic:</a:t>
            </a:r>
          </a:p>
          <a:p xmlns:a="http://schemas.openxmlformats.org/drawingml/2006/main">
            <a:r>
              <a:t>A tests which capacity combinations cross the congestion threshold.</a:t>
            </a:r>
          </a:p>
          <a:p xmlns:a="http://schemas.openxmlformats.org/drawingml/2006/main">
            <a:r>
              <a:t>B tests how each capacity configuration responds as the peak lasts longer.</a:t>
            </a:r>
          </a:p>
          <a:p xmlns:a="http://schemas.openxmlformats.org/drawingml/2006/main">
            <a:r>
              <a:t>C tests whether work is cleared or remains at the arrival cutoff.</a:t>
            </a:r>
          </a:p>
          <a:p xmlns:a="http://schemas.openxmlformats.org/drawingml/2006/main">
            <a:r>
              <a:t>D tests whether finite interstage space changes traveller delay or relocates congestion upstream.</a:t>
            </a:r>
          </a:p>
          <a:p xmlns:a="http://schemas.openxmlformats.org/drawingml/2006/main">
            <a:r>
              <a:t>The 3D surface is built from 54 integer-capacity cells: Security 36 through 28 crossed with Immigration 21 through 16, with 50 replications per cell. The continuous surface only joins simulated cells as a visual guide.</a:t>
            </a:r>
          </a:p>
          <a:p xmlns:a="http://schemas.openxmlformats.org/drawingml/2006/main">
            <a:r>
              <a:t>The duration panels retain the executed experiment's Student-t 95% confidence intervals and log-scaled axes. Only 5, 15, 30, 60 and 120 minutes were simulated; connecting lines are visual guides.</a:t>
            </a:r>
          </a:p>
          <a:p xmlns:a="http://schemas.openxmlformats.org/drawingml/2006/main">
            <a:r>
              <a:t>The stable 36/21 reference remains bounded. The 30/18 case is below the rho=1 proxy but displays a long near-critical transient as exposure grows. The 29/17 and 28/16 cases exceed the rho=1 proxy and accumulate travellers over the finite arrival window.</a:t>
            </a:r>
          </a:p>
          <a:p xmlns:a="http://schemas.openxmlformats.org/drawingml/2006/main">
            <a:r>
              <a:t>The deterministic ideal comparator is a mechanism oracle, not a stochastic forecast: at 36/21 it yields zero wait while HPP arrivals yield a mean replication-level P95 total wait of 3.9288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Finite-buffer experiment: 2 regimes × B={25,50,100,5000} × 50 replications = 400 gate-passing runs.</a:t>
            </a:r>
          </a:p>
          <a:p xmlns:a="http://schemas.openxmlformats.org/drawingml/2006/main">
            <a:r>
              <a:t>Under the Immigration bottleneck S36/I16, mean Security resource-time blocked is 6.6576% at B25, 1.0069% at B50 and 0% at B100/B5000. B25 and B50 therefore relocate waiting upstream and lock Security capacity.</a:t>
            </a:r>
          </a:p>
          <a:p xmlns:a="http://schemas.openxmlformats.org/drawingml/2006/main">
            <a:r>
              <a:t>The mean of replication-level system-time P95s is 70.4274 seconds at every B. All 50 paired replications have an exact P95 delta of 0.000 seconds. This invariance is conditional on the current no-loss, single-path, work-conserving, full-drain tandem assumptions.</a:t>
            </a:r>
          </a:p>
          <a:p xmlns:a="http://schemas.openxmlformats.org/drawingml/2006/main">
            <a:r>
              <a:t>The Security-bottleneck control S30/I21 has 0% blocked resource-time at every B. B100 exactly replays the non-binding B5000 comparator in 50/50 pairs in both regimes.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docs/task3_capacity_response_surface_design.md</a:t>
            </a:r>
          </a:p>
          <a:p xmlns:a="http://schemas.openxmlformats.org/drawingml/2006/main">
            <a:r>
              <a:t>- results/analysis/capacity_response_surface/cell_estimates.csv</a:t>
            </a:r>
          </a:p>
          <a:p xmlns:a="http://schemas.openxmlformats.org/drawingml/2006/main">
            <a:r>
              <a:t>- results/analysis/capacity_response_surface/ideal_case_comparator.csv</a:t>
            </a:r>
          </a:p>
          <a:p xmlns:a="http://schemas.openxmlformats.org/drawingml/2006/main">
            <a:r>
              <a:t>- results/analysis/capacity_response_surface/validation.json</a:t>
            </a:r>
          </a:p>
          <a:p xmlns:a="http://schemas.openxmlformats.org/drawingml/2006/main">
            <a:r>
              <a:t>- docs/task3_peak_duration_sensitivity_design.md</a:t>
            </a:r>
          </a:p>
          <a:p xmlns:a="http://schemas.openxmlformats.org/drawingml/2006/main">
            <a:r>
              <a:t>- results/analysis/peak_duration_sensitivity/cell_estimates.csv</a:t>
            </a:r>
          </a:p>
          <a:p xmlns:a="http://schemas.openxmlformats.org/drawingml/2006/main">
            <a:r>
              <a:t>- results/analysis/peak_duration_sensitivity/validation.json</a:t>
            </a:r>
          </a:p>
          <a:p xmlns:a="http://schemas.openxmlformats.org/drawingml/2006/main">
            <a:r>
              <a:t>- results/analysis/interstage_buffer/analysis_manifest.json</a:t>
            </a:r>
          </a:p>
          <a:p xmlns:a="http://schemas.openxmlformats.org/drawingml/2006/main">
            <a:r>
              <a:t>- results/analysis/interstage_buffer/cell_estimates.csv</a:t>
            </a:r>
          </a:p>
          <a:p xmlns:a="http://schemas.openxmlformats.org/drawingml/2006/main">
            <a:r>
              <a:t>- results/analysis/interstage_buffer/replication_kpis.csv</a:t>
            </a:r>
          </a:p>
          <a:p xmlns:a="http://schemas.openxmlformats.org/drawingml/2006/main">
            <a:r>
              <a:t>- results/analysis/interstage_buffer/exact_replay_validation.json</a:t>
            </a:r>
          </a:p>
          <a:p xmlns:a="http://schemas.openxmlformats.org/drawingml/2006/main">
            <a:r>
              <a:t>- results/analysis/interstage_buffer/negative_control_invariance.json</a:t>
            </a:r>
          </a:p>
          <a:p xmlns:a="http://schemas.openxmlformats.org/drawingml/2006/main">
            <a:r>
              <a:t>- results/analysis/interstage_buffer/validation.json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logic:</a:t>
            </a:r>
          </a:p>
          <a:p xmlns:a="http://schemas.openxmlformats.org/drawingml/2006/main">
            <a:r>
              <a:t>The prototype establishes an auditable measurement-to-simulation pipeline and identifies conditional operating mechanisms.</a:t>
            </a:r>
          </a:p>
          <a:p xmlns:a="http://schemas.openxmlformats.org/drawingml/2006/main">
            <a:r>
              <a:t>It does not establish a field SLA, causal staffing effect, site forecast or production SOP.</a:t>
            </a:r>
          </a:p>
          <a:p xmlns:a="http://schemas.openxmlformats.org/drawingml/2006/main">
            <a:r>
              <a:t>The next gate is representative site instrumentation, calibration and held-out validation. A pilot should begin only after the calibrated model reproduces held-out queue and bottleneck behaviour, with service, recovery, cost, safety and physical-constraint KPIs.</a:t>
            </a:r>
          </a:p>
          <a:p xmlns:a="http://schemas.openxmlformats.org/drawingml/2006/main">
            <a:r>
              <a:t>Do not treat 36/21 as a staffing prescription.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docs/task1_measurement.md</a:t>
            </a:r>
          </a:p>
          <a:p xmlns:a="http://schemas.openxmlformats.org/drawingml/2006/main">
            <a:r>
              <a:t>- docs/task2_system_design.md</a:t>
            </a:r>
          </a:p>
          <a:p xmlns:a="http://schemas.openxmlformats.org/drawingml/2006/main">
            <a:r>
              <a:t>- docs/task3_results.md</a:t>
            </a:r>
          </a:p>
          <a:p xmlns:a="http://schemas.openxmlformats.org/drawingml/2006/main">
            <a:r>
              <a:t>- docs/task3_peak_duration_sensitivity_design.md</a:t>
            </a:r>
          </a:p>
          <a:p xmlns:a="http://schemas.openxmlformats.org/drawingml/2006/main">
            <a:r>
              <a:t>- results/analysis/service_variability/validation.json</a:t>
            </a:r>
          </a:p>
          <a:p xmlns:a="http://schemas.openxmlformats.org/drawingml/2006/main">
            <a:r>
              <a:t>- results/analysis/peak_duration_sensitivity/validation.json</a:t>
            </a:r>
          </a:p>
          <a:p xmlns:a="http://schemas.openxmlformats.org/drawingml/2006/main">
            <a:r>
              <a:t>- results/analysis/interstage_buffer/analysis_manifest.json</a:t>
            </a:r>
          </a:p>
          <a:p xmlns:a="http://schemas.openxmlformats.org/drawingml/2006/main">
            <a:r>
              <a:t>- results/analysis/interstage_buffer/cell_estimates.csv</a:t>
            </a:r>
          </a:p>
          <a:p xmlns:a="http://schemas.openxmlformats.org/drawingml/2006/main">
            <a:r>
              <a:t>- LICENSING.md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60756a221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cde93160b46e4" /><Relationship Type="http://schemas.openxmlformats.org/officeDocument/2006/relationships/slideLayout" Target="/ppt/slideLayouts/slideLayout1.xml" Id="Rf8f62ce90545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62ce90545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2781c1a8d44aa" /><Relationship Type="http://schemas.openxmlformats.org/officeDocument/2006/relationships/image" Target="/ppt/media/image.png" Id="Rb98aba5454fb425a" /><Relationship Type="http://schemas.openxmlformats.org/officeDocument/2006/relationships/notesSlide" Target="/ppt/notesSlides/notesSlide1.xml" Id="R3957071e736a4b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56460fa4442f2" /><Relationship Type="http://schemas.openxmlformats.org/officeDocument/2006/relationships/image" Target="/ppt/media/image2.png" Id="R2763cd8f7df94b73" /><Relationship Type="http://schemas.openxmlformats.org/officeDocument/2006/relationships/image" Target="/ppt/media/image3.png" Id="Rec1c170e2eb84823" /><Relationship Type="http://schemas.openxmlformats.org/officeDocument/2006/relationships/notesSlide" Target="/ppt/notesSlides/notesSlide2.xml" Id="R31e6a45e00e84d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0ce33367c43a9" /><Relationship Type="http://schemas.openxmlformats.org/officeDocument/2006/relationships/image" Target="/ppt/media/image4.png" Id="Ra898b0bd64e24e3c" /><Relationship Type="http://schemas.openxmlformats.org/officeDocument/2006/relationships/notesSlide" Target="/ppt/notesSlides/notesSlide3.xml" Id="R000fda35895847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fa0a1d5824cc2" /><Relationship Type="http://schemas.openxmlformats.org/officeDocument/2006/relationships/image" Target="/ppt/media/image5.png" Id="Rba12961a3e1a4ff3" /><Relationship Type="http://schemas.openxmlformats.org/officeDocument/2006/relationships/image" Target="/ppt/media/image6.png" Id="R8c5a8b885d6246a6" /><Relationship Type="http://schemas.openxmlformats.org/officeDocument/2006/relationships/image" Target="/ppt/media/image7.png" Id="Ra52d58c593064107" /><Relationship Type="http://schemas.openxmlformats.org/officeDocument/2006/relationships/chart" Target="/ppt/slides/charts/chart1.xml" Id="Rf8f98c5471534935" /><Relationship Type="http://schemas.openxmlformats.org/officeDocument/2006/relationships/notesSlide" Target="/ppt/notesSlides/notesSlide4.xml" Id="R51ebbe1ec40a4c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872b34b724925" /><Relationship Type="http://schemas.openxmlformats.org/officeDocument/2006/relationships/notesSlide" Target="/ppt/notesSlides/notesSlide5.xml" Id="Rf028fac69a7d4fd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Immigration bottleneck S36/I16</c:v>
          </c:tx>
          <c:spPr>
            <a:ln xmlns:a="http://schemas.openxmlformats.org/drawingml/2006/main" w="28575">
              <a:solidFill>
                <a:srgbClr val="EC5B05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4"/>
              <c:pt idx="0">
                <c:v>25</c:v>
              </c:pt>
              <c:pt idx="1">
                <c:v>50</c:v>
              </c:pt>
              <c:pt idx="2">
                <c:v>100</c:v>
              </c:pt>
              <c:pt idx="3">
                <c:v>5000 guard</c:v>
              </c:pt>
            </c:strLit>
          </c:cat>
          <c:val>
            <c:numLit>
              <c:formatCode>0.00</c:formatCode>
              <c:ptCount val="4"/>
              <c:pt idx="0">
                <c:v>6.6576</c:v>
              </c:pt>
              <c:pt idx="1">
                <c:v>1.0069</c:v>
              </c:pt>
              <c:pt idx="2">
                <c:v>0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EC5B0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38">
                    <a:solidFill>
                      <a:srgbClr val="596579"/>
                    </a:solidFill>
                  </a:rPr>
                  <a:t>Security→Immigration waiting-space capacity B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>
                  <a:solidFill>
                    <a:srgbClr val="59657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657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638">
                    <a:solidFill>
                      <a:srgbClr val="596579"/>
                    </a:solidFill>
                  </a:rPr>
                  <a:t>Security resource-time blocked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>
                  <a:solidFill>
                    <a:srgbClr val="59657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6579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288D322-DDC7-4465-82AC-EDF83077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60483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Evidence-Driven Checkpoint Simulation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39B7715-2F50-423E-A74B-06CA95BA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58102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  <a:p xmlns:a="http://schemas.openxmlformats.org/drawingml/2006/main">
            <a:pPr algn="l">
              <a:spcAft>
                <a:spcPts val="10"/>
              </a:spcAft>
              <a:buNone/>
              <a:def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Build an auditable traveller-level DES decision sandbox to compare operational scenarios and SOPs, quantifying queues, delays, clearance time and bottleneck shifts before implementation.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59ADD88-C8CE-4179-B463-D903CA99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100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WANG YU · HTX DSAI TECHNICAL ASSESSMENT · TASK 4</a:t>
            </a:r>
          </a:p>
        </p:txBody>
      </p:sp>
      <p:sp>
        <p:nvSpPr>
          <p:cNvPr id="5" name="hero-evidence-card">
            <a:extLst xmlns:a="http://schemas.openxmlformats.org/drawingml/2006/main">
              <a:ext uri="{FF2B5EF4-FFF2-40B4-BE49-F238E27FC236}">
                <a16:creationId xmlns:a16="http://schemas.microsoft.com/office/drawing/2014/main" id="{3CCBDDF3-2F4D-45B2-A30E-873909B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52550"/>
            <a:ext cx="5124450" cy="3905250"/>
          </a:xfrm>
          <a:prstGeom xmlns:a="http://schemas.openxmlformats.org/drawingml/2006/main" prst="roundRect">
            <a:avLst>
              <a:gd name="adj" fmla="val 341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4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aba5454fb42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390650"/>
            <a:ext cx="5048250" cy="2838450"/>
          </a:xfrm>
          <a:prstGeom xmlns:a="http://schemas.openxmlformats.org/drawingml/2006/main" prst="roundRect">
            <a:avLst/>
          </a:prstGeom>
        </p:spPr>
      </p:pic>
      <p:sp>
        <p:nvSpPr>
          <p:cNvPr id="7" name="hero-metric-count">
            <a:extLst xmlns:a="http://schemas.openxmlformats.org/drawingml/2006/main">
              <a:ext uri="{FF2B5EF4-FFF2-40B4-BE49-F238E27FC236}">
                <a16:creationId xmlns:a16="http://schemas.microsoft.com/office/drawing/2014/main" id="{39E43281-25B5-49FC-9F8A-5E6336B3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7197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1280×720</a:t>
            </a:r>
          </a:p>
        </p:txBody>
      </p:sp>
      <p:sp>
        <p:nvSpPr>
          <p:cNvPr id="8" name="hero-metric-count-label">
            <a:extLst xmlns:a="http://schemas.openxmlformats.org/drawingml/2006/main">
              <a:ext uri="{FF2B5EF4-FFF2-40B4-BE49-F238E27FC236}">
                <a16:creationId xmlns:a16="http://schemas.microsoft.com/office/drawing/2014/main" id="{0A560E4F-ED58-4ADA-B33E-722C5F0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52975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rPr>
              <a:t>source frame (px)</a:t>
            </a:r>
          </a:p>
        </p:txBody>
      </p:sp>
      <p:sp>
        <p:nvSpPr>
          <p:cNvPr id="9" name="hero-metric-divider">
            <a:extLst xmlns:a="http://schemas.openxmlformats.org/drawingml/2006/main">
              <a:ext uri="{FF2B5EF4-FFF2-40B4-BE49-F238E27FC236}">
                <a16:creationId xmlns:a16="http://schemas.microsoft.com/office/drawing/2014/main" id="{4BE490AD-B1DB-444D-856D-C7A94749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hero-metric-rate">
            <a:extLst xmlns:a="http://schemas.openxmlformats.org/drawingml/2006/main">
              <a:ext uri="{FF2B5EF4-FFF2-40B4-BE49-F238E27FC236}">
                <a16:creationId xmlns:a16="http://schemas.microsoft.com/office/drawing/2014/main" id="{E07274EC-5D66-427C-B24F-94A759BC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910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748 frames</a:t>
            </a:r>
          </a:p>
        </p:txBody>
      </p:sp>
      <p:sp>
        <p:nvSpPr>
          <p:cNvPr id="11" name="hero-metric-rate-label">
            <a:extLst xmlns:a="http://schemas.openxmlformats.org/drawingml/2006/main">
              <a:ext uri="{FF2B5EF4-FFF2-40B4-BE49-F238E27FC236}">
                <a16:creationId xmlns:a16="http://schemas.microsoft.com/office/drawing/2014/main" id="{588D3695-C85F-42A9-B865-12D8FB94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529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rPr>
              <a:t>24.923 s · ≈30 FPS</a:t>
            </a:r>
          </a:p>
        </p:txBody>
      </p:sp>
      <p:sp>
        <p:nvSpPr>
          <p:cNvPr id="12" name="hero-boundary">
            <a:extLst xmlns:a="http://schemas.openxmlformats.org/drawingml/2006/main">
              <a:ext uri="{FF2B5EF4-FFF2-40B4-BE49-F238E27FC236}">
                <a16:creationId xmlns:a16="http://schemas.microsoft.com/office/drawing/2014/main" id="{1AE69F7F-F4C7-42C1-9BC0-4F5E82B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9675"/>
            <a:ext cx="470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606A78"/>
                </a:solidFill>
                <a:latin typeface="Helvetica Neue"/>
                <a:ea typeface="Helvetica Neue"/>
                <a:cs typeface="Helvetica Neue"/>
              </a:rPr>
              <a:t>ROI 1280×310 px (y&lt;310) · count line x=640</a:t>
            </a:r>
          </a:p>
        </p:txBody>
      </p:sp>
      <p:sp>
        <p:nvSpPr>
          <p:cNvPr id="1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02F7C1E-79AD-46F9-838D-8F539C78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33600"/>
            <a:ext cx="581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  <a:p xmlns:a="http://schemas.openxmlformats.org/drawingml/2006/main">
            <a:pPr algn="l">
              <a:buNone/>
              <a:def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For peak and holiday periods, checkpoint leaders need to understand how traveller demand, staffing and queue/SOP choices interact to create bottlenecks and delays.</a:t>
            </a:r>
          </a:p>
        </p:txBody>
      </p:sp>
      <p:sp>
        <p:nvSpPr>
          <p:cNvPr id="13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DFDC8A2-06FF-4CB8-E1E1-F1F62A3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0392"/>
            <a:ext cx="622935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 algn="l">
              <a:defRPr sz="12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Supplied corridor video defines a bounded measurement window—not time-of-day demand</a:t>
            </a:r>
          </a:p>
          <a:p xmlns:a="http://schemas.openxmlformats.org/drawingml/2006/main">
            <a:pPr algn="l">
              <a:defRPr sz="12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5,150 gate-passing AnyLogic runs + separate exact-gated queue replay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1284666-A9B8-799A-B234-1362C7D8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2209800" cy="4572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906">
            <a:solidFill>
              <a:srgbClr val="315CE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01  MEASURE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77D683D-606F-3CB7-EE4B-6EAA306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15000"/>
            <a:ext cx="2209800" cy="4572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1906">
            <a:solidFill>
              <a:srgbClr val="27364D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736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364D"/>
                </a:solidFill>
                <a:latin typeface="Helvetica Neue"/>
                <a:ea typeface="Helvetica Neue"/>
                <a:cs typeface="Helvetica Neue"/>
              </a:rPr>
              <a:t>02  SIMULATE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AB0A34-1123-D5DB-4C10-71D63334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15000"/>
            <a:ext cx="2209800" cy="4572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906">
            <a:solidFill>
              <a:srgbClr val="0A9848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4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rPr>
              <a:t>03  DECIDE</a:t>
            </a:r>
          </a:p>
        </p:txBody>
      </p:sp>
      <p:cxnSp>
        <p:nvCxnSpPr>
          <p:cNvPr id="196" name="Straight Arrow Connector 20"/>
          <p:cNvCxnSpPr>
            <a:stCxn xmlns:a="http://schemas.openxmlformats.org/drawingml/2006/main" id="6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86100" y="5943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4C3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97" name="Straight Arrow Connector 22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00900" y="5943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AB4C3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" name="nav-measure-subtitle">
            <a:extLst xmlns:a="http://schemas.openxmlformats.org/drawingml/2006/main">
              <a:ext uri="{FF2B5EF4-FFF2-40B4-BE49-F238E27FC236}">
                <a16:creationId xmlns:a16="http://schemas.microsoft.com/office/drawing/2014/main" id="{7ED1FEE2-30CD-4BE6-88DF-48D889FD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Video → audited arrival anchor</a:t>
            </a:r>
          </a:p>
        </p:txBody>
      </p:sp>
      <p:sp>
        <p:nvSpPr>
          <p:cNvPr id="26" name="nav-simulate-subtitle">
            <a:extLst xmlns:a="http://schemas.openxmlformats.org/drawingml/2006/main">
              <a:ext uri="{FF2B5EF4-FFF2-40B4-BE49-F238E27FC236}">
                <a16:creationId xmlns:a16="http://schemas.microsoft.com/office/drawing/2014/main" id="{955B9D4F-3F13-444A-AC29-4C5A5AA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257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Traveller-level DES</a:t>
            </a:r>
          </a:p>
        </p:txBody>
      </p:sp>
      <p:sp>
        <p:nvSpPr>
          <p:cNvPr id="27" name="nav-decide-subtitle">
            <a:extLst xmlns:a="http://schemas.openxmlformats.org/drawingml/2006/main">
              <a:ext uri="{FF2B5EF4-FFF2-40B4-BE49-F238E27FC236}">
                <a16:creationId xmlns:a16="http://schemas.microsoft.com/office/drawing/2014/main" id="{5D67B3D4-1EDB-4B6C-BE9A-10CF88B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57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Stress-test → operational choices</a:t>
            </a:r>
          </a:p>
        </p:txBody>
      </p:sp>
    </p:spTree>
    <p:extLst>
      <p:ext uri="{BB962C8B-B14F-4D97-AF65-F5344CB8AC3E}">
        <p14:creationId xmlns:p14="http://schemas.microsoft.com/office/powerpoint/2010/main" val="11533446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38DAD70-2A86-4BD4-978B-BD273F8C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29D017A-65A3-4E55-9F0E-DC4DBDDA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inference turns video into an auditable flow anchor</a:t>
            </a:r>
          </a:p>
        </p:txBody>
      </p:sp>
      <p:cxnSp>
        <p:nvCxnSpPr>
          <p:cNvPr id="242" name="Google-Shape-2259-p159-4"/>
          <p:cNvCxnSpPr/>
          <p:nvPr/>
        </p:nvCxnSpPr>
        <p:spPr>
          <a:xfrm xmlns:a="http://schemas.openxmlformats.org/drawingml/2006/main">
            <a:off x="337757" y="2857500"/>
            <a:ext cx="1146047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87547AA-ECC4-4531-BD08-1C372AD7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2803970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71D475A-EDF8-4616-87BD-C163D054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2803970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48C384B-9230-4861-A686-4C8CA9C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2803970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90C8628-8309-4514-ABFD-80131C5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241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rPr>
              <a:t>EXECUTED INFERENCE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AC50856-0B9B-495F-B745-200E4DC8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241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METHOD SENSITIVITY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60960C8-3730-4C31-9AE0-C17FFA1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9F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9F43"/>
                </a:solidFill>
                <a:latin typeface="Helvetica Neue"/>
                <a:ea typeface="Helvetica Neue"/>
                <a:cs typeface="Helvetica Neue"/>
              </a:rPr>
              <a:t>ACCEPTED INPUT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353D8EF-2AB9-4BC4-83C6-DCEEEB6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105400"/>
            <a:ext cx="35242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THIS PATH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YOLO26m: </a:t>
            </a: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more small/occluded evidence than YOLOX-S;</a:t>
            </a:r>
          </a:p>
          <a:p xmlns:a="http://schemas.openxmlformats.org/drawingml/2006/main">
            <a:pPr>
              <a:buNone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	fewer raw crossings than YOLO26s.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BoT-SORT: </a:t>
            </a:r>
            <a:r>
              <a:rPr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more R-&gt;L candidates than ByteTrack;</a:t>
            </a:r>
          </a:p>
          <a:p xmlns:a="http://schemas.openxmlformats.org/drawingml/2006/main">
            <a:pPr>
              <a:buNone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	fewer obvious identity jumps than Hungarian.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/>
              <a:t>Classical CV:</a:t>
            </a:r>
            <a:r>
              <a:rPr sz="1100"/>
              <a:t> retained as an independent audit channel.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 b="1"/>
              <a:t>Human review:</a:t>
            </a:r>
            <a:r>
              <a:rPr sz="1100"/>
              <a:t> sets the accepted 34/12; method spread is sensitivity evidence, not an accuracy estimate.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AA59D89-3FCE-416F-9E9C-2F45161A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05400"/>
            <a:ext cx="3524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inference implemented</a:t>
            </a:r>
          </a:p>
          <a:p xmlns:a="http://schemas.openxmlformats.org/drawingml/2006/main">
            <a:pPr marL="171450" indent="-171450" algn="l">
              <a:spcAft>
                <a:spcPts val="1"/>
              </a:spcAft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Pretrained detector + tracker generated a persisted candidate ledger.</a:t>
            </a:r>
          </a:p>
          <a:p xmlns:a="http://schemas.openxmlformats.org/drawingml/2006/main">
            <a:pPr marL="171450" indent="-171450" algn="l">
              <a:spcAft>
                <a:spcPts val="1"/>
              </a:spcAft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SCOPE BOUNDARY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/>
              <a:t>Metric speed/spacing excluded: no ground-plane calibration.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/>
              <a:t>Party size excluded: no human-labelled membership.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D61E3C9-CDBA-4B52-866E-004F6308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399"/>
            <a:ext cx="3524250" cy="11738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Human-in-the-loop acceptance</a:t>
            </a:r>
          </a:p>
          <a:p xmlns:a="http://schemas.openxmlformats.org/drawingml/2006/main">
            <a:pPr algn="l"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34 R→L / 12 L→R → 1.364213/s.</a:t>
            </a:r>
          </a:p>
          <a:p xmlns:a="http://schemas.openxmlformats.org/drawingml/2006/main">
            <a:pPr algn="l"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24.9-s clip only; not time-of-day demand.</a:t>
            </a:r>
          </a:p>
          <a:p xmlns:a="http://schemas.openxmlformats.org/drawingml/2006/main">
            <a:pPr algn="l"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  <a:p xmlns:a="http://schemas.openxmlformats.org/drawingml/2006/main">
            <a:pPr algn="l"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/>
              <a:t>Collect representative time-of-day clips and build a signed crossing-event ledger.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/>
              <a:t>Select or fine-tune the production CV stack using precision/recall, ID switches, runtime, licence and security.</a:t>
            </a:r>
          </a:p>
        </p:txBody>
      </p:sp>
      <p:sp>
        <p:nvSpPr>
          <p:cNvPr id="34" name="measure-visual-frame">
            <a:extLst xmlns:a="http://schemas.openxmlformats.org/drawingml/2006/main">
              <a:ext uri="{FF2B5EF4-FFF2-40B4-BE49-F238E27FC236}">
                <a16:creationId xmlns:a16="http://schemas.microsoft.com/office/drawing/2014/main" id="{CE96F3AF-84D3-4A9A-B41B-4E1C7EAD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90850"/>
            <a:ext cx="3524250" cy="1952625"/>
          </a:xfrm>
          <a:prstGeom xmlns:a="http://schemas.openxmlformats.org/drawingml/2006/main" prst="roundRect">
            <a:avLst>
              <a:gd name="adj" fmla="val 6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model-visual-frame">
            <a:extLst xmlns:a="http://schemas.openxmlformats.org/drawingml/2006/main">
              <a:ext uri="{FF2B5EF4-FFF2-40B4-BE49-F238E27FC236}">
                <a16:creationId xmlns:a16="http://schemas.microsoft.com/office/drawing/2014/main" id="{4821BA4B-F775-4FEE-88F9-0B0D0EB7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90850"/>
            <a:ext cx="3524250" cy="1952625"/>
          </a:xfrm>
          <a:prstGeom xmlns:a="http://schemas.openxmlformats.org/drawingml/2006/main" prst="roundRect">
            <a:avLst>
              <a:gd name="adj" fmla="val 6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infer-grid-frame">
            <a:extLst xmlns:a="http://schemas.openxmlformats.org/drawingml/2006/main">
              <a:ext uri="{FF2B5EF4-FFF2-40B4-BE49-F238E27FC236}">
                <a16:creationId xmlns:a16="http://schemas.microsoft.com/office/drawing/2014/main" id="{25FB288A-58F4-4CD6-BF41-781A0030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3524250" cy="1952625"/>
          </a:xfrm>
          <a:prstGeom xmlns:a="http://schemas.openxmlformats.org/drawingml/2006/main" prst="roundRect">
            <a:avLst>
              <a:gd name="adj" fmla="val 6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C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task1-eyebrow">
            <a:extLst xmlns:a="http://schemas.openxmlformats.org/drawingml/2006/main">
              <a:ext uri="{FF2B5EF4-FFF2-40B4-BE49-F238E27FC236}">
                <a16:creationId xmlns:a16="http://schemas.microsoft.com/office/drawing/2014/main" id="{F87598E4-9275-4FE5-A594-28873EE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rPr>
              <a:t>TASK 1 · DATA COLLECTION</a:t>
            </a:r>
          </a:p>
        </p:txBody>
      </p:sp>
      <p:sp>
        <p:nvSpPr>
          <p:cNvPr id="155" name="task1-process-panel">
            <a:extLst xmlns:a="http://schemas.openxmlformats.org/drawingml/2006/main">
              <a:ext uri="{FF2B5EF4-FFF2-40B4-BE49-F238E27FC236}">
                <a16:creationId xmlns:a16="http://schemas.microsoft.com/office/drawing/2014/main" id="{A806D1E1-EB02-413C-A2EC-CB7F209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11363325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" name="task1-process-chain">
            <a:extLst xmlns:a="http://schemas.openxmlformats.org/drawingml/2006/main">
              <a:ext uri="{FF2B5EF4-FFF2-40B4-BE49-F238E27FC236}">
                <a16:creationId xmlns:a16="http://schemas.microsoft.com/office/drawing/2014/main" id="{71ACD994-2A70-4896-B552-23C53208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52550"/>
            <a:ext cx="10982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rPr>
              <a:t>VIDEO  →  YOLO26m ONNX DETECT  →  BoT-SORT TRACK  →  CROSSING LEDGER  →  FULL-VIDEO AUDIT  →  DES INPUT</a:t>
            </a:r>
          </a:p>
        </p:txBody>
      </p:sp>
      <p:sp>
        <p:nvSpPr>
          <p:cNvPr id="157" name="task1-process-boundary">
            <a:extLst xmlns:a="http://schemas.openxmlformats.org/drawingml/2006/main">
              <a:ext uri="{FF2B5EF4-FFF2-40B4-BE49-F238E27FC236}">
                <a16:creationId xmlns:a16="http://schemas.microsoft.com/office/drawing/2014/main" id="{89C20D1E-2C14-430A-AB9B-D09E7F9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9725"/>
            <a:ext cx="10982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Machine inference proposes candidates; human full-video review owns the accepted aggregate.</a:t>
            </a:r>
          </a:p>
        </p:txBody>
      </p:sp>
      <p:pic>
        <p:nvPicPr>
          <p:cNvPr id="259" name="task1-yolo26m-botsort-roi-fra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3cd8f7df94b73"/>
          <a:stretch xmlns:a="http://schemas.openxmlformats.org/drawingml/2006/main"/>
        </p:blipFill>
        <p:spPr>
          <a:xfrm xmlns:a="http://schemas.openxmlformats.org/drawingml/2006/main">
            <a:off x="466811" y="3057525"/>
            <a:ext cx="3371678" cy="816578"/>
          </a:xfrm>
          <a:prstGeom xmlns:a="http://schemas.openxmlformats.org/drawingml/2006/main" prst="roundRect">
            <a:avLst>
              <a:gd name="adj" fmla="val 5832"/>
            </a:avLst>
          </a:prstGeom>
        </p:spPr>
      </p:pic>
      <p:sp>
        <p:nvSpPr>
          <p:cNvPr id="159" name="task1-left-card-accent">
            <a:extLst xmlns:a="http://schemas.openxmlformats.org/drawingml/2006/main">
              <a:ext uri="{FF2B5EF4-FFF2-40B4-BE49-F238E27FC236}">
                <a16:creationId xmlns:a16="http://schemas.microsoft.com/office/drawing/2014/main" id="{535EDD11-CD33-4486-B894-D352F866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433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4E8"/>
          </a:solidFill>
          <a:ln xmlns:a="http://schemas.openxmlformats.org/drawingml/2006/main" w="0">
            <a:solidFill>
              <a:srgbClr val="2854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0" name="task1-executed-stack">
            <a:extLst xmlns:a="http://schemas.openxmlformats.org/drawingml/2006/main">
              <a:ext uri="{FF2B5EF4-FFF2-40B4-BE49-F238E27FC236}">
                <a16:creationId xmlns:a16="http://schemas.microsoft.com/office/drawing/2014/main" id="{5B002600-4365-4389-9AB0-3A1F1C5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6" y="3943350"/>
            <a:ext cx="3333749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282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Detection: </a:t>
            </a:r>
          </a:p>
          <a:p xmlns:a="http://schemas.openxmlformats.org/drawingml/2006/main">
            <a:pPr marL="171450" indent="-171450" algn="l">
              <a:buFont typeface="Arial"/>
              <a:buChar char="•"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YOLO26m ONNX · CPU inference · 748 frames processed</a:t>
            </a:r>
          </a:p>
          <a:p xmlns:a="http://schemas.openxmlformats.org/drawingml/2006/main">
            <a:pPr algn="l">
              <a:buNone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Tracking: </a:t>
            </a:r>
          </a:p>
          <a:p xmlns:a="http://schemas.openxmlformats.org/drawingml/2006/main">
            <a:pPr marL="171450" indent="-171450" algn="l">
              <a:buFont typeface="Arial"/>
              <a:buChar char="•"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BoT-SORT · 24.923-s clip · ROI y&lt;310 · count line x=640</a:t>
            </a:r>
          </a:p>
          <a:p xmlns:a="http://schemas.openxmlformats.org/drawingml/2006/main">
            <a:pPr algn="l">
              <a:buNone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14.9 s: </a:t>
            </a:r>
            <a:r>
              <a: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 R→L / 7 L→R cumulative machine candidates</a:t>
            </a:r>
          </a:p>
          <a:p xmlns:a="http://schemas.openxmlformats.org/drawingml/2006/main">
            <a:pPr algn="l">
              <a:buNone/>
              <a:def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 of clip: </a:t>
            </a:r>
            <a:r>
              <a:rPr sz="94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 R→L / 8 L→R machine candidates</a:t>
            </a:r>
          </a:p>
        </p:txBody>
      </p:sp>
      <p:sp>
        <p:nvSpPr>
          <p:cNvPr id="161" name="task1-method-sensitivity">
            <a:extLst xmlns:a="http://schemas.openxmlformats.org/drawingml/2006/main">
              <a:ext uri="{FF2B5EF4-FFF2-40B4-BE49-F238E27FC236}">
                <a16:creationId xmlns:a16="http://schemas.microsoft.com/office/drawing/2014/main" id="{37225E93-117C-4D28-A1C4-C9036372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91441"/>
            <a:ext cx="3257550" cy="989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8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CANDIDATE COUNTS (R→L / L→R)</a:t>
            </a:r>
          </a:p>
          <a:p xmlns:a="http://schemas.openxmlformats.org/drawingml/2006/main">
            <a:pPr>
              <a:buNone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8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Detector / Hungarian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YOLOX-S 28/8 · YOLO 26s 38/14 · YOLO 26m 34/12</a:t>
            </a:r>
          </a:p>
          <a:p xmlns:a="http://schemas.openxmlformats.org/drawingml/2006/main">
            <a:pPr>
              <a:buNone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8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Tracker / </a:t>
            </a:r>
            <a:r>
              <a:rPr sz="1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YOLO26m</a:t>
            </a:r>
            <a:r>
              <a:rPr sz="968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· 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Hungarian. 34/12 · ByteTrack 27/9 · BoT-SORT 30/8</a:t>
            </a:r>
          </a:p>
          <a:p xmlns:a="http://schemas.openxmlformats.org/drawingml/2006/main">
            <a:pPr>
              <a:spcAft>
                <a:spcPts val="1"/>
              </a:spcAft>
              <a:buNone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 choice changes candidates</a:t>
            </a:r>
          </a:p>
          <a:p xmlns:a="http://schemas.openxmlformats.org/drawingml/2006/main">
            <a:pPr marL="171450" indent="-171450">
              <a:spcAft>
                <a:spcPts val="1"/>
              </a:spcAft>
              <a:buFont typeface="Arial"/>
              <a:buChar char="•"/>
              <a:defRPr sz="100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R→L candidates span 27–38 across tested methods.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8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p:txBody>
      </p:sp>
      <p:sp>
        <p:nvSpPr>
          <p:cNvPr id="162" name="task1-audit-label">
            <a:extLst xmlns:a="http://schemas.openxmlformats.org/drawingml/2006/main">
              <a:ext uri="{FF2B5EF4-FFF2-40B4-BE49-F238E27FC236}">
                <a16:creationId xmlns:a16="http://schemas.microsoft.com/office/drawing/2014/main" id="{7B3C3E9B-FEB0-4329-AEAC-9C4A856E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337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rPr>
              <a:t>FULL-VIDEO HUMAN AUDIT</a:t>
            </a:r>
          </a:p>
        </p:txBody>
      </p:sp>
      <p:sp>
        <p:nvSpPr>
          <p:cNvPr id="163" name="task1-accepted-r2l">
            <a:extLst xmlns:a="http://schemas.openxmlformats.org/drawingml/2006/main">
              <a:ext uri="{FF2B5EF4-FFF2-40B4-BE49-F238E27FC236}">
                <a16:creationId xmlns:a16="http://schemas.microsoft.com/office/drawing/2014/main" id="{B497A1DD-F4AA-490C-9FA7-E6C23C5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343275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854E8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164" name="task1-accepted-r2l-label">
            <a:extLst xmlns:a="http://schemas.openxmlformats.org/drawingml/2006/main">
              <a:ext uri="{FF2B5EF4-FFF2-40B4-BE49-F238E27FC236}">
                <a16:creationId xmlns:a16="http://schemas.microsoft.com/office/drawing/2014/main" id="{FF8772E0-9CDB-4D19-B0DC-DC97938C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862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rPr>
              <a:t>accepted R→L</a:t>
            </a:r>
          </a:p>
        </p:txBody>
      </p:sp>
      <p:sp>
        <p:nvSpPr>
          <p:cNvPr id="165" name="task1-accepted-l2r">
            <a:extLst xmlns:a="http://schemas.openxmlformats.org/drawingml/2006/main">
              <a:ext uri="{FF2B5EF4-FFF2-40B4-BE49-F238E27FC236}">
                <a16:creationId xmlns:a16="http://schemas.microsoft.com/office/drawing/2014/main" id="{02E9C26A-E9D7-4B20-BE01-F56D003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00425"/>
            <a:ext cx="838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66" name="task1-accepted-l2r-label">
            <a:extLst xmlns:a="http://schemas.openxmlformats.org/drawingml/2006/main">
              <a:ext uri="{FF2B5EF4-FFF2-40B4-BE49-F238E27FC236}">
                <a16:creationId xmlns:a16="http://schemas.microsoft.com/office/drawing/2014/main" id="{99059DCF-1A2A-4BE9-8FC7-CCA0ABFB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862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accepted L→R</a:t>
            </a:r>
          </a:p>
        </p:txBody>
      </p:sp>
      <p:sp>
        <p:nvSpPr>
          <p:cNvPr id="167" name="task1-input-divider">
            <a:extLst xmlns:a="http://schemas.openxmlformats.org/drawingml/2006/main">
              <a:ext uri="{FF2B5EF4-FFF2-40B4-BE49-F238E27FC236}">
                <a16:creationId xmlns:a16="http://schemas.microsoft.com/office/drawing/2014/main" id="{CF1F8F51-82ED-4F4C-AC09-CB6A16E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2876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D"/>
          </a:solidFill>
          <a:ln xmlns:a="http://schemas.openxmlformats.org/drawingml/2006/main" w="0">
            <a:solidFill>
              <a:srgbClr val="DCE3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" name="task1-input-anchor-panel">
            <a:extLst xmlns:a="http://schemas.openxmlformats.org/drawingml/2006/main">
              <a:ext uri="{FF2B5EF4-FFF2-40B4-BE49-F238E27FC236}">
                <a16:creationId xmlns:a16="http://schemas.microsoft.com/office/drawing/2014/main" id="{4D475075-8C23-46D0-99E7-9E2CF8F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61937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AF5"/>
          </a:solidFill>
          <a:ln xmlns:a="http://schemas.openxmlformats.org/drawingml/2006/main" w="9525">
            <a:solidFill>
              <a:srgbClr val="CDEB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" name="task1-input-anchor-value">
            <a:extLst xmlns:a="http://schemas.openxmlformats.org/drawingml/2006/main">
              <a:ext uri="{FF2B5EF4-FFF2-40B4-BE49-F238E27FC236}">
                <a16:creationId xmlns:a16="http://schemas.microsoft.com/office/drawing/2014/main" id="{A0ED60C5-50E5-41B6-AAF6-DAE8E00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9F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A9F43"/>
                </a:solidFill>
                <a:latin typeface="Helvetica Neue"/>
                <a:ea typeface="Helvetica Neue"/>
                <a:cs typeface="Helvetica Neue"/>
              </a:rPr>
              <a:t>1.364/s</a:t>
            </a:r>
          </a:p>
        </p:txBody>
      </p:sp>
      <p:sp>
        <p:nvSpPr>
          <p:cNvPr id="170" name="task1-input-anchor-label">
            <a:extLst xmlns:a="http://schemas.openxmlformats.org/drawingml/2006/main">
              <a:ext uri="{FF2B5EF4-FFF2-40B4-BE49-F238E27FC236}">
                <a16:creationId xmlns:a16="http://schemas.microsoft.com/office/drawing/2014/main" id="{EA80DD4B-6232-420E-8A9D-E068BC6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71975"/>
            <a:ext cx="1285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rPr>
              <a:t>R→L observed</a:t>
            </a:r>
          </a:p>
          <a:p xmlns:a="http://schemas.openxmlformats.org/drawingml/2006/main">
            <a:pPr algn="l">
              <a:buNone/>
              <a:defRPr sz="863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071B3A"/>
                </a:solidFill>
                <a:latin typeface="Helvetica Neue"/>
                <a:ea typeface="Helvetica Neue"/>
                <a:cs typeface="Helvetica Neue"/>
              </a:rPr>
              <a:t>arrival anchor</a:t>
            </a:r>
          </a:p>
        </p:txBody>
      </p:sp>
      <p:pic>
        <p:nvPicPr>
          <p:cNvPr id="27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c170e2eb8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8831" y="3028482"/>
            <a:ext cx="3431781" cy="801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974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38DAD70-2A86-4BD4-978B-BD273F8C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29D017A-65A3-4E55-9F0E-DC4DBDDA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13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13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A traveller-level DES turns operational assumptions into auditable queue outcomes</a:t>
            </a:r>
          </a:p>
        </p:txBody>
      </p:sp>
      <p:sp>
        <p:nvSpPr>
          <p:cNvPr id="14" name="model-subtitle">
            <a:extLst xmlns:a="http://schemas.openxmlformats.org/drawingml/2006/main">
              <a:ext uri="{FF2B5EF4-FFF2-40B4-BE49-F238E27FC236}">
                <a16:creationId xmlns:a16="http://schemas.microsoft.com/office/drawing/2014/main" id="{EF2A7104-FA1B-4A0D-ADF7-352FE84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139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OperationalInteractive | two finite-resource stages | pooled FCFS | full drain</a:t>
            </a:r>
          </a:p>
        </p:txBody>
      </p:sp>
      <p:sp>
        <p:nvSpPr>
          <p:cNvPr id="15" name="runtime-screenshot-frame">
            <a:extLst xmlns:a="http://schemas.openxmlformats.org/drawingml/2006/main">
              <a:ext uri="{FF2B5EF4-FFF2-40B4-BE49-F238E27FC236}">
                <a16:creationId xmlns:a16="http://schemas.microsoft.com/office/drawing/2014/main" id="{669244C3-3197-4156-9535-C82507E7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330061" cy="39814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rrival-card">
            <a:extLst xmlns:a="http://schemas.openxmlformats.org/drawingml/2006/main">
              <a:ext uri="{FF2B5EF4-FFF2-40B4-BE49-F238E27FC236}">
                <a16:creationId xmlns:a16="http://schemas.microsoft.com/office/drawing/2014/main" id="{FB6DC24E-BFB2-457B-A8C3-3306F1C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337" y="1352550"/>
            <a:ext cx="2568314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1430">
            <a:solidFill>
              <a:srgbClr val="315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rrival-accent">
            <a:extLst xmlns:a="http://schemas.openxmlformats.org/drawingml/2006/main">
              <a:ext uri="{FF2B5EF4-FFF2-40B4-BE49-F238E27FC236}">
                <a16:creationId xmlns:a16="http://schemas.microsoft.com/office/drawing/2014/main" id="{DF6B8566-24F2-4537-82AF-511A7B0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336" y="13525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E8"/>
          </a:solidFill>
          <a:ln xmlns:a="http://schemas.openxmlformats.org/drawingml/2006/main" w="0">
            <a:solidFill>
              <a:srgbClr val="315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arrival-heading">
            <a:extLst xmlns:a="http://schemas.openxmlformats.org/drawingml/2006/main">
              <a:ext uri="{FF2B5EF4-FFF2-40B4-BE49-F238E27FC236}">
                <a16:creationId xmlns:a16="http://schemas.microsoft.com/office/drawing/2014/main" id="{3570F893-DCBD-4DF1-A428-97646BDC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142" y="1466850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1  ARRIVAL</a:t>
            </a:r>
          </a:p>
        </p:txBody>
      </p:sp>
      <p:sp>
        <p:nvSpPr>
          <p:cNvPr id="20" name="arrival-body">
            <a:extLst xmlns:a="http://schemas.openxmlformats.org/drawingml/2006/main">
              <a:ext uri="{FF2B5EF4-FFF2-40B4-BE49-F238E27FC236}">
                <a16:creationId xmlns:a16="http://schemas.microsoft.com/office/drawing/2014/main" id="{E4E2BCDF-726A-4A31-9682-04522BCD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836" y="17240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t">
            <a:norm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Measured anchor: 1.364213 travelers/s</a:t>
            </a:r>
          </a:p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HPP timing and 300-s window are assumptions</a:t>
            </a:r>
          </a:p>
        </p:txBody>
      </p:sp>
      <p:sp>
        <p:nvSpPr>
          <p:cNvPr id="21" name="security-card">
            <a:extLst xmlns:a="http://schemas.openxmlformats.org/drawingml/2006/main">
              <a:ext uri="{FF2B5EF4-FFF2-40B4-BE49-F238E27FC236}">
                <a16:creationId xmlns:a16="http://schemas.microsoft.com/office/drawing/2014/main" id="{59DEA38D-9C10-4A43-AE6C-64E07CA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524" y="1352550"/>
            <a:ext cx="2568314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0A98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ecurity-accent">
            <a:extLst xmlns:a="http://schemas.openxmlformats.org/drawingml/2006/main">
              <a:ext uri="{FF2B5EF4-FFF2-40B4-BE49-F238E27FC236}">
                <a16:creationId xmlns:a16="http://schemas.microsoft.com/office/drawing/2014/main" id="{2DA77EF2-D243-462A-8AF8-7CF0CFE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523" y="13525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9848"/>
          </a:solidFill>
          <a:ln xmlns:a="http://schemas.openxmlformats.org/drawingml/2006/main" w="0">
            <a:solidFill>
              <a:srgbClr val="0A98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ecurity-heading">
            <a:extLst xmlns:a="http://schemas.openxmlformats.org/drawingml/2006/main">
              <a:ext uri="{FF2B5EF4-FFF2-40B4-BE49-F238E27FC236}">
                <a16:creationId xmlns:a16="http://schemas.microsoft.com/office/drawing/2014/main" id="{28AC02BA-3B0F-40E9-A4CF-22C0F06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536" y="1466850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rPr>
              <a:t>2  SECURITY</a:t>
            </a:r>
          </a:p>
        </p:txBody>
      </p:sp>
      <p:sp>
        <p:nvSpPr>
          <p:cNvPr id="24" name="security-body">
            <a:extLst xmlns:a="http://schemas.openxmlformats.org/drawingml/2006/main">
              <a:ext uri="{FF2B5EF4-FFF2-40B4-BE49-F238E27FC236}">
                <a16:creationId xmlns:a16="http://schemas.microsoft.com/office/drawing/2014/main" id="{E585BEDF-46A0-46EA-B594-FC7C21AE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023" y="1724025"/>
            <a:ext cx="2293537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t">
            <a:norm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Derived</a:t>
            </a: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input: 36 finite homogeneous </a:t>
            </a: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service positions</a:t>
            </a:r>
          </a:p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21.818-s service demand | pooled FCFS</a:t>
            </a:r>
          </a:p>
        </p:txBody>
      </p:sp>
      <p:sp>
        <p:nvSpPr>
          <p:cNvPr id="25" name="immigration-card">
            <a:extLst xmlns:a="http://schemas.openxmlformats.org/drawingml/2006/main">
              <a:ext uri="{FF2B5EF4-FFF2-40B4-BE49-F238E27FC236}">
                <a16:creationId xmlns:a16="http://schemas.microsoft.com/office/drawing/2014/main" id="{5D9EB9C6-BDC2-46DC-9B52-85B40432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998" y="2434590"/>
            <a:ext cx="2601653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EA"/>
          </a:solidFill>
          <a:ln xmlns:a="http://schemas.openxmlformats.org/drawingml/2006/main" w="11430">
            <a:solidFill>
              <a:srgbClr val="E85D0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immigration-accent">
            <a:extLst xmlns:a="http://schemas.openxmlformats.org/drawingml/2006/main">
              <a:ext uri="{FF2B5EF4-FFF2-40B4-BE49-F238E27FC236}">
                <a16:creationId xmlns:a16="http://schemas.microsoft.com/office/drawing/2014/main" id="{0B5B9474-C2AB-4242-A273-09EEA861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079" y="243459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04"/>
          </a:solidFill>
          <a:ln xmlns:a="http://schemas.openxmlformats.org/drawingml/2006/main" w="0">
            <a:solidFill>
              <a:srgbClr val="E85D0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immigration-heading">
            <a:extLst xmlns:a="http://schemas.openxmlformats.org/drawingml/2006/main">
              <a:ext uri="{FF2B5EF4-FFF2-40B4-BE49-F238E27FC236}">
                <a16:creationId xmlns:a16="http://schemas.microsoft.com/office/drawing/2014/main" id="{532DFEF9-10C3-4AE1-A647-DA59F61C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936" y="2484120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5D0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85D04"/>
                </a:solidFill>
                <a:latin typeface="Helvetica Neue"/>
                <a:ea typeface="Helvetica Neue"/>
                <a:cs typeface="Helvetica Neue"/>
              </a:rPr>
              <a:t>3  IMMIGRATION</a:t>
            </a:r>
          </a:p>
        </p:txBody>
      </p:sp>
      <p:sp>
        <p:nvSpPr>
          <p:cNvPr id="28" name="immigration-body">
            <a:extLst xmlns:a="http://schemas.openxmlformats.org/drawingml/2006/main">
              <a:ext uri="{FF2B5EF4-FFF2-40B4-BE49-F238E27FC236}">
                <a16:creationId xmlns:a16="http://schemas.microsoft.com/office/drawing/2014/main" id="{C34F5357-FD46-4408-A000-BB7146EF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498" y="2750058"/>
            <a:ext cx="24697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Derived</a:t>
            </a:r>
            <a:r>
              <a:rPr sz="9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 input: 21 finite homogeneous serv</a:t>
            </a:r>
            <a:r>
              <a:rPr sz="9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ice positions</a:t>
            </a:r>
          </a:p>
          <a:p xmlns:a="http://schemas.openxmlformats.org/drawingml/2006/main">
            <a:pPr marL="171450" indent="-171450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13-s service demand | routing toggles are scenarios</a:t>
            </a:r>
          </a:p>
        </p:txBody>
      </p:sp>
      <p:sp>
        <p:nvSpPr>
          <p:cNvPr id="29" name="exit-card">
            <a:extLst xmlns:a="http://schemas.openxmlformats.org/drawingml/2006/main">
              <a:ext uri="{FF2B5EF4-FFF2-40B4-BE49-F238E27FC236}">
                <a16:creationId xmlns:a16="http://schemas.microsoft.com/office/drawing/2014/main" id="{B5D755EA-5BD0-44A4-8E48-F1255D0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211" y="2428874"/>
            <a:ext cx="2584627" cy="91440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exit-accent">
            <a:extLst xmlns:a="http://schemas.openxmlformats.org/drawingml/2006/main">
              <a:ext uri="{FF2B5EF4-FFF2-40B4-BE49-F238E27FC236}">
                <a16:creationId xmlns:a16="http://schemas.microsoft.com/office/drawing/2014/main" id="{A9596DF7-4492-432E-B5A9-6EA7D4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211" y="2362200"/>
            <a:ext cx="51521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6579"/>
          </a:solidFill>
          <a:ln xmlns:a="http://schemas.openxmlformats.org/drawingml/2006/main" w="0">
            <a:solidFill>
              <a:srgbClr val="5965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exit-heading">
            <a:extLst xmlns:a="http://schemas.openxmlformats.org/drawingml/2006/main">
              <a:ext uri="{FF2B5EF4-FFF2-40B4-BE49-F238E27FC236}">
                <a16:creationId xmlns:a16="http://schemas.microsoft.com/office/drawing/2014/main" id="{32AE79D8-9D50-4D2A-835B-B123379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017" y="2476500"/>
            <a:ext cx="35549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4  EXIT &amp; MEASUREMENT</a:t>
            </a:r>
          </a:p>
        </p:txBody>
      </p:sp>
      <p:sp>
        <p:nvSpPr>
          <p:cNvPr id="32" name="exit-body">
            <a:extLst xmlns:a="http://schemas.openxmlformats.org/drawingml/2006/main">
              <a:ext uri="{FF2B5EF4-FFF2-40B4-BE49-F238E27FC236}">
                <a16:creationId xmlns:a16="http://schemas.microsoft.com/office/drawing/2014/main" id="{7E67AD49-DEC1-4BAE-941A-8DB2DA5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711" y="2733675"/>
            <a:ext cx="230984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t">
            <a:normAutofit/>
          </a:bodyPr>
          <a:lstStyle xmlns:a="http://schemas.openxmlformats.org/drawingml/2006/main"/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Close arrivals at cutoff; drain every admitted traveler</a:t>
            </a:r>
          </a:p>
          <a:p xmlns:a="http://schemas.openxmlformats.org/drawingml/2006/main">
            <a:pPr marL="171450" indent="-171450" algn="l">
              <a:buFont typeface="Arial"/>
              <a:buChar char="•"/>
              <a:defRPr sz="9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Log queue waits, system time, utilization and clearance</a:t>
            </a:r>
          </a:p>
        </p:txBody>
      </p:sp>
      <p:sp>
        <p:nvSpPr>
          <p:cNvPr id="33" name="measured-pill">
            <a:extLst xmlns:a="http://schemas.openxmlformats.org/drawingml/2006/main">
              <a:ext uri="{FF2B5EF4-FFF2-40B4-BE49-F238E27FC236}">
                <a16:creationId xmlns:a16="http://schemas.microsoft.com/office/drawing/2014/main" id="{18179922-3E7D-4DE7-B967-D19C298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300037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315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measured-label">
            <a:extLst xmlns:a="http://schemas.openxmlformats.org/drawingml/2006/main">
              <a:ext uri="{FF2B5EF4-FFF2-40B4-BE49-F238E27FC236}">
                <a16:creationId xmlns:a16="http://schemas.microsoft.com/office/drawing/2014/main" id="{A5A7F0C3-90C7-4C74-BE0C-BDC78EA6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MEASURED</a:t>
            </a:r>
          </a:p>
        </p:txBody>
      </p:sp>
      <p:sp>
        <p:nvSpPr>
          <p:cNvPr id="35" name="measured-value">
            <a:extLst xmlns:a="http://schemas.openxmlformats.org/drawingml/2006/main">
              <a:ext uri="{FF2B5EF4-FFF2-40B4-BE49-F238E27FC236}">
                <a16:creationId xmlns:a16="http://schemas.microsoft.com/office/drawing/2014/main" id="{5BED4C82-F391-4F42-9B1A-149A5C3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2733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34 R-to-L / 24.923 s = 1.364213/s</a:t>
            </a:r>
          </a:p>
        </p:txBody>
      </p:sp>
      <p:sp>
        <p:nvSpPr>
          <p:cNvPr id="36" name="assumed-pill">
            <a:extLst xmlns:a="http://schemas.openxmlformats.org/drawingml/2006/main">
              <a:ext uri="{FF2B5EF4-FFF2-40B4-BE49-F238E27FC236}">
                <a16:creationId xmlns:a16="http://schemas.microsoft.com/office/drawing/2014/main" id="{E89738DC-19F7-4E96-A9F2-2F20AD8A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657850"/>
            <a:ext cx="51816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5965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assumed-label">
            <a:extLst xmlns:a="http://schemas.openxmlformats.org/drawingml/2006/main">
              <a:ext uri="{FF2B5EF4-FFF2-40B4-BE49-F238E27FC236}">
                <a16:creationId xmlns:a16="http://schemas.microsoft.com/office/drawing/2014/main" id="{19978EBD-E76B-4C55-9C2E-D58936FD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7340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ASSUMED</a:t>
            </a:r>
          </a:p>
        </p:txBody>
      </p:sp>
      <p:sp>
        <p:nvSpPr>
          <p:cNvPr id="38" name="assumed-value">
            <a:extLst xmlns:a="http://schemas.openxmlformats.org/drawingml/2006/main">
              <a:ext uri="{FF2B5EF4-FFF2-40B4-BE49-F238E27FC236}">
                <a16:creationId xmlns:a16="http://schemas.microsoft.com/office/drawing/2014/main" id="{0F40D677-8FE8-4D0E-8217-4F71AAF9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905500"/>
            <a:ext cx="4914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HPP timing | capacity | service demand | pooled FCFS | routing / SOP</a:t>
            </a:r>
          </a:p>
        </p:txBody>
      </p:sp>
      <p:sp>
        <p:nvSpPr>
          <p:cNvPr id="39" name="claim-pill">
            <a:extLst xmlns:a="http://schemas.openxmlformats.org/drawingml/2006/main">
              <a:ext uri="{FF2B5EF4-FFF2-40B4-BE49-F238E27FC236}">
                <a16:creationId xmlns:a16="http://schemas.microsoft.com/office/drawing/2014/main" id="{78D706CA-5553-4BAC-9C86-51D8583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57850"/>
            <a:ext cx="298132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0A98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claim-label">
            <a:extLst xmlns:a="http://schemas.openxmlformats.org/drawingml/2006/main">
              <a:ext uri="{FF2B5EF4-FFF2-40B4-BE49-F238E27FC236}">
                <a16:creationId xmlns:a16="http://schemas.microsoft.com/office/drawing/2014/main" id="{ADDC7DE6-E94A-4C43-95A6-C33043F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73405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0A9848"/>
                </a:solidFill>
                <a:latin typeface="Helvetica Neue"/>
                <a:ea typeface="Helvetica Neue"/>
                <a:cs typeface="Helvetica Neue"/>
              </a:rPr>
              <a:t>CLAIM</a:t>
            </a:r>
          </a:p>
        </p:txBody>
      </p:sp>
      <p:sp>
        <p:nvSpPr>
          <p:cNvPr id="41" name="claim-value">
            <a:extLst xmlns:a="http://schemas.openxmlformats.org/drawingml/2006/main">
              <a:ext uri="{FF2B5EF4-FFF2-40B4-BE49-F238E27FC236}">
                <a16:creationId xmlns:a16="http://schemas.microsoft.com/office/drawing/2014/main" id="{037477F0-C4F8-499C-A5DB-865615C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905500"/>
            <a:ext cx="2714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8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Comparative evidence only - not a site forecast</a:t>
            </a:r>
          </a:p>
        </p:txBody>
      </p:sp>
      <p:sp>
        <p:nvSpPr>
          <p:cNvPr id="42" name="model-validation-strip">
            <a:extLst xmlns:a="http://schemas.openxmlformats.org/drawingml/2006/main">
              <a:ext uri="{FF2B5EF4-FFF2-40B4-BE49-F238E27FC236}">
                <a16:creationId xmlns:a16="http://schemas.microsoft.com/office/drawing/2014/main" id="{17458D84-C871-4C36-B7BE-5B4A09FE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7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Configuration-driven experiments | explicit random seeds | replicated runs | full-drain and validation gates</a:t>
            </a:r>
          </a:p>
        </p:txBody>
      </p:sp>
      <p:pic>
        <p:nvPicPr>
          <p:cNvPr id="7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8b0bd64e24e3c"/>
          <a:srcRect xmlns:a="http://schemas.openxmlformats.org/drawingml/2006/main" l="12031" t="3468" r="11250" b="89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979" y="1445131"/>
            <a:ext cx="6147181" cy="3689026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44875A-5F9F-934C-550B-D824C63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936" y="3552825"/>
            <a:ext cx="5295064" cy="393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 b="1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EXTERNAL CONTEXT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Security: 165 pax/h/lane, conservative bound of 165–200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    → service-time proxy = 3,600 / 165 = 21.818 s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Immigration: 13 s/traveller, official SG bus-hall passport-clearance context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 b="1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DESIGN RULE — ASSUMED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Target utilisation (ρ ≤ 0.85)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Retain ≥15% nominal capacity headroom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 b="1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DERIVED REFERENCE CAPACITY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Security: ceil(1.364213 × 21.818 / 0.85) = 36 concurrent service positions</a:t>
            </a:r>
          </a:p>
          <a:p xmlns:a="http://schemas.openxmlformats.org/drawingml/2006/main">
            <a:pPr algn="l">
              <a:buNone/>
              <a:def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2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•  Immigration: ceil(1.364213 × 13 / 0.85) = 21 concurrent service positions</a:t>
            </a:r>
          </a:p>
        </p:txBody>
      </p:sp>
    </p:spTree>
    <p:extLst>
      <p:ext uri="{BB962C8B-B14F-4D97-AF65-F5344CB8AC3E}">
        <p14:creationId xmlns:p14="http://schemas.microsoft.com/office/powerpoint/2010/main" val="4623974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s-footer">
            <a:extLst xmlns:a="http://schemas.openxmlformats.org/drawingml/2006/main">
              <a:ext uri="{FF2B5EF4-FFF2-40B4-BE49-F238E27FC236}">
                <a16:creationId xmlns:a16="http://schemas.microsoft.com/office/drawing/2014/main" id="{27597D40-AFDB-4FC0-ACD9-A4DD815D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merged-insight-title">
            <a:extLst xmlns:a="http://schemas.openxmlformats.org/drawingml/2006/main">
              <a:ext uri="{FF2B5EF4-FFF2-40B4-BE49-F238E27FC236}">
                <a16:creationId xmlns:a16="http://schemas.microsoft.com/office/drawing/2014/main" id="{4C2832E1-46DD-4A56-A60D-314985E8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13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13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Capacity sets delay; finite space determines where congestion lands</a:t>
            </a:r>
          </a:p>
        </p:txBody>
      </p:sp>
      <p:sp>
        <p:nvSpPr>
          <p:cNvPr id="12" name="merged-insight-subtitle">
            <a:extLst xmlns:a="http://schemas.openxmlformats.org/drawingml/2006/main">
              <a:ext uri="{FF2B5EF4-FFF2-40B4-BE49-F238E27FC236}">
                <a16:creationId xmlns:a16="http://schemas.microsoft.com/office/drawing/2014/main" id="{A7DB8186-479F-4F44-A369-33B7143C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Capacity: 54 × 50 | duration: 4 × 5 × 50 | finite buffer: 2 × 4 × 50 | replication means; 95% CIs shown where plotted</a:t>
            </a:r>
          </a:p>
        </p:txBody>
      </p:sp>
      <p:sp>
        <p:nvSpPr>
          <p:cNvPr id="13" name="surface-letter">
            <a:extLst xmlns:a="http://schemas.openxmlformats.org/drawingml/2006/main">
              <a:ext uri="{FF2B5EF4-FFF2-40B4-BE49-F238E27FC236}">
                <a16:creationId xmlns:a16="http://schemas.microsoft.com/office/drawing/2014/main" id="{3FA0EEE5-E4D6-43F8-84AC-1DA6470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572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4" name="surface-title">
            <a:extLst xmlns:a="http://schemas.openxmlformats.org/drawingml/2006/main">
              <a:ext uri="{FF2B5EF4-FFF2-40B4-BE49-F238E27FC236}">
                <a16:creationId xmlns:a16="http://schemas.microsoft.com/office/drawing/2014/main" id="{719B6493-CE1C-4B68-AF9C-77D2D34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047750"/>
            <a:ext cx="3362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CAPACITY RESPONSE SURFACE</a:t>
            </a:r>
          </a:p>
        </p:txBody>
      </p:sp>
      <p:sp>
        <p:nvSpPr>
          <p:cNvPr id="15" name="tail-letter">
            <a:extLst xmlns:a="http://schemas.openxmlformats.org/drawingml/2006/main">
              <a:ext uri="{FF2B5EF4-FFF2-40B4-BE49-F238E27FC236}">
                <a16:creationId xmlns:a16="http://schemas.microsoft.com/office/drawing/2014/main" id="{9D667BE2-2028-4D08-81C5-7A390927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572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6" name="tail-title">
            <a:extLst xmlns:a="http://schemas.openxmlformats.org/drawingml/2006/main">
              <a:ext uri="{FF2B5EF4-FFF2-40B4-BE49-F238E27FC236}">
                <a16:creationId xmlns:a16="http://schemas.microsoft.com/office/drawing/2014/main" id="{70C33E0F-8111-4708-94F1-3EC0E34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047750"/>
            <a:ext cx="3343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TRAVELLER P95 QUEUE-WAIT TAIL</a:t>
            </a:r>
          </a:p>
        </p:txBody>
      </p:sp>
      <p:sp>
        <p:nvSpPr>
          <p:cNvPr id="17" name="cutoff-letter">
            <a:extLst xmlns:a="http://schemas.openxmlformats.org/drawingml/2006/main">
              <a:ext uri="{FF2B5EF4-FFF2-40B4-BE49-F238E27FC236}">
                <a16:creationId xmlns:a16="http://schemas.microsoft.com/office/drawing/2014/main" id="{FDE34FE2-3162-4006-A9C1-0166F2D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572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1F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51F1A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8" name="cutoff-title">
            <a:extLst xmlns:a="http://schemas.openxmlformats.org/drawingml/2006/main">
              <a:ext uri="{FF2B5EF4-FFF2-40B4-BE49-F238E27FC236}">
                <a16:creationId xmlns:a16="http://schemas.microsoft.com/office/drawing/2014/main" id="{A5B598C2-899D-48AE-AF4C-A27021F8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047750"/>
            <a:ext cx="3228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QUEUE REMAINING AT CUTOFF</a:t>
            </a:r>
          </a:p>
        </p:txBody>
      </p:sp>
      <p:sp>
        <p:nvSpPr>
          <p:cNvPr id="19" name="panel-frame-1">
            <a:extLst xmlns:a="http://schemas.openxmlformats.org/drawingml/2006/main">
              <a:ext uri="{FF2B5EF4-FFF2-40B4-BE49-F238E27FC236}">
                <a16:creationId xmlns:a16="http://schemas.microsoft.com/office/drawing/2014/main" id="{716E94C0-2145-42AB-8F53-E16F1F5C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33500"/>
            <a:ext cx="3810000" cy="2019300"/>
          </a:xfrm>
          <a:prstGeom xmlns:a="http://schemas.openxmlformats.org/drawingml/2006/main" prst="roundRect">
            <a:avLst>
              <a:gd name="adj" fmla="val 4094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8E0EB"/>
            </a:solidFill>
            <a:prstDash val="solid"/>
          </a:ln>
        </p:spPr>
      </p:sp>
      <p:sp>
        <p:nvSpPr>
          <p:cNvPr id="20" name="panel-frame-2">
            <a:extLst xmlns:a="http://schemas.openxmlformats.org/drawingml/2006/main">
              <a:ext uri="{FF2B5EF4-FFF2-40B4-BE49-F238E27FC236}">
                <a16:creationId xmlns:a16="http://schemas.microsoft.com/office/drawing/2014/main" id="{F4BE91E8-19CA-4DD7-9911-2909B15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33500"/>
            <a:ext cx="3790950" cy="2019300"/>
          </a:xfrm>
          <a:prstGeom xmlns:a="http://schemas.openxmlformats.org/drawingml/2006/main" prst="roundRect">
            <a:avLst>
              <a:gd name="adj" fmla="val 4094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8E0EB"/>
            </a:solidFill>
            <a:prstDash val="solid"/>
          </a:ln>
        </p:spPr>
      </p:sp>
      <p:sp>
        <p:nvSpPr>
          <p:cNvPr id="21" name="panel-frame-3">
            <a:extLst xmlns:a="http://schemas.openxmlformats.org/drawingml/2006/main">
              <a:ext uri="{FF2B5EF4-FFF2-40B4-BE49-F238E27FC236}">
                <a16:creationId xmlns:a16="http://schemas.microsoft.com/office/drawing/2014/main" id="{FE8FDC62-0DFE-42E0-8E26-62743D03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676650" cy="2019300"/>
          </a:xfrm>
          <a:prstGeom xmlns:a="http://schemas.openxmlformats.org/drawingml/2006/main" prst="roundRect">
            <a:avLst>
              <a:gd name="adj" fmla="val 4094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D8E0EB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2961a3e1a4ff3"/>
          <a:stretch xmlns:a="http://schemas.openxmlformats.org/drawingml/2006/main"/>
        </p:blipFill>
        <p:spPr>
          <a:xfrm xmlns:a="http://schemas.openxmlformats.org/drawingml/2006/main">
            <a:off x="866775" y="1362075"/>
            <a:ext cx="2724150" cy="1609725"/>
          </a:xfrm>
          <a:prstGeom xmlns:a="http://schemas.openxmlformats.org/drawingml/2006/main" prst="rect">
            <a:avLst/>
          </a:prstGeom>
        </p:spPr>
      </p:pic>
      <p:sp>
        <p:nvSpPr>
          <p:cNvPr id="23" name="surface-axis-caption">
            <a:extLst xmlns:a="http://schemas.openxmlformats.org/drawingml/2006/main">
              <a:ext uri="{FF2B5EF4-FFF2-40B4-BE49-F238E27FC236}">
                <a16:creationId xmlns:a16="http://schemas.microsoft.com/office/drawing/2014/main" id="{125AA24E-2E10-4F24-BE4F-C9AFF1E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3543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S36→28 | I21→16 | z = mean P95 wait (s)</a:t>
            </a:r>
          </a:p>
        </p:txBody>
      </p:sp>
      <p:sp>
        <p:nvSpPr>
          <p:cNvPr id="24" name="surface-reference-caption">
            <a:extLst xmlns:a="http://schemas.openxmlformats.org/drawingml/2006/main">
              <a:ext uri="{FF2B5EF4-FFF2-40B4-BE49-F238E27FC236}">
                <a16:creationId xmlns:a16="http://schemas.microsoft.com/office/drawing/2014/main" id="{873E3889-9763-415D-8D02-4DBFDAD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3543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36/21: HPP P95 3.93 s | ideal oracle 0 s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a8b885d6246a6"/>
          <a:stretch xmlns:a="http://schemas.openxmlformats.org/drawingml/2006/main"/>
        </p:blipFill>
        <p:spPr>
          <a:xfrm xmlns:a="http://schemas.openxmlformats.org/drawingml/2006/main">
            <a:off x="4343400" y="1581150"/>
            <a:ext cx="3638550" cy="1685925"/>
          </a:xfrm>
          <a:prstGeom xmlns:a="http://schemas.openxmlformats.org/drawingml/2006/main" prst="rect">
            <a:avLst/>
          </a:prstGeom>
        </p:spPr>
      </p:pic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d58c593064107"/>
          <a:stretch xmlns:a="http://schemas.openxmlformats.org/drawingml/2006/main"/>
        </p:blipFill>
        <p:spPr>
          <a:xfrm xmlns:a="http://schemas.openxmlformats.org/drawingml/2006/main">
            <a:off x="8267700" y="1628775"/>
            <a:ext cx="3429000" cy="1609725"/>
          </a:xfrm>
          <a:prstGeom xmlns:a="http://schemas.openxmlformats.org/drawingml/2006/main" prst="rect">
            <a:avLst/>
          </a:prstGeom>
        </p:spPr>
      </p:pic>
      <p:sp>
        <p:nvSpPr>
          <p:cNvPr id="27" name="legend-36/21  ρ=.845">
            <a:extLst xmlns:a="http://schemas.openxmlformats.org/drawingml/2006/main">
              <a:ext uri="{FF2B5EF4-FFF2-40B4-BE49-F238E27FC236}">
                <a16:creationId xmlns:a16="http://schemas.microsoft.com/office/drawing/2014/main" id="{450A179A-1604-404E-8F8F-A67F0CE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71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1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137E73"/>
                </a:solidFill>
                <a:latin typeface="Helvetica Neue"/>
                <a:ea typeface="Helvetica Neue"/>
                <a:cs typeface="Helvetica Neue"/>
              </a:rPr>
              <a:t>●  36/21  ρ=.845</a:t>
            </a:r>
          </a:p>
        </p:txBody>
      </p:sp>
      <p:sp>
        <p:nvSpPr>
          <p:cNvPr id="28" name="legend-30/18  ρ=.992">
            <a:extLst xmlns:a="http://schemas.openxmlformats.org/drawingml/2006/main">
              <a:ext uri="{FF2B5EF4-FFF2-40B4-BE49-F238E27FC236}">
                <a16:creationId xmlns:a16="http://schemas.microsoft.com/office/drawing/2014/main" id="{BE85418A-3B61-4263-A5C4-08E798A5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371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315CE8"/>
                </a:solidFill>
                <a:latin typeface="Helvetica Neue"/>
                <a:ea typeface="Helvetica Neue"/>
                <a:cs typeface="Helvetica Neue"/>
              </a:rPr>
              <a:t>●  30/18  ρ=.992</a:t>
            </a:r>
          </a:p>
        </p:txBody>
      </p:sp>
      <p:sp>
        <p:nvSpPr>
          <p:cNvPr id="29" name="legend-29/17  ρ=1.043">
            <a:extLst xmlns:a="http://schemas.openxmlformats.org/drawingml/2006/main">
              <a:ext uri="{FF2B5EF4-FFF2-40B4-BE49-F238E27FC236}">
                <a16:creationId xmlns:a16="http://schemas.microsoft.com/office/drawing/2014/main" id="{42BC0DA6-4155-4749-9305-BE03B807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71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rPr>
              <a:t>●  29/17  ρ=1.043</a:t>
            </a:r>
          </a:p>
        </p:txBody>
      </p:sp>
      <p:sp>
        <p:nvSpPr>
          <p:cNvPr id="30" name="legend-28/16  ρ=1.108">
            <a:extLst xmlns:a="http://schemas.openxmlformats.org/drawingml/2006/main">
              <a:ext uri="{FF2B5EF4-FFF2-40B4-BE49-F238E27FC236}">
                <a16:creationId xmlns:a16="http://schemas.microsoft.com/office/drawing/2014/main" id="{4341D9C1-4348-43FD-B791-D1F21AA8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3718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C51F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13" b="1">
                <a:solidFill>
                  <a:srgbClr val="C51F1A"/>
                </a:solidFill>
                <a:latin typeface="Helvetica Neue"/>
                <a:ea typeface="Helvetica Neue"/>
                <a:cs typeface="Helvetica Neue"/>
              </a:rPr>
              <a:t>●  28/16  ρ=1.108</a:t>
            </a:r>
          </a:p>
        </p:txBody>
      </p:sp>
      <p:sp>
        <p:nvSpPr>
          <p:cNvPr id="31" name="threshold-insight-strip">
            <a:extLst xmlns:a="http://schemas.openxmlformats.org/drawingml/2006/main">
              <a:ext uri="{FF2B5EF4-FFF2-40B4-BE49-F238E27FC236}">
                <a16:creationId xmlns:a16="http://schemas.microsoft.com/office/drawing/2014/main" id="{3BF7059D-1299-4298-BAD5-DE65A8C6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381000"/>
          </a:xfrm>
          <a:prstGeom xmlns:a="http://schemas.openxmlformats.org/drawingml/2006/main" prst="roundRect">
            <a:avLst>
              <a:gd name="adj" fmla="val 2222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CDF6"/>
            </a:solidFill>
            <a:prstDash val="solid"/>
          </a:ln>
        </p:spPr>
      </p:sp>
      <p:sp>
        <p:nvSpPr>
          <p:cNvPr id="32" name="threshold-insight">
            <a:extLst xmlns:a="http://schemas.openxmlformats.org/drawingml/2006/main">
              <a:ext uri="{FF2B5EF4-FFF2-40B4-BE49-F238E27FC236}">
                <a16:creationId xmlns:a16="http://schemas.microsoft.com/office/drawing/2014/main" id="{695321D3-9477-4B01-B206-D5D083E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6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DECISION INSIGHT  |  Identify the active bottleneck; test long-peak recovery; measure interstage space before sizing a pilot.</a:t>
            </a:r>
          </a:p>
        </p:txBody>
      </p:sp>
      <p:sp>
        <p:nvSpPr>
          <p:cNvPr id="33" name="merged-evidence-boundary">
            <a:extLst xmlns:a="http://schemas.openxmlformats.org/drawingml/2006/main">
              <a:ext uri="{FF2B5EF4-FFF2-40B4-BE49-F238E27FC236}">
                <a16:creationId xmlns:a16="http://schemas.microsoft.com/office/drawing/2014/main" id="{8D0EA66C-CBBE-4B1F-8E6E-18F8DC9D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10572750" cy="33337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4" name="merged-evidence-boundary-text">
            <a:extLst xmlns:a="http://schemas.openxmlformats.org/drawingml/2006/main">
              <a:ext uri="{FF2B5EF4-FFF2-40B4-BE49-F238E27FC236}">
                <a16:creationId xmlns:a16="http://schemas.microsoft.com/office/drawing/2014/main" id="{8E856523-8EAB-48FC-88C9-711F6BAF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1026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EVIDENCE BOUNDARY  |  Capacity: 2,700 runs; duration: 1,000; finite buffer: 400. B is assumed; B5000 is a non-binding guard.</a:t>
            </a:r>
          </a:p>
          <a:p xmlns:a="http://schemas.openxmlformats.org/drawingml/2006/main">
            <a:pPr algn="l">
              <a:buNone/>
              <a:defRPr sz="6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Stationary HPP, empty/idle, pooled FCFS, no loss, single path and full drain; comparative evidence—not a site forecast.</a:t>
            </a:r>
          </a:p>
        </p:txBody>
      </p:sp>
      <p:sp>
        <p:nvSpPr>
          <p:cNvPr id="38" name="finite-buffer-panel-frame">
            <a:extLst xmlns:a="http://schemas.openxmlformats.org/drawingml/2006/main">
              <a:ext uri="{FF2B5EF4-FFF2-40B4-BE49-F238E27FC236}">
                <a16:creationId xmlns:a16="http://schemas.microsoft.com/office/drawing/2014/main" id="{9AA27AA2-3D89-487D-BF7C-BC68F9A4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71925"/>
            <a:ext cx="11391900" cy="1524000"/>
          </a:xfrm>
          <a:prstGeom xmlns:a="http://schemas.openxmlformats.org/drawingml/2006/main" prst="roundRect">
            <a:avLst>
              <a:gd name="adj" fmla="val 75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39" name="finite-buffer-letter">
            <a:extLst xmlns:a="http://schemas.openxmlformats.org/drawingml/2006/main">
              <a:ext uri="{FF2B5EF4-FFF2-40B4-BE49-F238E27FC236}">
                <a16:creationId xmlns:a16="http://schemas.microsoft.com/office/drawing/2014/main" id="{4408BDA7-BD8B-44A5-828D-BA74106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40" name="finite-buffer-title">
            <a:extLst xmlns:a="http://schemas.openxmlformats.org/drawingml/2006/main">
              <a:ext uri="{FF2B5EF4-FFF2-40B4-BE49-F238E27FC236}">
                <a16:creationId xmlns:a16="http://schemas.microsoft.com/office/drawing/2014/main" id="{619DC5BA-C7BB-4CCA-A816-DEB64310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WHY | DOES FINITE SPACE ADD DELAY OR RELOCATE CONGESTION?</a:t>
            </a:r>
          </a:p>
        </p:txBody>
      </p:sp>
      <p:graphicFrame>
        <p:nvGraphicFramePr>
          <p:cNvPr id="90" name="Chart"/>
          <p:cNvGraphicFramePr/>
          <p:nvPr/>
        </p:nvGraphicFramePr>
        <p:xfrm>
          <a:off xmlns:a="http://schemas.openxmlformats.org/drawingml/2006/main" x="590550" y="4210050"/>
          <a:ext xmlns:a="http://schemas.openxmlformats.org/drawingml/2006/main" cx="5905500" cy="1181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f98c5471534935"/>
          </a:graphicData>
        </a:graphic>
      </p:graphicFrame>
      <p:sp>
        <p:nvSpPr>
          <p:cNvPr id="42" name="finite-buffer-divider">
            <a:extLst xmlns:a="http://schemas.openxmlformats.org/drawingml/2006/main">
              <a:ext uri="{FF2B5EF4-FFF2-40B4-BE49-F238E27FC236}">
                <a16:creationId xmlns:a16="http://schemas.microsoft.com/office/drawing/2014/main" id="{50B2E175-05C3-43A3-9CD2-B15399D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81475"/>
            <a:ext cx="190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solidFill>
              <a:srgbClr val="D8E0EB"/>
            </a:solidFill>
            <a:prstDash val="solid"/>
          </a:ln>
        </p:spPr>
      </p:sp>
      <p:sp>
        <p:nvSpPr>
          <p:cNvPr id="43" name="finite-buffer-regime-label">
            <a:extLst xmlns:a="http://schemas.openxmlformats.org/drawingml/2006/main">
              <a:ext uri="{FF2B5EF4-FFF2-40B4-BE49-F238E27FC236}">
                <a16:creationId xmlns:a16="http://schemas.microsoft.com/office/drawing/2014/main" id="{AE803DF0-E914-4BBB-A1DF-B42E359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43375"/>
            <a:ext cx="447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MODEL CASE | Immigration bottleneck S36 / I16</a:t>
            </a:r>
          </a:p>
        </p:txBody>
      </p:sp>
      <p:sp>
        <p:nvSpPr>
          <p:cNvPr id="44" name="finite-buffer-blocking-stat">
            <a:extLst xmlns:a="http://schemas.openxmlformats.org/drawingml/2006/main">
              <a:ext uri="{FF2B5EF4-FFF2-40B4-BE49-F238E27FC236}">
                <a16:creationId xmlns:a16="http://schemas.microsoft.com/office/drawing/2014/main" id="{DEB0EACE-994B-4E64-A2B2-498FF08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C5B05"/>
                </a:solidFill>
                <a:latin typeface="Helvetica Neue"/>
                <a:ea typeface="Helvetica Neue"/>
                <a:cs typeface="Helvetica Neue"/>
              </a:rPr>
              <a:t>6.66%  →  1.01%  →  0%</a:t>
            </a:r>
          </a:p>
        </p:txBody>
      </p:sp>
      <p:sp>
        <p:nvSpPr>
          <p:cNvPr id="45" name="finite-buffer-blocking-caption">
            <a:extLst xmlns:a="http://schemas.openxmlformats.org/drawingml/2006/main">
              <a:ext uri="{FF2B5EF4-FFF2-40B4-BE49-F238E27FC236}">
                <a16:creationId xmlns:a16="http://schemas.microsoft.com/office/drawing/2014/main" id="{1F01F9AA-A309-4674-BA4C-7C4ECFD9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EVIDENCE | Security locking falls from 6.66% to 0% by B100.</a:t>
            </a:r>
          </a:p>
        </p:txBody>
      </p:sp>
      <p:sp>
        <p:nvSpPr>
          <p:cNvPr id="46" name="finite-buffer-p95-stat">
            <a:extLst xmlns:a="http://schemas.openxmlformats.org/drawingml/2006/main">
              <a:ext uri="{FF2B5EF4-FFF2-40B4-BE49-F238E27FC236}">
                <a16:creationId xmlns:a16="http://schemas.microsoft.com/office/drawing/2014/main" id="{6FF53F8D-5BBD-4910-9547-5A090BD9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291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>
                <a:solidFill>
                  <a:srgbClr val="137E73"/>
                </a:solidFill>
                <a:latin typeface="Helvetica Neue"/>
                <a:ea typeface="Helvetica Neue"/>
                <a:cs typeface="Helvetica Neue"/>
              </a:rPr>
              <a:t>Mean replication-level system-time P95 = 70.43 s at every B</a:t>
            </a:r>
          </a:p>
        </p:txBody>
      </p:sp>
      <p:sp>
        <p:nvSpPr>
          <p:cNvPr id="47" name="finite-buffer-p95-caption">
            <a:extLst xmlns:a="http://schemas.openxmlformats.org/drawingml/2006/main">
              <a:ext uri="{FF2B5EF4-FFF2-40B4-BE49-F238E27FC236}">
                <a16:creationId xmlns:a16="http://schemas.microsoft.com/office/drawing/2014/main" id="{3CA7D9A2-7F35-4AF6-91FD-8FD33BCE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76825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7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7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EVIDENCE | B100 is non-binding; mean replication system-time P95 remains 70.43 s.</a:t>
            </a:r>
          </a:p>
        </p:txBody>
      </p:sp>
      <p:sp>
        <p:nvSpPr>
          <p:cNvPr id="52" name="panel-a-decision-test">
            <a:extLst xmlns:a="http://schemas.openxmlformats.org/drawingml/2006/main">
              <a:ext uri="{FF2B5EF4-FFF2-40B4-BE49-F238E27FC236}">
                <a16:creationId xmlns:a16="http://schemas.microsoft.com/office/drawing/2014/main" id="{F42D7A73-7EFB-4CA6-9A17-568257F5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3543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WHY | Locate the joint Security–Immigration capacity threshold.</a:t>
            </a:r>
          </a:p>
        </p:txBody>
      </p:sp>
      <p:sp>
        <p:nvSpPr>
          <p:cNvPr id="53" name="panel-a-decision-result">
            <a:extLst xmlns:a="http://schemas.openxmlformats.org/drawingml/2006/main">
              <a:ext uri="{FF2B5EF4-FFF2-40B4-BE49-F238E27FC236}">
                <a16:creationId xmlns:a16="http://schemas.microsoft.com/office/drawing/2014/main" id="{0864E843-E1E0-4466-AF02-0809F2D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3543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EVIDENCE | 36/21 stays low; Immigration cuts drive the steepest P95 rise.</a:t>
            </a:r>
          </a:p>
        </p:txBody>
      </p:sp>
      <p:sp>
        <p:nvSpPr>
          <p:cNvPr id="54" name="panel-b-decision-test">
            <a:extLst xmlns:a="http://schemas.openxmlformats.org/drawingml/2006/main">
              <a:ext uri="{FF2B5EF4-FFF2-40B4-BE49-F238E27FC236}">
                <a16:creationId xmlns:a16="http://schemas.microsoft.com/office/drawing/2014/main" id="{C5AEABBA-C8D9-4808-A0C3-848A3A38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524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WHY | Test whether each capacity configuration survives a longer peak.</a:t>
            </a:r>
          </a:p>
        </p:txBody>
      </p:sp>
      <p:sp>
        <p:nvSpPr>
          <p:cNvPr id="55" name="panel-b-decision-result">
            <a:extLst xmlns:a="http://schemas.openxmlformats.org/drawingml/2006/main">
              <a:ext uri="{FF2B5EF4-FFF2-40B4-BE49-F238E27FC236}">
                <a16:creationId xmlns:a16="http://schemas.microsoft.com/office/drawing/2014/main" id="{68A76266-657E-410E-B16B-E097190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4332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625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EVIDENCE | Near/over-capacity configurations accumulate tail wait; spare capacity stays stable.</a:t>
            </a:r>
          </a:p>
        </p:txBody>
      </p:sp>
      <p:sp>
        <p:nvSpPr>
          <p:cNvPr id="56" name="panel-c-decision-test">
            <a:extLst xmlns:a="http://schemas.openxmlformats.org/drawingml/2006/main">
              <a:ext uri="{FF2B5EF4-FFF2-40B4-BE49-F238E27FC236}">
                <a16:creationId xmlns:a16="http://schemas.microsoft.com/office/drawing/2014/main" id="{D7696CC9-B1A3-433E-95F0-EE6CA8A5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90925"/>
            <a:ext cx="3371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WHY | Test recoverability after new arrivals are stopped.</a:t>
            </a:r>
          </a:p>
        </p:txBody>
      </p:sp>
      <p:sp>
        <p:nvSpPr>
          <p:cNvPr id="57" name="panel-c-decision-result">
            <a:extLst xmlns:a="http://schemas.openxmlformats.org/drawingml/2006/main">
              <a:ext uri="{FF2B5EF4-FFF2-40B4-BE49-F238E27FC236}">
                <a16:creationId xmlns:a16="http://schemas.microsoft.com/office/drawing/2014/main" id="{51B50C6B-0BB3-40BF-9A39-57CA4594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134"/>
          </a:bodyPr>
          <a:lstStyle xmlns:a="http://schemas.openxmlformats.org/drawingml/2006/main"/>
          <a:p xmlns:a="http://schemas.openxmlformats.org/drawingml/2006/main">
            <a:pPr algn="l">
              <a:buNone/>
              <a:def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1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EVIDENCE | Residual queues grow near/above capacity, delaying post-peak clearance.</a:t>
            </a:r>
          </a:p>
        </p:txBody>
      </p:sp>
    </p:spTree>
    <p:extLst>
      <p:ext uri="{BB962C8B-B14F-4D97-AF65-F5344CB8AC3E}">
        <p14:creationId xmlns:p14="http://schemas.microsoft.com/office/powerpoint/2010/main" val="19287069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1BD1AE-7A11-4633-9882-26A54E6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0D39F14-0FCC-4D48-84A9-503858E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21820"/>
                </a:solidFill>
                <a:latin typeface="Helvetica Neue"/>
                <a:ea typeface="Helvetica Neue"/>
                <a:cs typeface="Helvetica Neue"/>
              </a:rPr>
              <a:t>The sandbox locates the regime; site evidence selects the lever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F734D25-6349-400F-AF66-BD1D9FB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3225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Representative time-of-day arrivals + signed event ledger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E6D46D7-9507-4899-9A12-17E0E292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552825"/>
            <a:ext cx="212598" cy="212503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CBEFA16B-F7C2-4B24-A924-9B27DF4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6191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buNone/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655FE59-28B3-4208-9D38-8CA87FE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62325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Observed staffing schedules, routing + queue policy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C826CCF-C388-4016-A482-29D3EE8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038600"/>
            <a:ext cx="212598" cy="212503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0C114C5-CD12-458B-A70E-03F6AAD9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81425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Stage service distributions, exceptions + automation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BA09227-E603-41B2-A52E-4BA0F97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524375"/>
            <a:ext cx="212598" cy="212503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C79C4205-427A-49A2-BB34-A8B1722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00525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Physical queue capacity, walking + spillback boundaries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59AF994-9B8C-40D7-A87E-8E5704D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010150"/>
            <a:ext cx="212598" cy="212503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7312FCBA-29F0-4015-BEE9-35804F5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19625"/>
            <a:ext cx="401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Production CV licence, security, privacy + drift monitoring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96FBE91E-D88B-4CA9-A68E-7D71952C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95925"/>
            <a:ext cx="212598" cy="212503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phase-gate-1">
            <a:extLst xmlns:a="http://schemas.openxmlformats.org/drawingml/2006/main">
              <a:ext uri="{FF2B5EF4-FFF2-40B4-BE49-F238E27FC236}">
                <a16:creationId xmlns:a16="http://schemas.microsoft.com/office/drawing/2014/main" id="{DC096A07-3EA7-4C3A-838A-9F9AD6A3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29146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txBody>
          <a:bodyPr xmlns:a="http://schemas.openxmlformats.org/drawingml/2006/main" lIns="171450" tIns="76200" rIns="2667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F5B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2F5BEA"/>
                </a:solidFill>
                <a:latin typeface="Helvetica Neue"/>
                <a:ea typeface="Helvetica Neue"/>
                <a:cs typeface="Helvetica Neue"/>
              </a:rPr>
              <a:t>1  INSTRUMENT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F5B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2F5BEA"/>
                </a:solidFill>
                <a:latin typeface="Helvetica Neue"/>
                <a:ea typeface="Helvetica Neue"/>
                <a:cs typeface="Helvetica Neue"/>
              </a:rPr>
              <a:t>Demand · service · space</a:t>
            </a:r>
          </a:p>
        </p:txBody>
      </p:sp>
      <p:sp>
        <p:nvSpPr>
          <p:cNvPr id="17" name="phase-gate-2">
            <a:extLst xmlns:a="http://schemas.openxmlformats.org/drawingml/2006/main">
              <a:ext uri="{FF2B5EF4-FFF2-40B4-BE49-F238E27FC236}">
                <a16:creationId xmlns:a16="http://schemas.microsoft.com/office/drawing/2014/main" id="{2D791E4B-7071-45D5-A2EB-04E1796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29146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F9F1"/>
          </a:solidFill>
          <a:ln xmlns:a="http://schemas.openxmlformats.org/drawingml/2006/main" w="9525">
            <a:solidFill>
              <a:srgbClr val="009B4D"/>
            </a:solidFill>
            <a:prstDash val="solid"/>
          </a:ln>
        </p:spPr>
        <p:txBody>
          <a:bodyPr xmlns:a="http://schemas.openxmlformats.org/drawingml/2006/main" lIns="171450" tIns="76200" rIns="2667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009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9B4D"/>
                </a:solidFill>
                <a:latin typeface="Helvetica Neue"/>
                <a:ea typeface="Helvetica Neue"/>
                <a:cs typeface="Helvetica Neue"/>
              </a:rPr>
              <a:t>2  CALIBRATE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009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9B4D"/>
                </a:solidFill>
                <a:latin typeface="Helvetica Neue"/>
                <a:ea typeface="Helvetica Neue"/>
                <a:cs typeface="Helvetica Neue"/>
              </a:rPr>
              <a:t>Distributions · policies</a:t>
            </a:r>
          </a:p>
        </p:txBody>
      </p:sp>
      <p:sp>
        <p:nvSpPr>
          <p:cNvPr id="18" name="phase-gate-3">
            <a:extLst xmlns:a="http://schemas.openxmlformats.org/drawingml/2006/main">
              <a:ext uri="{FF2B5EF4-FFF2-40B4-BE49-F238E27FC236}">
                <a16:creationId xmlns:a16="http://schemas.microsoft.com/office/drawing/2014/main" id="{4C31623C-81F3-431F-91E4-47697896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09700"/>
            <a:ext cx="29146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F45B00"/>
            </a:solidFill>
            <a:prstDash val="solid"/>
          </a:ln>
        </p:spPr>
        <p:txBody>
          <a:bodyPr xmlns:a="http://schemas.openxmlformats.org/drawingml/2006/main" lIns="171450" tIns="76200" rIns="2667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F4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F45B00"/>
                </a:solidFill>
                <a:latin typeface="Helvetica Neue"/>
                <a:ea typeface="Helvetica Neue"/>
                <a:cs typeface="Helvetica Neue"/>
              </a:rPr>
              <a:t>3  VALIDATE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F4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F45B00"/>
                </a:solidFill>
                <a:latin typeface="Helvetica Neue"/>
                <a:ea typeface="Helvetica Neue"/>
                <a:cs typeface="Helvetica Neue"/>
              </a:rPr>
              <a:t>Held-out periods · gates</a:t>
            </a:r>
          </a:p>
        </p:txBody>
      </p:sp>
      <p:sp>
        <p:nvSpPr>
          <p:cNvPr id="19" name="phase-gate-4">
            <a:extLst xmlns:a="http://schemas.openxmlformats.org/drawingml/2006/main">
              <a:ext uri="{FF2B5EF4-FFF2-40B4-BE49-F238E27FC236}">
                <a16:creationId xmlns:a16="http://schemas.microsoft.com/office/drawing/2014/main" id="{D37384A9-C52E-4C40-9878-631158B4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09700"/>
            <a:ext cx="2914650" cy="1028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AAB3C2"/>
            </a:solidFill>
            <a:prstDash val="solid"/>
          </a:ln>
        </p:spPr>
        <p:txBody>
          <a:bodyPr xmlns:a="http://schemas.openxmlformats.org/drawingml/2006/main" lIns="171450" tIns="76200" rIns="2667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4  PILOT &amp; GOVERN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One lever · monitor</a:t>
            </a:r>
          </a:p>
        </p:txBody>
      </p:sp>
      <p:sp>
        <p:nvSpPr>
          <p:cNvPr id="20" name="closing-subtitle">
            <a:extLst xmlns:a="http://schemas.openxmlformats.org/drawingml/2006/main">
              <a:ext uri="{FF2B5EF4-FFF2-40B4-BE49-F238E27FC236}">
                <a16:creationId xmlns:a16="http://schemas.microsoft.com/office/drawing/2014/main" id="{5302AEC3-6C58-49B4-A053-592832C0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SUMMARY | what the comparative experiments establish     FUTURE WORK | what must be measured before a site pilot</a:t>
            </a:r>
          </a:p>
        </p:txBody>
      </p:sp>
      <p:sp>
        <p:nvSpPr>
          <p:cNvPr id="21" name="future-work-path-label">
            <a:extLst xmlns:a="http://schemas.openxmlformats.org/drawingml/2006/main">
              <a:ext uri="{FF2B5EF4-FFF2-40B4-BE49-F238E27FC236}">
                <a16:creationId xmlns:a16="http://schemas.microsoft.com/office/drawing/2014/main" id="{6E0A6A0E-3D7C-444F-9641-5D5CEFDE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FUTURE WORK PATH</a:t>
            </a:r>
          </a:p>
        </p:txBody>
      </p:sp>
      <p:sp>
        <p:nvSpPr>
          <p:cNvPr id="22" name="summary-section-heading">
            <a:extLst xmlns:a="http://schemas.openxmlformats.org/drawingml/2006/main">
              <a:ext uri="{FF2B5EF4-FFF2-40B4-BE49-F238E27FC236}">
                <a16:creationId xmlns:a16="http://schemas.microsoft.com/office/drawing/2014/main" id="{F83E3AA7-8630-4F08-B3A1-8593B114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SUMMARY — WHAT THE EXPERIMENTS ESTABLISH</a:t>
            </a:r>
          </a:p>
        </p:txBody>
      </p:sp>
      <p:sp>
        <p:nvSpPr>
          <p:cNvPr id="23" name="summary-accent-1">
            <a:extLst xmlns:a="http://schemas.openxmlformats.org/drawingml/2006/main">
              <a:ext uri="{FF2B5EF4-FFF2-40B4-BE49-F238E27FC236}">
                <a16:creationId xmlns:a16="http://schemas.microsoft.com/office/drawing/2014/main" id="{563EF407-5EA0-4362-A85C-5685026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mmary-heading-1">
            <a:extLst xmlns:a="http://schemas.openxmlformats.org/drawingml/2006/main">
              <a:ext uri="{FF2B5EF4-FFF2-40B4-BE49-F238E27FC236}">
                <a16:creationId xmlns:a16="http://schemas.microsoft.com/office/drawing/2014/main" id="{001BEDE5-0E16-4205-8932-BC040CA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F5B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2F5BEA"/>
                </a:solidFill>
                <a:latin typeface="Helvetica Neue"/>
                <a:ea typeface="Helvetica Neue"/>
                <a:cs typeface="Helvetica Neue"/>
              </a:rPr>
              <a:t>AUDITED INPUT</a:t>
            </a:r>
          </a:p>
        </p:txBody>
      </p:sp>
      <p:sp>
        <p:nvSpPr>
          <p:cNvPr id="25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BF8D23BD-EE22-4CC1-9D15-FE416701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90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34/12 accepted; 1.364/s is a clip-level R→L anchor owned by human review.</a:t>
            </a:r>
          </a:p>
        </p:txBody>
      </p:sp>
      <p:sp>
        <p:nvSpPr>
          <p:cNvPr id="26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CCFBF5F9-8673-4C84-BCE6-F5751CC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mmary-accent-2">
            <a:extLst xmlns:a="http://schemas.openxmlformats.org/drawingml/2006/main">
              <a:ext uri="{FF2B5EF4-FFF2-40B4-BE49-F238E27FC236}">
                <a16:creationId xmlns:a16="http://schemas.microsoft.com/office/drawing/2014/main" id="{034A341C-C079-4011-8A7A-EC9D6F3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mmary-heading-2">
            <a:extLst xmlns:a="http://schemas.openxmlformats.org/drawingml/2006/main">
              <a:ext uri="{FF2B5EF4-FFF2-40B4-BE49-F238E27FC236}">
                <a16:creationId xmlns:a16="http://schemas.microsoft.com/office/drawing/2014/main" id="{F68C8DE4-F618-46BE-8020-A78A2757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09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009B4D"/>
                </a:solidFill>
                <a:latin typeface="Helvetica Neue"/>
                <a:ea typeface="Helvetica Neue"/>
                <a:cs typeface="Helvetica Neue"/>
              </a:rPr>
              <a:t>EXECUTED EVIDENCE</a:t>
            </a:r>
          </a:p>
        </p:txBody>
      </p:sp>
      <p:sp>
        <p:nvSpPr>
          <p:cNvPr id="29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A6F53899-B0A2-473F-B063-7C855A06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5,150 gated runs isolate capacity, peak duration, service variability and finite space.</a:t>
            </a:r>
          </a:p>
        </p:txBody>
      </p:sp>
      <p:sp>
        <p:nvSpPr>
          <p:cNvPr id="30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DD1932E0-469E-4AD3-A9B6-4541CAFA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mmary-accent-3">
            <a:extLst xmlns:a="http://schemas.openxmlformats.org/drawingml/2006/main">
              <a:ext uri="{FF2B5EF4-FFF2-40B4-BE49-F238E27FC236}">
                <a16:creationId xmlns:a16="http://schemas.microsoft.com/office/drawing/2014/main" id="{13DDEB60-3116-4B22-AB3D-5D0FF70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mmary-heading-3">
            <a:extLst xmlns:a="http://schemas.openxmlformats.org/drawingml/2006/main">
              <a:ext uri="{FF2B5EF4-FFF2-40B4-BE49-F238E27FC236}">
                <a16:creationId xmlns:a16="http://schemas.microsoft.com/office/drawing/2014/main" id="{4853ADC3-ABD2-404F-8FA4-93A9294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4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F45B00"/>
                </a:solidFill>
                <a:latin typeface="Helvetica Neue"/>
                <a:ea typeface="Helvetica Neue"/>
                <a:cs typeface="Helvetica Neue"/>
              </a:rPr>
              <a:t>QUEUEING REGIME</a:t>
            </a:r>
          </a:p>
        </p:txBody>
      </p:sp>
      <p:sp>
        <p:nvSpPr>
          <p:cNvPr id="33" name="summary-body-3">
            <a:extLst xmlns:a="http://schemas.openxmlformats.org/drawingml/2006/main">
              <a:ext uri="{FF2B5EF4-FFF2-40B4-BE49-F238E27FC236}">
                <a16:creationId xmlns:a16="http://schemas.microsoft.com/office/drawing/2014/main" id="{0421E10D-2291-4834-9B02-DE63C22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00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Delay rises nonlinearly near capacity; rho &gt; 1 accumulates residual backlog.</a:t>
            </a:r>
          </a:p>
        </p:txBody>
      </p:sp>
      <p:sp>
        <p:nvSpPr>
          <p:cNvPr id="34" name="summary-rule-3">
            <a:extLst xmlns:a="http://schemas.openxmlformats.org/drawingml/2006/main">
              <a:ext uri="{FF2B5EF4-FFF2-40B4-BE49-F238E27FC236}">
                <a16:creationId xmlns:a16="http://schemas.microsoft.com/office/drawing/2014/main" id="{A7BB5DCA-E49F-4343-9386-3088C6CD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36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ummary-accent-4">
            <a:extLst xmlns:a="http://schemas.openxmlformats.org/drawingml/2006/main">
              <a:ext uri="{FF2B5EF4-FFF2-40B4-BE49-F238E27FC236}">
                <a16:creationId xmlns:a16="http://schemas.microsoft.com/office/drawing/2014/main" id="{13763B62-74AA-46E4-A8AC-0D6344D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5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ummary-heading-4">
            <a:extLst xmlns:a="http://schemas.openxmlformats.org/drawingml/2006/main">
              <a:ext uri="{FF2B5EF4-FFF2-40B4-BE49-F238E27FC236}">
                <a16:creationId xmlns:a16="http://schemas.microsoft.com/office/drawing/2014/main" id="{5190E21A-5676-4C6C-845C-B21ECDC7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ROBUSTNESS LIMIT</a:t>
            </a:r>
          </a:p>
        </p:txBody>
      </p:sp>
      <p:sp>
        <p:nvSpPr>
          <p:cNvPr id="37" name="summary-body-4">
            <a:extLst xmlns:a="http://schemas.openxmlformats.org/drawingml/2006/main">
              <a:ext uri="{FF2B5EF4-FFF2-40B4-BE49-F238E27FC236}">
                <a16:creationId xmlns:a16="http://schemas.microsoft.com/office/drawing/2014/main" id="{AF00B174-37E0-4B1C-B57B-323B3E6D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053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Near/above capacity, longer peaks expand tail wait; finite space can relocate congestion upstream.</a:t>
            </a:r>
          </a:p>
        </p:txBody>
      </p:sp>
      <p:sp>
        <p:nvSpPr>
          <p:cNvPr id="38" name="required-data-heading">
            <a:extLst xmlns:a="http://schemas.openxmlformats.org/drawingml/2006/main">
              <a:ext uri="{FF2B5EF4-FFF2-40B4-BE49-F238E27FC236}">
                <a16:creationId xmlns:a16="http://schemas.microsoft.com/office/drawing/2014/main" id="{432A7BFE-C96A-4240-8751-C8C26A3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DATA REQUIRED BEFORE SITE PILOT</a:t>
            </a:r>
          </a:p>
        </p:txBody>
      </p:sp>
      <p:sp>
        <p:nvSpPr>
          <p:cNvPr id="39" name="not-yet-observed-label">
            <a:extLst xmlns:a="http://schemas.openxmlformats.org/drawingml/2006/main">
              <a:ext uri="{FF2B5EF4-FFF2-40B4-BE49-F238E27FC236}">
                <a16:creationId xmlns:a16="http://schemas.microsoft.com/office/drawing/2014/main" id="{B25D9A93-62B3-4CDF-B3B5-22BC60B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95575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4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F45B00"/>
                </a:solidFill>
                <a:latin typeface="Helvetica Neue"/>
                <a:ea typeface="Helvetica Neue"/>
                <a:cs typeface="Helvetica Neue"/>
              </a:rPr>
              <a:t>NOT YET OBSERVED</a:t>
            </a:r>
          </a:p>
        </p:txBody>
      </p:sp>
      <p:sp>
        <p:nvSpPr>
          <p:cNvPr id="40" name="pending-number-1">
            <a:extLst xmlns:a="http://schemas.openxmlformats.org/drawingml/2006/main">
              <a:ext uri="{FF2B5EF4-FFF2-40B4-BE49-F238E27FC236}">
                <a16:creationId xmlns:a16="http://schemas.microsoft.com/office/drawing/2014/main" id="{CDEBC3EE-D4F7-456C-A30F-CA303A20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1" name="pending-number-2">
            <a:extLst xmlns:a="http://schemas.openxmlformats.org/drawingml/2006/main">
              <a:ext uri="{FF2B5EF4-FFF2-40B4-BE49-F238E27FC236}">
                <a16:creationId xmlns:a16="http://schemas.microsoft.com/office/drawing/2014/main" id="{D7AF0C14-3800-4611-9DF0-343968B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2" name="pending-number-3">
            <a:extLst xmlns:a="http://schemas.openxmlformats.org/drawingml/2006/main">
              <a:ext uri="{FF2B5EF4-FFF2-40B4-BE49-F238E27FC236}">
                <a16:creationId xmlns:a16="http://schemas.microsoft.com/office/drawing/2014/main" id="{5B861E7C-BD31-42F7-83B0-F5459C5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9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3" name="pending-number-4">
            <a:extLst xmlns:a="http://schemas.openxmlformats.org/drawingml/2006/main">
              <a:ext uri="{FF2B5EF4-FFF2-40B4-BE49-F238E27FC236}">
                <a16:creationId xmlns:a16="http://schemas.microsoft.com/office/drawing/2014/main" id="{5460F467-FEF4-4CC9-90EB-440F52C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38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4" name="pending-number-5">
            <a:extLst xmlns:a="http://schemas.openxmlformats.org/drawingml/2006/main">
              <a:ext uri="{FF2B5EF4-FFF2-40B4-BE49-F238E27FC236}">
                <a16:creationId xmlns:a16="http://schemas.microsoft.com/office/drawing/2014/main" id="{B6D57A84-2198-472A-980B-BAA874E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B8798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5" name="closing-decision-strip">
            <a:extLst xmlns:a="http://schemas.openxmlformats.org/drawingml/2006/main">
              <a:ext uri="{FF2B5EF4-FFF2-40B4-BE49-F238E27FC236}">
                <a16:creationId xmlns:a16="http://schemas.microsoft.com/office/drawing/2014/main" id="{E14EEB2F-CE61-4B3B-995D-1A70A41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AFC4FF"/>
            </a:solidFill>
            <a:prstDash val="solid"/>
          </a:ln>
        </p:spPr>
        <p:txBody>
          <a:bodyPr xmlns:a="http://schemas.openxmlformats.org/drawingml/2006/main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2348"/>
                </a:solidFill>
                <a:latin typeface="Helvetica Neue"/>
                <a:ea typeface="Helvetica Neue"/>
                <a:cs typeface="Helvetica Neue"/>
              </a:rPr>
              <a:t>DECISION NOW  |  Advance to site calibration; pilot one lever only after the calibrated model reproduces held-out queues and bottleneck behaviour.</a:t>
            </a:r>
          </a:p>
        </p:txBody>
      </p:sp>
      <p:sp>
        <p:nvSpPr>
          <p:cNvPr id="46" name="closing-boundary-strip">
            <a:extLst xmlns:a="http://schemas.openxmlformats.org/drawingml/2006/main">
              <a:ext uri="{FF2B5EF4-FFF2-40B4-BE49-F238E27FC236}">
                <a16:creationId xmlns:a16="http://schemas.microsoft.com/office/drawing/2014/main" id="{34C3C16D-302A-43CB-8BF6-F51A3237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8E0EB"/>
            </a:solidFill>
            <a:prstDash val="solid"/>
          </a:ln>
        </p:spPr>
        <p:txBody>
          <a:bodyPr xmlns:a="http://schemas.openxmlformats.org/drawingml/2006/main" lIns="133350" tIns="47625" rIns="1333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BOUNDARY | 36/21 is a derived pooled reference—not observed staffing. Comparative evidence assumes stationary HPP, pooled FCFS and no-loss/full drain; it is not a site forecast or production SOP.</a:t>
            </a:r>
          </a:p>
        </p:txBody>
      </p:sp>
    </p:spTree>
    <p:extLst>
      <p:ext uri="{BB962C8B-B14F-4D97-AF65-F5344CB8AC3E}">
        <p14:creationId xmlns:p14="http://schemas.microsoft.com/office/powerpoint/2010/main" val="987544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2026-07-30T03:31:35.0930000Z</dcterms:created>
  <dcterms:modified xsi:type="dcterms:W3CDTF">2026-07-30T03:31:35.0930000Z</dcterms:modified>
</coreProperties>
</file>