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b3537a12d8496a" /><Relationship Type="http://schemas.openxmlformats.org/officeDocument/2006/relationships/extended-properties" Target="/docProps/app.xml" Id="Rcbdeec5233504064" /><Relationship Type="http://schemas.openxmlformats.org/officeDocument/2006/relationships/officeDocument" Target="/ppt/presentation.xml" Id="R076b92afcfa74b8e" /></Relationships>
</file>

<file path=ppt/presentation.xml><?xml version="1.0" encoding="utf-8"?>
<p:presentation xmlns:p="http://schemas.openxmlformats.org/presentationml/2006/main">
  <p:sldMasterIdLst>
    <p:sldMasterId xmlns:r="http://schemas.openxmlformats.org/officeDocument/2006/relationships" id="2147483648" r:id="R0e7cd391817b48c2"/>
  </p:sldMasterIdLst>
  <p:notesMasterIdLst>
    <p:notesMasterId xmlns:r="http://schemas.openxmlformats.org/officeDocument/2006/relationships" r:id="R06fddc285f2a4ba8"/>
  </p:notesMasterIdLst>
  <p:sldIdLst>
    <p:sldId xmlns:r="http://schemas.openxmlformats.org/officeDocument/2006/relationships" id="256" r:id="R2a10b8dccef04241"/>
    <p:sldId xmlns:r="http://schemas.openxmlformats.org/officeDocument/2006/relationships" id="257" r:id="R1d04761f0f2e40d2"/>
    <p:sldId xmlns:r="http://schemas.openxmlformats.org/officeDocument/2006/relationships" id="258" r:id="Rdfe8c56e85204a9b"/>
    <p:sldId xmlns:r="http://schemas.openxmlformats.org/officeDocument/2006/relationships" id="259" r:id="Rc89a650fd6714033"/>
    <p:sldId xmlns:r="http://schemas.openxmlformats.org/officeDocument/2006/relationships" id="260" r:id="Rdd0d726e9bb04a7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29c81446e840cf" /><Relationship Type="http://schemas.openxmlformats.org/officeDocument/2006/relationships/slideMaster" Target="/ppt/slideMasters/slideMaster1.xml" Id="R0e7cd391817b48c2" /><Relationship Type="http://schemas.openxmlformats.org/officeDocument/2006/relationships/notesMaster" Target="/ppt/notesMasters/notesMaster1.xml" Id="R06fddc285f2a4ba8" /><Relationship Type="http://schemas.openxmlformats.org/officeDocument/2006/relationships/presProps" Target="/ppt/presProps.xml" Id="Rf74efd8f4f154092" /><Relationship Type="http://schemas.openxmlformats.org/officeDocument/2006/relationships/tableStyles" Target="/ppt/tableStyles.xml" Id="Rebb4aee888cb4f67" /><Relationship Type="http://schemas.openxmlformats.org/officeDocument/2006/relationships/slide" Target="/ppt/slides/slide1.xml" Id="R2a10b8dccef04241" /><Relationship Type="http://schemas.openxmlformats.org/officeDocument/2006/relationships/slide" Target="/ppt/slides/slide2.xml" Id="R1d04761f0f2e40d2" /><Relationship Type="http://schemas.openxmlformats.org/officeDocument/2006/relationships/slide" Target="/ppt/slides/slide3.xml" Id="Rdfe8c56e85204a9b" /><Relationship Type="http://schemas.openxmlformats.org/officeDocument/2006/relationships/slide" Target="/ppt/slides/slide4.xml" Id="Rc89a650fd6714033" /><Relationship Type="http://schemas.openxmlformats.org/officeDocument/2006/relationships/slide" Target="/ppt/slides/slide5.xml" Id="Rdd0d726e9bb04a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94d820e9a149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9f84f85746645fb" /><Relationship Type="http://schemas.openxmlformats.org/officeDocument/2006/relationships/notesMaster" Target="/ppt/notesMasters/notesMaster1.xml" Id="R5cfca27b301c41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6f7b1b69184a5e" /><Relationship Type="http://schemas.openxmlformats.org/officeDocument/2006/relationships/notesMaster" Target="/ppt/notesMasters/notesMaster1.xml" Id="R0d183329b9634a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21700a2a0c47e5" /><Relationship Type="http://schemas.openxmlformats.org/officeDocument/2006/relationships/notesMaster" Target="/ppt/notesMasters/notesMaster1.xml" Id="R98d09c68540f430e"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951050537142dd" /><Relationship Type="http://schemas.openxmlformats.org/officeDocument/2006/relationships/notesMaster" Target="/ppt/notesMasters/notesMaster1.xml" Id="R2ef64b7904d94d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05ebbe2d1e4122" /><Relationship Type="http://schemas.openxmlformats.org/officeDocument/2006/relationships/notesMaster" Target="/ppt/notesMasters/notesMaster1.xml" Id="R04c3d06705974a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operational question is larger than the local evidence. We have one 24.9-second corridor clip, so the responsible output is an auditable what-if model—not a calibrated checkpoint forecast. Human adjudication owns the accepted directional counts, the simulation makes every capacity and service assumption explicit, and replicated outputs quantify uncertainty. The purpose of this deck is therefore to identify mechanisms worth testing and the evidence needed before any staffing or deployment decision.</a:t>
            </a:r>
          </a:p>
          <a:p xmlns:a="http://schemas.openxmlformats.org/drawingml/2006/main">
            <a:r>
              <a:t/>
            </a:r>
          </a:p>
          <a:p xmlns:a="http://schemas.openxmlformats.org/drawingml/2006/main">
            <a:r>
              <a:t>[Sources]</a:t>
            </a:r>
          </a:p>
          <a:p xmlns:a="http://schemas.openxmlformats.org/drawingml/2006/main">
            <a:r>
              <a:t>- HTX Data Scientist Technical Test.docx (assessment brief, local source)</a:t>
            </a:r>
          </a:p>
          <a:p xmlns:a="http://schemas.openxmlformats.org/drawingml/2006/main">
            <a:r>
              <a:t>- data/derived/task1_final_aggregate.csv (accepted aggregate and exact clip duration, local source)</a:t>
            </a:r>
          </a:p>
          <a:p xmlns:a="http://schemas.openxmlformats.org/drawingml/2006/main">
            <a:r>
              <a:t>- docs/task3_operational_contract.md (executed model claim boundary, local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control is ownership of the measurement. The accepted aggregate is 12 left-to-right and 34 right-to-left; only the 34 right-to-left crossings feed this model, giving 1.364 arrivals per second over 24.9228 seconds. Detection and tracking generate review candidates, but the alternative YOLOX-S plus ByteTrack path is a sensitivity check, not confirmation. The second control is an explicit two-stage pooled queue. The third is replicated inference: ten independent pilot runs per scenario, with replication-level metrics and confidence intervals rather than a persuasive animation.</a:t>
            </a:r>
          </a:p>
          <a:p xmlns:a="http://schemas.openxmlformats.org/drawingml/2006/main">
            <a:r>
              <a:t/>
            </a:r>
          </a:p>
          <a:p xmlns:a="http://schemas.openxmlformats.org/drawingml/2006/main">
            <a:r>
              <a:t>[Sources]</a:t>
            </a:r>
          </a:p>
          <a:p xmlns:a="http://schemas.openxmlformats.org/drawingml/2006/main">
            <a:r>
              <a:t>- data/derived/task1_final_aggregate.csv (accepted aggregate and duration, local source)</a:t>
            </a:r>
          </a:p>
          <a:p xmlns:a="http://schemas.openxmlformats.org/drawingml/2006/main">
            <a:r>
              <a:t>- docs/yoloxs_bytetrack_recount.md (alternative sensitivity path, local source)</a:t>
            </a:r>
          </a:p>
          <a:p xmlns:a="http://schemas.openxmlformats.org/drawingml/2006/main">
            <a:r>
              <a:t>- docs/task2_system_design.md (conceptual model and assumptions, local source)</a:t>
            </a:r>
          </a:p>
          <a:p xmlns:a="http://schemas.openxmlformats.org/drawingml/2006/main">
            <a:r>
              <a:t>- docs/literature_to_design_matrix.md (design-evidence matrix, local source)</a:t>
            </a:r>
          </a:p>
          <a:p xmlns:a="http://schemas.openxmlformats.org/drawingml/2006/main">
            <a:r>
              <a:t>- https://informs-sim.org/wsc20papers/134.pdf</a:t>
            </a:r>
          </a:p>
          <a:p xmlns:a="http://schemas.openxmlformats.org/drawingml/2006/main">
            <a:r>
              <a:t>- https://github.com/Megvii-BaseDetection/YOLOX</a:t>
            </a:r>
          </a:p>
          <a:p xmlns:a="http://schemas.openxmlformats.org/drawingml/2006/main">
            <a:r>
              <a:t>- https://www.ecva.net/papers/eccv_2022/papers_ECCV/papers/136820001.pdf</a:t>
            </a:r>
          </a:p>
          <a:p xmlns:a="http://schemas.openxmlformats.org/drawingml/2006/main">
            <a:r>
              <a:t>- https://www.ultralytics.com/license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reference assumption sandbox, not measured HTX performance. Low waiting is expected because the resource counts were chosen with headroom, service times are fixed, and the system starts empty. The statistical reference estimate is ten replications: the 3.52-second value is the mean of ten replication-level total queue-wait P95s. The 150 runs and 61,218 traveller records are a separate portfolio software gate across fifteen scenarios. They demonstrate conservation, completion and validator execution; they do not increase the reference sample size from ten to 150.</a:t>
            </a:r>
          </a:p>
          <a:p xmlns:a="http://schemas.openxmlformats.org/drawingml/2006/main">
            <a:r>
              <a:t/>
            </a:r>
          </a:p>
          <a:p xmlns:a="http://schemas.openxmlformats.org/drawingml/2006/main">
            <a:r>
              <a:t>[Sources]</a:t>
            </a:r>
          </a:p>
          <a:p xmlns:a="http://schemas.openxmlformats.org/drawingml/2006/main">
            <a:r>
              <a:t>- docs/task3_operational_contract.md (executed model contract, local source)</a:t>
            </a:r>
          </a:p>
          <a:p xmlns:a="http://schemas.openxmlformats.org/drawingml/2006/main">
            <a:r>
              <a:t>- results/intermediate/operational_results/validation.json (portfolio validation gate, local source)</a:t>
            </a:r>
          </a:p>
          <a:p xmlns:a="http://schemas.openxmlformats.org/drawingml/2006/main">
            <a:r>
              <a:t>- results/analysis/operational/scenario_estimates.csv (reference estimates, local source)</a:t>
            </a:r>
          </a:p>
          <a:p xmlns:a="http://schemas.openxmlformats.org/drawingml/2006/main">
            <a:r>
              <a:t>- docs/task3_results.md (interpretation and limits, local source)</a:t>
            </a:r>
          </a:p>
          <a:p xmlns:a="http://schemas.openxmlformats.org/drawingml/2006/main">
            <a:r>
              <a:t>- https://www.gao.gov/assets/a257263.html</a:t>
            </a:r>
          </a:p>
          <a:p xmlns:a="http://schemas.openxmlformats.org/drawingml/2006/main">
            <a:r>
              <a:t>- https://www.mha.gov.sg/media-room/newsroom/average-duration-to-process-travellers-at-bus-halls-of-land-checkpoints-using-qr-code-or-passport/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stage bars as bottleneck migration. Adding four Security resources almost removes Security waiting, but Immigration remains active; adding three Immigration resources does the reverse. For the primary total-P95 contrast, only the joint plus-four and plus-three scenario excludes zero at this pilot sample size, and its reduction is small and cost-blind. The larger effects come from assumptions: twenty percent more demand raises total P95 to 17.06 seconds, while a 24-second Immigration service context raises it to 164.87 seconds. Those are sensitivity results, not local measurements.</a:t>
            </a:r>
          </a:p>
          <a:p xmlns:a="http://schemas.openxmlformats.org/drawingml/2006/main">
            <a:r>
              <a:t/>
            </a:r>
          </a:p>
          <a:p xmlns:a="http://schemas.openxmlformats.org/drawingml/2006/main">
            <a:r>
              <a:t>[Sources]</a:t>
            </a:r>
          </a:p>
          <a:p xmlns:a="http://schemas.openxmlformats.org/drawingml/2006/main">
            <a:r>
              <a:t>- results/analysis/operational/scenario_estimates.csv (scenario estimates, local source)</a:t>
            </a:r>
          </a:p>
          <a:p xmlns:a="http://schemas.openxmlformats.org/drawingml/2006/main">
            <a:r>
              <a:t>- results/analysis/operational/scenario_contrasts.csv (independent Welch contrasts, local source)</a:t>
            </a:r>
          </a:p>
          <a:p xmlns:a="http://schemas.openxmlformats.org/drawingml/2006/main">
            <a:r>
              <a:t>- results/analysis/operational/analysis_manifest.json (random-stream alignment status and method, local source)</a:t>
            </a:r>
          </a:p>
          <a:p xmlns:a="http://schemas.openxmlformats.org/drawingml/2006/main">
            <a:r>
              <a:t>- docs/task3_results.md (scenario interpretation and limitations, local source)</a:t>
            </a:r>
          </a:p>
          <a:p xmlns:a="http://schemas.openxmlformats.org/drawingml/2006/main">
            <a:r>
              <a:t>- https://www.ica.gov.sg/news-and-publications/newsroom/media-release/new-immigration-kiosks-at-woodlands-train-checkpoint-increases-automated-clearance-capacity-and-provides-faster-clearance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recommendation is a staged evidence programme, not an immediate staffing change. First, collect signed event times, time-of-day arrivals, stage service and exception distributions, open resources, rosters and downtime. Second, carry the joint plus-four and plus-three configuration forward only as a mechanism candidate in a controlled pilot. Third, align random streams, size the confirmatory study before seeing outcomes, and add cost, roster feasibility and licensing. The two-hour clearance result is deliberately pessimistic and illustrates why queue P95 alone can hide rare but operationally dominant work.</a:t>
            </a:r>
          </a:p>
          <a:p xmlns:a="http://schemas.openxmlformats.org/drawingml/2006/main">
            <a:r>
              <a:t/>
            </a:r>
          </a:p>
          <a:p xmlns:a="http://schemas.openxmlformats.org/drawingml/2006/main">
            <a:r>
              <a:t>[Sources]</a:t>
            </a:r>
          </a:p>
          <a:p xmlns:a="http://schemas.openxmlformats.org/drawingml/2006/main">
            <a:r>
              <a:t>- docs/task3_results.md (risk-bound interpretation, guardrail critique and limits, local source)</a:t>
            </a:r>
          </a:p>
          <a:p xmlns:a="http://schemas.openxmlformats.org/drawingml/2006/main">
            <a:r>
              <a:t>- results/analysis/operational/scenario_estimates.csv (risk scenario estimates, local source)</a:t>
            </a:r>
          </a:p>
          <a:p xmlns:a="http://schemas.openxmlformats.org/drawingml/2006/main">
            <a:r>
              <a:t>- docs/analysis_plan.md (confirmatory precision and claim controls, local source)</a:t>
            </a:r>
          </a:p>
          <a:p xmlns:a="http://schemas.openxmlformats.org/drawingml/2006/main">
            <a:r>
              <a:t>- LICENSING.md (measurement and deployment licence boundary, local source)</a:t>
            </a:r>
          </a:p>
          <a:p xmlns:a="http://schemas.openxmlformats.org/drawingml/2006/main">
            <a:r>
              <a:t>- https://www.cbp.gov/sites/default/files/documents/Final%20Preclearance%20Guidance_092014.pdf</a:t>
            </a:r>
          </a:p>
          <a:p xmlns:a="http://schemas.openxmlformats.org/drawingml/2006/main">
            <a:r>
              <a:t>- https://www.ultralytics.com/license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a042507b804a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8b29d58eb84e3a" /><Relationship Type="http://schemas.openxmlformats.org/officeDocument/2006/relationships/slideLayout" Target="/ppt/slideLayouts/slideLayout1.xml" Id="Rc677f7c7baa44ac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77f7c7baa44ac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5778d3fa1454641" /><Relationship Type="http://schemas.openxmlformats.org/officeDocument/2006/relationships/notesSlide" Target="/ppt/notesSlides/notesSlide1.xml" Id="Rea8d688b953641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0f3f1021b90478d" /><Relationship Type="http://schemas.openxmlformats.org/officeDocument/2006/relationships/notesSlide" Target="/ppt/notesSlides/notesSlide2.xml" Id="R5ded1e8754dd4d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e94a68f3f446a5" /><Relationship Type="http://schemas.openxmlformats.org/officeDocument/2006/relationships/notesSlide" Target="/ppt/notesSlides/notesSlide3.xml" Id="Ra83f078bd6e143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d2e1a0189964ccc" /><Relationship Type="http://schemas.openxmlformats.org/officeDocument/2006/relationships/chart" Target="/ppt/slides/charts/chart1.xml" Id="R0a0d2696c985452f" /><Relationship Type="http://schemas.openxmlformats.org/officeDocument/2006/relationships/notesSlide" Target="/ppt/notesSlides/notesSlide4.xml" Id="Rde7eb570fd47408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b349d532394f0b" /><Relationship Type="http://schemas.openxmlformats.org/officeDocument/2006/relationships/notesSlide" Target="/ppt/notesSlides/notesSlide5.xml" Id="R3864e3c4883c4eb3" /></Relationships>
</file>

<file path=ppt/slides/charts/chart1.xml><?xml version="1.0" encoding="utf-8"?>
<c:chartSpace xmlns:c="http://schemas.openxmlformats.org/drawingml/2006/chart">
  <c:lang val="en-US"/>
  <c:chart>
    <c:plotArea>
      <c:barChart>
        <c:barDir val="col"/>
        <c:grouping val="clustered"/>
        <c:varyColors val="0"/>
        <c:ser>
          <c:idx val="0"/>
          <c:order val="0"/>
          <c:tx>
            <c:v>Security wait P95</c:v>
          </c:tx>
          <c:spPr>
            <a:solidFill xmlns:a="http://schemas.openxmlformats.org/drawingml/2006/main">
              <a:srgbClr val="000000"/>
            </a:solidFill>
          </c:spPr>
          <c:cat>
            <c:strLit>
              <c:ptCount val="4"/>
              <c:pt idx="0">
                <c:v>Reference</c:v>
              </c:pt>
              <c:pt idx="1">
                <c:v>Security +4</c:v>
              </c:pt>
              <c:pt idx="2">
                <c:v>Immigration +3</c:v>
              </c:pt>
              <c:pt idx="3">
                <c:v>Both +4/+3</c:v>
              </c:pt>
            </c:strLit>
          </c:cat>
          <c:val>
            <c:numLit>
              <c:formatCode>0.00</c:formatCode>
              <c:ptCount val="4"/>
              <c:pt idx="0">
                <c:v>2.07</c:v>
              </c:pt>
              <c:pt idx="1">
                <c:v>0.02</c:v>
              </c:pt>
              <c:pt idx="2">
                <c:v>2.12</c:v>
              </c:pt>
              <c:pt idx="3">
                <c:v>0.75</c:v>
              </c:pt>
            </c:numLit>
          </c:val>
        </c:ser>
        <c:ser>
          <c:idx val="1"/>
          <c:order val="1"/>
          <c:tx>
            <c:v>Immigration wait P95</c:v>
          </c:tx>
          <c:spPr>
            <a:solidFill xmlns:a="http://schemas.openxmlformats.org/drawingml/2006/main">
              <a:srgbClr val="6DCBF4"/>
            </a:solidFill>
          </c:spPr>
          <c:cat>
            <c:strLit>
              <c:ptCount val="4"/>
              <c:pt idx="0">
                <c:v>Reference</c:v>
              </c:pt>
              <c:pt idx="1">
                <c:v>Security +4</c:v>
              </c:pt>
              <c:pt idx="2">
                <c:v>Immigration +3</c:v>
              </c:pt>
              <c:pt idx="3">
                <c:v>Both +4/+3</c:v>
              </c:pt>
            </c:strLit>
          </c:cat>
          <c:val>
            <c:numLit>
              <c:formatCode>0.00</c:formatCode>
              <c:ptCount val="4"/>
              <c:pt idx="0">
                <c:v>2.32</c:v>
              </c:pt>
              <c:pt idx="1">
                <c:v>2.52</c:v>
              </c:pt>
              <c:pt idx="2">
                <c:v>0.17</c:v>
              </c:pt>
              <c:pt idx="3">
                <c:v>0.75</c:v>
              </c:pt>
            </c:numLit>
          </c:val>
        </c:ser>
        <c:ser>
          <c:idx val="2"/>
          <c:order val="2"/>
          <c:tx>
            <c:v>Total wait P95</c:v>
          </c:tx>
          <c:spPr>
            <a:solidFill xmlns:a="http://schemas.openxmlformats.org/drawingml/2006/main">
              <a:srgbClr val="3D8DFF"/>
            </a:solidFill>
          </c:spPr>
          <c:cat>
            <c:strLit>
              <c:ptCount val="4"/>
              <c:pt idx="0">
                <c:v>Reference</c:v>
              </c:pt>
              <c:pt idx="1">
                <c:v>Security +4</c:v>
              </c:pt>
              <c:pt idx="2">
                <c:v>Immigration +3</c:v>
              </c:pt>
              <c:pt idx="3">
                <c:v>Both +4/+3</c:v>
              </c:pt>
            </c:strLit>
          </c:cat>
          <c:val>
            <c:numLit>
              <c:formatCode>0.00</c:formatCode>
              <c:ptCount val="4"/>
              <c:pt idx="0">
                <c:v>3.52</c:v>
              </c:pt>
              <c:pt idx="1">
                <c:v>2.68</c:v>
              </c:pt>
              <c:pt idx="2">
                <c:v>2.31</c:v>
              </c:pt>
              <c:pt idx="3">
                <c:v>1.62</c:v>
              </c:pt>
            </c:numLit>
          </c:val>
        </c:ser>
        <c:dLbls>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900">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4"/>
          <c:min val="0"/>
        </c:scaling>
        <c:delete val="0"/>
        <c:axPos val="l"/>
        <c:majorGridlines>
          <c:spPr>
            <a:ln xmlns:a="http://schemas.openxmlformats.org/drawingml/2006/main" w="9525">
              <a:solidFill>
                <a:srgbClr val="EDEDED"/>
              </a:solidFill>
              <a:prstDash val="solid"/>
            </a:ln>
          </c:spPr>
        </c:majorGridlines>
        <c:numFmt formatCode="0.0"/>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9288D322-DDC7-4465-82AC-EDF830779CE5}"/>
              </a:ext>
            </a:extLst>
          </p:cNvPr>
          <p:cNvSpPr>
            <a:spLocks xmlns:a="http://schemas.openxmlformats.org/drawingml/2006/main" noGrp="1"/>
          </p:cNvSpPr>
          <p:nvPr/>
        </p:nvSpPr>
        <p:spPr>
          <a:xfrm xmlns:a="http://schemas.openxmlformats.org/drawingml/2006/main">
            <a:off x="393668" y="1619250"/>
            <a:ext cx="10668000" cy="2571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5400" b="0">
                <a:solidFill>
                  <a:srgbClr val="000000"/>
                </a:solidFill>
                <a:latin typeface="Helvetica Neue"/>
                <a:ea typeface="Helvetica Neue"/>
                <a:cs typeface="Helvetica Neue"/>
              </a:defRPr>
            </a:pPr>
            <a:r>
              <a:rPr sz="5400" b="0">
                <a:solidFill>
                  <a:srgbClr val="000000"/>
                </a:solidFill>
                <a:latin typeface="Helvetica Neue"/>
                <a:ea typeface="Helvetica Neue"/>
                <a:cs typeface="Helvetica Neue"/>
              </a:rPr>
              <a:t>From 24.9 seconds of video to an auditable checkpoint what-if model</a:t>
            </a:r>
          </a:p>
        </p:txBody>
      </p:sp>
      <p:sp>
        <p:nvSpPr>
          <p:cNvPr id="2" name="Subtitle-4-2">
            <a:extLst xmlns:a="http://schemas.openxmlformats.org/drawingml/2006/main">
              <a:ext uri="{FF2B5EF4-FFF2-40B4-BE49-F238E27FC236}">
                <a16:creationId xmlns:a16="http://schemas.microsoft.com/office/drawing/2014/main" id="{339B7715-2F50-423E-A74B-06CA95BAB84F}"/>
              </a:ext>
            </a:extLst>
          </p:cNvPr>
          <p:cNvSpPr>
            <a:spLocks xmlns:a="http://schemas.openxmlformats.org/drawingml/2006/main" noGrp="1"/>
          </p:cNvSpPr>
          <p:nvPr/>
        </p:nvSpPr>
        <p:spPr>
          <a:xfrm xmlns:a="http://schemas.openxmlformats.org/drawingml/2006/main">
            <a:off x="393668" y="4572000"/>
            <a:ext cx="9525000" cy="1285875"/>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Peak-period decisions; one short local corridor clip.</a:t>
            </a:r>
          </a:p>
          <a:p xmlns:a="http://schemas.openxmlformats.org/drawingml/2006/main">
            <a:pPr algn="l">
              <a:buNone/>
              <a:defRPr sz="2175" b="0">
                <a:solidFill>
                  <a:srgbClr val="000000"/>
                </a:solidFill>
                <a:latin typeface="Helvetica Neue"/>
                <a:ea typeface="Helvetica Neue"/>
                <a:cs typeface="Helvetica Neue"/>
              </a:defRPr>
            </a:pPr>
            <a:r>
              <a:rPr sz="2175" b="0">
                <a:solidFill>
                  <a:srgbClr val="000000"/>
                </a:solidFill>
                <a:latin typeface="Helvetica Neue"/>
                <a:ea typeface="Helvetica Neue"/>
                <a:cs typeface="Helvetica Neue"/>
              </a:rPr>
              <a:t>Human-adjudicated aggregate · executable DES · claim-bounded scenario evidence</a:t>
            </a:r>
          </a:p>
        </p:txBody>
      </p:sp>
      <p:sp>
        <p:nvSpPr>
          <p:cNvPr id="3" name="Subtitle-4-3">
            <a:extLst xmlns:a="http://schemas.openxmlformats.org/drawingml/2006/main">
              <a:ext uri="{FF2B5EF4-FFF2-40B4-BE49-F238E27FC236}">
                <a16:creationId xmlns:a16="http://schemas.microsoft.com/office/drawing/2014/main" id="{259ADD88-C8CE-4179-B463-D903CA998FDC}"/>
              </a:ext>
            </a:extLst>
          </p:cNvPr>
          <p:cNvSpPr>
            <a:spLocks xmlns:a="http://schemas.openxmlformats.org/drawingml/2006/main" noGrp="1"/>
          </p:cNvSpPr>
          <p:nvPr/>
        </p:nvSpPr>
        <p:spPr>
          <a:xfrm xmlns:a="http://schemas.openxmlformats.org/drawingml/2006/main">
            <a:off x="393668" y="381000"/>
            <a:ext cx="8572500" cy="4572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875" b="0">
                <a:solidFill>
                  <a:srgbClr val="000000"/>
                </a:solidFill>
                <a:latin typeface="Helvetica Neue"/>
                <a:ea typeface="Helvetica Neue"/>
                <a:cs typeface="Helvetica Neue"/>
              </a:defRPr>
            </a:pPr>
            <a:r>
              <a:rPr sz="1875" b="0">
                <a:solidFill>
                  <a:srgbClr val="000000"/>
                </a:solidFill>
                <a:latin typeface="Helvetica Neue"/>
                <a:ea typeface="Helvetica Neue"/>
                <a:cs typeface="Helvetica Neue"/>
              </a:rPr>
              <a:t>WANG YU · HTX DSAI TECHNICAL ASSESSMENT · TASK 4</a:t>
            </a:r>
          </a:p>
        </p:txBody>
      </p:sp>
    </p:spTree>
    <p:extLst>
      <p:ext uri="{BB962C8B-B14F-4D97-AF65-F5344CB8AC3E}">
        <p14:creationId xmlns:p14="http://schemas.microsoft.com/office/powerpoint/2010/main" val="11533446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D38DAD70-2A86-4BD4-978B-BD273F8C6E2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a:t>
            </a:r>
          </a:p>
        </p:txBody>
      </p:sp>
      <p:sp>
        <p:nvSpPr>
          <p:cNvPr id="2" name="Title-10-3">
            <a:extLst xmlns:a="http://schemas.openxmlformats.org/drawingml/2006/main">
              <a:ext uri="{FF2B5EF4-FFF2-40B4-BE49-F238E27FC236}">
                <a16:creationId xmlns:a16="http://schemas.microsoft.com/office/drawing/2014/main" id="{129D017A-65A3-4E55-9F0E-DC4DBDDAD9A6}"/>
              </a:ext>
            </a:extLst>
          </p:cNvPr>
          <p:cNvSpPr>
            <a:spLocks xmlns:a="http://schemas.openxmlformats.org/drawingml/2006/main" noGrp="1"/>
          </p:cNvSpPr>
          <p:nvPr/>
        </p:nvSpPr>
        <p:spPr>
          <a:xfrm xmlns:a="http://schemas.openxmlformats.org/drawingml/2006/main">
            <a:off x="393668" y="323850"/>
            <a:ext cx="11404568" cy="7620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A short clip cannot become the operating baseline</a:t>
            </a:r>
          </a:p>
        </p:txBody>
      </p:sp>
      <p:cxnSp>
        <p:nvCxnSpPr>
          <p:cNvPr id="21" name="Google-Shape-2259-p159-4"/>
          <p:cNvCxnSpPr/>
          <p:nvPr/>
        </p:nvCxnSpPr>
        <p:spPr>
          <a:xfrm xmlns:a="http://schemas.openxmlformats.org/drawingml/2006/main">
            <a:off x="337757" y="285750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487547AA-ECC4-4531-BD08-1C372AD76A8D}"/>
              </a:ext>
            </a:extLst>
          </p:cNvPr>
          <p:cNvSpPr>
            <a:spLocks xmlns:a="http://schemas.openxmlformats.org/drawingml/2006/main" noGrp="1"/>
          </p:cNvSpPr>
          <p:nvPr/>
        </p:nvSpPr>
        <p:spPr>
          <a:xfrm xmlns:a="http://schemas.openxmlformats.org/drawingml/2006/main">
            <a:off x="337757" y="2803970"/>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A71D475A-EDF8-4616-87BD-C163D054565C}"/>
              </a:ext>
            </a:extLst>
          </p:cNvPr>
          <p:cNvSpPr>
            <a:spLocks xmlns:a="http://schemas.openxmlformats.org/drawingml/2006/main" noGrp="1"/>
          </p:cNvSpPr>
          <p:nvPr/>
        </p:nvSpPr>
        <p:spPr>
          <a:xfrm xmlns:a="http://schemas.openxmlformats.org/drawingml/2006/main">
            <a:off x="4251770" y="2803970"/>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948C384B-9230-4861-A686-4C8CA9CCD478}"/>
              </a:ext>
            </a:extLst>
          </p:cNvPr>
          <p:cNvSpPr>
            <a:spLocks xmlns:a="http://schemas.openxmlformats.org/drawingml/2006/main" noGrp="1"/>
          </p:cNvSpPr>
          <p:nvPr/>
        </p:nvSpPr>
        <p:spPr>
          <a:xfrm xmlns:a="http://schemas.openxmlformats.org/drawingml/2006/main">
            <a:off x="8176070" y="2803970"/>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A90C8628-8309-4514-ABFD-80131C52A1EB}"/>
              </a:ext>
            </a:extLst>
          </p:cNvPr>
          <p:cNvSpPr>
            <a:spLocks xmlns:a="http://schemas.openxmlformats.org/drawingml/2006/main" noGrp="1"/>
          </p:cNvSpPr>
          <p:nvPr/>
        </p:nvSpPr>
        <p:spPr>
          <a:xfrm xmlns:a="http://schemas.openxmlformats.org/drawingml/2006/main">
            <a:off x="393668" y="2324100"/>
            <a:ext cx="1714500" cy="285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MEASURE</a:t>
            </a:r>
          </a:p>
        </p:txBody>
      </p:sp>
      <p:sp>
        <p:nvSpPr>
          <p:cNvPr id="8" name="Content-Placeholder-15-9">
            <a:extLst xmlns:a="http://schemas.openxmlformats.org/drawingml/2006/main">
              <a:ext uri="{FF2B5EF4-FFF2-40B4-BE49-F238E27FC236}">
                <a16:creationId xmlns:a16="http://schemas.microsoft.com/office/drawing/2014/main" id="{8AC50856-0B9B-495F-B745-200E4DC80846}"/>
              </a:ext>
            </a:extLst>
          </p:cNvPr>
          <p:cNvSpPr>
            <a:spLocks xmlns:a="http://schemas.openxmlformats.org/drawingml/2006/main" noGrp="1"/>
          </p:cNvSpPr>
          <p:nvPr/>
        </p:nvSpPr>
        <p:spPr>
          <a:xfrm xmlns:a="http://schemas.openxmlformats.org/drawingml/2006/main">
            <a:off x="4314825" y="2324100"/>
            <a:ext cx="1714500" cy="285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MODEL</a:t>
            </a:r>
          </a:p>
        </p:txBody>
      </p:sp>
      <p:sp>
        <p:nvSpPr>
          <p:cNvPr id="9" name="Content-Placeholder-15-10">
            <a:extLst xmlns:a="http://schemas.openxmlformats.org/drawingml/2006/main">
              <a:ext uri="{FF2B5EF4-FFF2-40B4-BE49-F238E27FC236}">
                <a16:creationId xmlns:a16="http://schemas.microsoft.com/office/drawing/2014/main" id="{B60960C8-3730-4C31-9AE0-C17FFA195361}"/>
              </a:ext>
            </a:extLst>
          </p:cNvPr>
          <p:cNvSpPr>
            <a:spLocks xmlns:a="http://schemas.openxmlformats.org/drawingml/2006/main" noGrp="1"/>
          </p:cNvSpPr>
          <p:nvPr/>
        </p:nvSpPr>
        <p:spPr>
          <a:xfrm xmlns:a="http://schemas.openxmlformats.org/drawingml/2006/main">
            <a:off x="8229600" y="2324100"/>
            <a:ext cx="1714500" cy="285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INFER</a:t>
            </a:r>
          </a:p>
        </p:txBody>
      </p:sp>
      <p:sp>
        <p:nvSpPr>
          <p:cNvPr id="10" name="Text-Placeholder-16-11">
            <a:extLst xmlns:a="http://schemas.openxmlformats.org/drawingml/2006/main">
              <a:ext uri="{FF2B5EF4-FFF2-40B4-BE49-F238E27FC236}">
                <a16:creationId xmlns:a16="http://schemas.microsoft.com/office/drawing/2014/main" id="{2353D8EF-2AB9-4BC4-83C6-DCEEEB69E9BE}"/>
              </a:ext>
            </a:extLst>
          </p:cNvPr>
          <p:cNvSpPr>
            <a:spLocks xmlns:a="http://schemas.openxmlformats.org/drawingml/2006/main" noGrp="1"/>
          </p:cNvSpPr>
          <p:nvPr/>
        </p:nvSpPr>
        <p:spPr>
          <a:xfrm xmlns:a="http://schemas.openxmlformats.org/drawingml/2006/main">
            <a:off x="4314825" y="3238500"/>
            <a:ext cx="3524250" cy="26670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spcBef>
                <a:spcPts val="0"/>
              </a:spcBef>
              <a:spcAft>
                <a:spcPts val="8"/>
              </a:spcAft>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Explicit events drive the engine</a:t>
            </a:r>
          </a:p>
          <a:p xmlns:a="http://schemas.openxmlformats.org/drawingml/2006/main">
            <a:pPr algn="l">
              <a:spcBef>
                <a:spcPts val="0"/>
              </a:spcBef>
              <a:spcAft>
                <a:spcPts val="8"/>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Time-varying Poisson arrivals on [0, 300 s) → pooled first-come-first-served Security → Immigration → full drain.</a:t>
            </a:r>
          </a:p>
          <a:p xmlns:a="http://schemas.openxmlformats.org/drawingml/2006/main">
            <a:pPr algn="l">
              <a:spcBef>
                <a:spcPts val="0"/>
              </a:spcBef>
              <a:spcAft>
                <a:spcPts val="0"/>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36 / 21 resources · fixed 21.82 / 13.0 s service · empty and idle start.</a:t>
            </a:r>
          </a:p>
        </p:txBody>
      </p:sp>
      <p:sp>
        <p:nvSpPr>
          <p:cNvPr id="11" name="Text-Placeholder-16-12">
            <a:extLst xmlns:a="http://schemas.openxmlformats.org/drawingml/2006/main">
              <a:ext uri="{FF2B5EF4-FFF2-40B4-BE49-F238E27FC236}">
                <a16:creationId xmlns:a16="http://schemas.microsoft.com/office/drawing/2014/main" id="{9AA59D89-3FCE-416F-9E9C-2F45161A0EC6}"/>
              </a:ext>
            </a:extLst>
          </p:cNvPr>
          <p:cNvSpPr>
            <a:spLocks xmlns:a="http://schemas.openxmlformats.org/drawingml/2006/main" noGrp="1"/>
          </p:cNvSpPr>
          <p:nvPr/>
        </p:nvSpPr>
        <p:spPr>
          <a:xfrm xmlns:a="http://schemas.openxmlformats.org/drawingml/2006/main">
            <a:off x="393668" y="3238500"/>
            <a:ext cx="3524250" cy="26670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spcBef>
                <a:spcPts val="0"/>
              </a:spcBef>
              <a:spcAft>
                <a:spcPts val="8"/>
              </a:spcAft>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Human adjudication owns the aggregate</a:t>
            </a:r>
          </a:p>
          <a:p xmlns:a="http://schemas.openxmlformats.org/drawingml/2006/main">
            <a:pPr algn="l">
              <a:spcBef>
                <a:spcPts val="0"/>
              </a:spcBef>
              <a:spcAft>
                <a:spcPts val="8"/>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Accepted: 12 L→R / 34 R→L. Model input uses R→L only: 34 ÷ 24.9228 s = 1.364/s.</a:t>
            </a:r>
          </a:p>
          <a:p xmlns:a="http://schemas.openxmlformats.org/drawingml/2006/main">
            <a:pPr algn="l">
              <a:spcBef>
                <a:spcPts val="0"/>
              </a:spcBef>
              <a:spcAft>
                <a:spcPts val="0"/>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YOLO26m + BoT-SORT generates candidates; YOLOX-S + ByteTrack is a sensitivity path—not validation.</a:t>
            </a:r>
          </a:p>
        </p:txBody>
      </p:sp>
      <p:sp>
        <p:nvSpPr>
          <p:cNvPr id="12" name="Text-Placeholder-16-13">
            <a:extLst xmlns:a="http://schemas.openxmlformats.org/drawingml/2006/main">
              <a:ext uri="{FF2B5EF4-FFF2-40B4-BE49-F238E27FC236}">
                <a16:creationId xmlns:a16="http://schemas.microsoft.com/office/drawing/2014/main" id="{5D61E3C9-CDBA-4B52-866E-004F630827F8}"/>
              </a:ext>
            </a:extLst>
          </p:cNvPr>
          <p:cNvSpPr>
            <a:spLocks xmlns:a="http://schemas.openxmlformats.org/drawingml/2006/main" noGrp="1"/>
          </p:cNvSpPr>
          <p:nvPr/>
        </p:nvSpPr>
        <p:spPr>
          <a:xfrm xmlns:a="http://schemas.openxmlformats.org/drawingml/2006/main">
            <a:off x="8229600" y="3238500"/>
            <a:ext cx="3524250" cy="26670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spcBef>
                <a:spcPts val="0"/>
              </a:spcBef>
              <a:spcAft>
                <a:spcPts val="8"/>
              </a:spcAft>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Replications—not animation—support claims</a:t>
            </a:r>
          </a:p>
          <a:p xmlns:a="http://schemas.openxmlformats.org/drawingml/2006/main">
            <a:pPr algn="l">
              <a:spcBef>
                <a:spcPts val="0"/>
              </a:spcBef>
              <a:spcAft>
                <a:spcPts val="8"/>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Ten independent pilot replications per scenario produce replication-level P95s, cutoff work-in-process and full-drain clearance.</a:t>
            </a:r>
          </a:p>
          <a:p xmlns:a="http://schemas.openxmlformats.org/drawingml/2006/main">
            <a:pPr algn="l">
              <a:spcBef>
                <a:spcPts val="0"/>
              </a:spcBef>
              <a:spcAft>
                <a:spcPts val="0"/>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Welch 95% intervals keep the claim boundary visible.</a:t>
            </a:r>
          </a:p>
        </p:txBody>
      </p:sp>
    </p:spTree>
    <p:extLst>
      <p:ext uri="{BB962C8B-B14F-4D97-AF65-F5344CB8AC3E}">
        <p14:creationId xmlns:p14="http://schemas.microsoft.com/office/powerpoint/2010/main" val="462397453"/>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ABD6C80F-C38F-43FF-96F7-09D97564428F}"/>
              </a:ext>
            </a:extLst>
          </p:cNvPr>
          <p:cNvSpPr>
            <a:spLocks xmlns:a="http://schemas.openxmlformats.org/drawingml/2006/main" noGrp="1"/>
          </p:cNvSpPr>
          <p:nvPr/>
        </p:nvSpPr>
        <p:spPr>
          <a:xfrm xmlns:a="http://schemas.openxmlformats.org/drawingml/2006/main">
            <a:off x="393668" y="3143250"/>
            <a:ext cx="3568732" cy="276225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200A7CB3-7E7B-405A-9694-53EBD5E477D9}"/>
              </a:ext>
            </a:extLst>
          </p:cNvPr>
          <p:cNvSpPr>
            <a:spLocks xmlns:a="http://schemas.openxmlformats.org/drawingml/2006/main" noGrp="1"/>
          </p:cNvSpPr>
          <p:nvPr/>
        </p:nvSpPr>
        <p:spPr>
          <a:xfrm xmlns:a="http://schemas.openxmlformats.org/drawingml/2006/main">
            <a:off x="4311682" y="3143250"/>
            <a:ext cx="3568732" cy="276225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E16EAF83-C4F9-4C2D-8468-8E04D2AA076C}"/>
              </a:ext>
            </a:extLst>
          </p:cNvPr>
          <p:cNvSpPr>
            <a:spLocks xmlns:a="http://schemas.openxmlformats.org/drawingml/2006/main" noGrp="1"/>
          </p:cNvSpPr>
          <p:nvPr/>
        </p:nvSpPr>
        <p:spPr>
          <a:xfrm xmlns:a="http://schemas.openxmlformats.org/drawingml/2006/main">
            <a:off x="8232267" y="3143250"/>
            <a:ext cx="3568732" cy="276225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5EBEC7DA-1448-4CDE-A649-37F5DB8B5B1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5" name="Title-2-5">
            <a:extLst xmlns:a="http://schemas.openxmlformats.org/drawingml/2006/main">
              <a:ext uri="{FF2B5EF4-FFF2-40B4-BE49-F238E27FC236}">
                <a16:creationId xmlns:a16="http://schemas.microsoft.com/office/drawing/2014/main" id="{C9A4D58F-1822-47DA-98B7-4FBC77D98298}"/>
              </a:ext>
            </a:extLst>
          </p:cNvPr>
          <p:cNvSpPr>
            <a:spLocks xmlns:a="http://schemas.openxmlformats.org/drawingml/2006/main" noGrp="1"/>
          </p:cNvSpPr>
          <p:nvPr/>
        </p:nvSpPr>
        <p:spPr>
          <a:xfrm xmlns:a="http://schemas.openxmlformats.org/drawingml/2006/main">
            <a:off x="393668" y="323850"/>
            <a:ext cx="11404568" cy="7429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Reference performance is constructed—not observed</a:t>
            </a:r>
          </a:p>
        </p:txBody>
      </p:sp>
      <p:sp>
        <p:nvSpPr>
          <p:cNvPr id="6" name="Content-Placeholder-9-6">
            <a:extLst xmlns:a="http://schemas.openxmlformats.org/drawingml/2006/main">
              <a:ext uri="{FF2B5EF4-FFF2-40B4-BE49-F238E27FC236}">
                <a16:creationId xmlns:a16="http://schemas.microsoft.com/office/drawing/2014/main" id="{1C6B5623-A0A6-49BC-AA8A-957A6E0065C3}"/>
              </a:ext>
            </a:extLst>
          </p:cNvPr>
          <p:cNvSpPr>
            <a:spLocks xmlns:a="http://schemas.openxmlformats.org/drawingml/2006/main" noGrp="1"/>
          </p:cNvSpPr>
          <p:nvPr/>
        </p:nvSpPr>
        <p:spPr>
          <a:xfrm xmlns:a="http://schemas.openxmlformats.org/drawingml/2006/main">
            <a:off x="702374" y="4714875"/>
            <a:ext cx="2949607"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Mean of 10 replication-level</a:t>
            </a:r>
          </a:p>
          <a:p xmlns:a="http://schemas.openxmlformats.org/drawingml/2006/main">
            <a:pPr algn="l">
              <a:lnSpc>
                <a:spcPct val="112000"/>
              </a:lnSpc>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total queue-wait P95s</a:t>
            </a:r>
          </a:p>
          <a:p xmlns:a="http://schemas.openxmlformats.org/drawingml/2006/main">
            <a:pPr algn="l">
              <a:lnSpc>
                <a:spcPct val="112000"/>
              </a:lnSpc>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95% CI 2.92–4.12</a:t>
            </a:r>
          </a:p>
        </p:txBody>
      </p:sp>
      <p:sp>
        <p:nvSpPr>
          <p:cNvPr id="7" name="Content-Placeholder-10-7">
            <a:extLst xmlns:a="http://schemas.openxmlformats.org/drawingml/2006/main">
              <a:ext uri="{FF2B5EF4-FFF2-40B4-BE49-F238E27FC236}">
                <a16:creationId xmlns:a16="http://schemas.microsoft.com/office/drawing/2014/main" id="{935125B4-FFFD-4636-91CE-49671F834417}"/>
              </a:ext>
            </a:extLst>
          </p:cNvPr>
          <p:cNvSpPr>
            <a:spLocks xmlns:a="http://schemas.openxmlformats.org/drawingml/2006/main" noGrp="1"/>
          </p:cNvSpPr>
          <p:nvPr/>
        </p:nvSpPr>
        <p:spPr>
          <a:xfrm xmlns:a="http://schemas.openxmlformats.org/drawingml/2006/main">
            <a:off x="8541830" y="4714875"/>
            <a:ext cx="2949607"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Mean clear time after</a:t>
            </a:r>
          </a:p>
          <a:p xmlns:a="http://schemas.openxmlformats.org/drawingml/2006/main">
            <a:pPr algn="l">
              <a:lnSpc>
                <a:spcPct val="112000"/>
              </a:lnSpc>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the 300 s cutoff</a:t>
            </a:r>
          </a:p>
          <a:p xmlns:a="http://schemas.openxmlformats.org/drawingml/2006/main">
            <a:pPr algn="l">
              <a:lnSpc>
                <a:spcPct val="112000"/>
              </a:lnSpc>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95% CI 34.1–36.5</a:t>
            </a:r>
          </a:p>
        </p:txBody>
      </p:sp>
      <p:sp>
        <p:nvSpPr>
          <p:cNvPr id="8" name="Content-Placeholder-11-8">
            <a:extLst xmlns:a="http://schemas.openxmlformats.org/drawingml/2006/main">
              <a:ext uri="{FF2B5EF4-FFF2-40B4-BE49-F238E27FC236}">
                <a16:creationId xmlns:a16="http://schemas.microsoft.com/office/drawing/2014/main" id="{85A00259-C2B9-427C-99EE-5574837B160B}"/>
              </a:ext>
            </a:extLst>
          </p:cNvPr>
          <p:cNvSpPr>
            <a:spLocks xmlns:a="http://schemas.openxmlformats.org/drawingml/2006/main" noGrp="1"/>
          </p:cNvSpPr>
          <p:nvPr/>
        </p:nvSpPr>
        <p:spPr>
          <a:xfrm xmlns:a="http://schemas.openxmlformats.org/drawingml/2006/main">
            <a:off x="4621244" y="4714875"/>
            <a:ext cx="2949607" cy="1047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Security / Immigration</a:t>
            </a:r>
          </a:p>
          <a:p xmlns:a="http://schemas.openxmlformats.org/drawingml/2006/main">
            <a:pPr algn="l">
              <a:lnSpc>
                <a:spcPct val="112000"/>
              </a:lnSpc>
              <a:buNone/>
              <a:defRPr sz="1600" b="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full-drain utilization</a:t>
            </a:r>
          </a:p>
        </p:txBody>
      </p:sp>
      <p:sp>
        <p:nvSpPr>
          <p:cNvPr id="9" name="Content-Placeholder-9-9">
            <a:extLst xmlns:a="http://schemas.openxmlformats.org/drawingml/2006/main">
              <a:ext uri="{FF2B5EF4-FFF2-40B4-BE49-F238E27FC236}">
                <a16:creationId xmlns:a16="http://schemas.microsoft.com/office/drawing/2014/main" id="{1C1CA881-1E2C-4353-A0D1-3EEACE6E3E2F}"/>
              </a:ext>
            </a:extLst>
          </p:cNvPr>
          <p:cNvSpPr>
            <a:spLocks xmlns:a="http://schemas.openxmlformats.org/drawingml/2006/main" noGrp="1"/>
          </p:cNvSpPr>
          <p:nvPr/>
        </p:nvSpPr>
        <p:spPr>
          <a:xfrm xmlns:a="http://schemas.openxmlformats.org/drawingml/2006/main">
            <a:off x="702374" y="3524250"/>
            <a:ext cx="2940082" cy="1047750"/>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buNone/>
              <a:defRPr sz="4350" b="1">
                <a:solidFill>
                  <a:srgbClr val="000000"/>
                </a:solidFill>
                <a:latin typeface="Helvetica Neue"/>
                <a:ea typeface="Helvetica Neue"/>
                <a:cs typeface="Helvetica Neue"/>
              </a:defRPr>
            </a:pPr>
            <a:r>
              <a:rPr sz="4350" b="1">
                <a:solidFill>
                  <a:srgbClr val="000000"/>
                </a:solidFill>
                <a:latin typeface="Helvetica Neue"/>
                <a:ea typeface="Helvetica Neue"/>
                <a:cs typeface="Helvetica Neue"/>
              </a:rPr>
              <a:t>3.52 s</a:t>
            </a:r>
          </a:p>
        </p:txBody>
      </p:sp>
      <p:sp>
        <p:nvSpPr>
          <p:cNvPr id="10" name="Content-Placeholder-9-10">
            <a:extLst xmlns:a="http://schemas.openxmlformats.org/drawingml/2006/main">
              <a:ext uri="{FF2B5EF4-FFF2-40B4-BE49-F238E27FC236}">
                <a16:creationId xmlns:a16="http://schemas.microsoft.com/office/drawing/2014/main" id="{C96B3E29-F756-45E7-A465-063F96184D56}"/>
              </a:ext>
            </a:extLst>
          </p:cNvPr>
          <p:cNvSpPr>
            <a:spLocks xmlns:a="http://schemas.openxmlformats.org/drawingml/2006/main" noGrp="1"/>
          </p:cNvSpPr>
          <p:nvPr/>
        </p:nvSpPr>
        <p:spPr>
          <a:xfrm xmlns:a="http://schemas.openxmlformats.org/drawingml/2006/main">
            <a:off x="4612958" y="3524250"/>
            <a:ext cx="2940082" cy="1047750"/>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buNone/>
              <a:defRPr sz="4050" b="1">
                <a:solidFill>
                  <a:srgbClr val="000000"/>
                </a:solidFill>
                <a:latin typeface="Helvetica Neue"/>
                <a:ea typeface="Helvetica Neue"/>
                <a:cs typeface="Helvetica Neue"/>
              </a:defRPr>
            </a:pPr>
            <a:r>
              <a:rPr sz="4050" b="1">
                <a:solidFill>
                  <a:srgbClr val="000000"/>
                </a:solidFill>
                <a:latin typeface="Helvetica Neue"/>
                <a:ea typeface="Helvetica Neue"/>
                <a:cs typeface="Helvetica Neue"/>
              </a:rPr>
              <a:t>74 / 75.6%</a:t>
            </a:r>
          </a:p>
        </p:txBody>
      </p:sp>
      <p:sp>
        <p:nvSpPr>
          <p:cNvPr id="11" name="Content-Placeholder-9-11">
            <a:extLst xmlns:a="http://schemas.openxmlformats.org/drawingml/2006/main">
              <a:ext uri="{FF2B5EF4-FFF2-40B4-BE49-F238E27FC236}">
                <a16:creationId xmlns:a16="http://schemas.microsoft.com/office/drawing/2014/main" id="{C226B1E0-29FF-458E-B5F1-A730B0B73A47}"/>
              </a:ext>
            </a:extLst>
          </p:cNvPr>
          <p:cNvSpPr>
            <a:spLocks xmlns:a="http://schemas.openxmlformats.org/drawingml/2006/main" noGrp="1"/>
          </p:cNvSpPr>
          <p:nvPr/>
        </p:nvSpPr>
        <p:spPr>
          <a:xfrm xmlns:a="http://schemas.openxmlformats.org/drawingml/2006/main">
            <a:off x="8562404" y="3524250"/>
            <a:ext cx="2940082" cy="1047750"/>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buNone/>
              <a:defRPr sz="4350" b="1">
                <a:solidFill>
                  <a:srgbClr val="000000"/>
                </a:solidFill>
                <a:latin typeface="Helvetica Neue"/>
                <a:ea typeface="Helvetica Neue"/>
                <a:cs typeface="Helvetica Neue"/>
              </a:defRPr>
            </a:pPr>
            <a:r>
              <a:rPr sz="4350" b="1">
                <a:solidFill>
                  <a:srgbClr val="000000"/>
                </a:solidFill>
                <a:latin typeface="Helvetica Neue"/>
                <a:ea typeface="Helvetica Neue"/>
                <a:cs typeface="Helvetica Neue"/>
              </a:rPr>
              <a:t>35.3 s</a:t>
            </a:r>
          </a:p>
        </p:txBody>
      </p:sp>
      <p:sp>
        <p:nvSpPr>
          <p:cNvPr id="12" name="Content-Placeholder-15-12">
            <a:extLst xmlns:a="http://schemas.openxmlformats.org/drawingml/2006/main">
              <a:ext uri="{FF2B5EF4-FFF2-40B4-BE49-F238E27FC236}">
                <a16:creationId xmlns:a16="http://schemas.microsoft.com/office/drawing/2014/main" id="{46CB0780-B1AF-4986-A806-811D3AB10704}"/>
              </a:ext>
            </a:extLst>
          </p:cNvPr>
          <p:cNvSpPr>
            <a:spLocks xmlns:a="http://schemas.openxmlformats.org/drawingml/2006/main" noGrp="1"/>
          </p:cNvSpPr>
          <p:nvPr/>
        </p:nvSpPr>
        <p:spPr>
          <a:xfrm xmlns:a="http://schemas.openxmlformats.org/drawingml/2006/main">
            <a:off x="393668" y="1104900"/>
            <a:ext cx="11404568" cy="18097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spcBef>
                <a:spcPts val="0"/>
              </a:spcBef>
              <a:spcAft>
                <a:spcPts val="7"/>
              </a:spcAft>
              <a:defRPr sz="16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REFERENCE ASSUMPTION SANDBOX ≠ OBSERVED BASELINE</a:t>
            </a:r>
          </a:p>
          <a:p xmlns:a="http://schemas.openxmlformats.org/drawingml/2006/main">
            <a:pPr algn="l">
              <a:spcBef>
                <a:spcPts val="0"/>
              </a:spcBef>
              <a:spcAft>
                <a:spcPts val="7"/>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Registered pooled FCFS: 1.364/s time-varying arrivals for 300 s; 36 Security × 21.82 s; 21 Immigration × 13.0 s; empty start; full drain.</a:t>
            </a:r>
          </a:p>
          <a:p xmlns:a="http://schemas.openxmlformats.org/drawingml/2006/main">
            <a:pPr algn="l">
              <a:spcBef>
                <a:spcPts val="0"/>
              </a:spcBef>
              <a:spcAft>
                <a:spcPts val="5"/>
              </a:spcAft>
              <a:defRPr sz="1600">
                <a:solidFill>
                  <a:srgbClr val="000000"/>
                </a:solidFill>
                <a:latin typeface="Helvetica Neue"/>
                <a:ea typeface="Helvetica Neue"/>
                <a:cs typeface="Helvetica Neue"/>
              </a:defRPr>
            </a:pPr>
            <a:r>
              <a:rPr sz="1600" b="1">
                <a:solidFill>
                  <a:srgbClr val="000000"/>
                </a:solidFill>
                <a:latin typeface="Helvetica Neue"/>
                <a:ea typeface="Helvetica Neue"/>
                <a:cs typeface="Helvetica Neue"/>
              </a:rPr>
              <a:t>Reference estimate: n=10 replications.</a:t>
            </a:r>
          </a:p>
          <a:p xmlns:a="http://schemas.openxmlformats.org/drawingml/2006/main">
            <a:pPr algn="l">
              <a:spcBef>
                <a:spcPts val="0"/>
              </a:spcBef>
              <a:spcAft>
                <a:spcPts val="0"/>
              </a:spcAft>
              <a:defRPr sz="1600">
                <a:solidFill>
                  <a:srgbClr val="000000"/>
                </a:solidFill>
                <a:latin typeface="Helvetica Neue"/>
                <a:ea typeface="Helvetica Neue"/>
                <a:cs typeface="Helvetica Neue"/>
              </a:defRPr>
            </a:pPr>
            <a:r>
              <a:rPr sz="1600" b="0">
                <a:solidFill>
                  <a:srgbClr val="5E6570"/>
                </a:solidFill>
                <a:latin typeface="Helvetica Neue"/>
                <a:ea typeface="Helvetica Neue"/>
                <a:cs typeface="Helvetica Neue"/>
              </a:rPr>
              <a:t>Portfolio software gate: 15 scenarios × 10 = 150/150 runs · 61,218 traveller records · 0 dropped/rejected · conservation + full drain 150/150 · strict validator PASS.</a:t>
            </a:r>
          </a:p>
        </p:txBody>
      </p:sp>
    </p:spTree>
    <p:extLst>
      <p:ext uri="{BB962C8B-B14F-4D97-AF65-F5344CB8AC3E}">
        <p14:creationId xmlns:p14="http://schemas.microsoft.com/office/powerpoint/2010/main" val="68489495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2" name="results-title">
            <a:extLst xmlns:a="http://schemas.openxmlformats.org/drawingml/2006/main">
              <a:ext uri="{FF2B5EF4-FFF2-40B4-BE49-F238E27FC236}">
                <a16:creationId xmlns:a16="http://schemas.microsoft.com/office/drawing/2014/main" id="{5307FA94-A9D9-4290-8525-95CE199D25A6}"/>
              </a:ext>
            </a:extLst>
          </p:cNvPr>
          <p:cNvSpPr>
            <a:spLocks xmlns:a="http://schemas.openxmlformats.org/drawingml/2006/main" noGrp="1"/>
          </p:cNvSpPr>
          <p:nvPr/>
        </p:nvSpPr>
        <p:spPr>
          <a:xfrm xmlns:a="http://schemas.openxmlformats.org/drawingml/2006/main">
            <a:off x="393668" y="323850"/>
            <a:ext cx="11404568" cy="7239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Capacity shifts bottlenecks; service-time assumptions dominate</a:t>
            </a:r>
          </a:p>
        </p:txBody>
      </p:sp>
      <p:sp>
        <p:nvSpPr>
          <p:cNvPr id="2" name="chart-label">
            <a:extLst xmlns:a="http://schemas.openxmlformats.org/drawingml/2006/main">
              <a:ext uri="{FF2B5EF4-FFF2-40B4-BE49-F238E27FC236}">
                <a16:creationId xmlns:a16="http://schemas.microsoft.com/office/drawing/2014/main" id="{37E96706-C8D5-4C18-9E58-D0BA6B60FBE3}"/>
              </a:ext>
            </a:extLst>
          </p:cNvPr>
          <p:cNvSpPr>
            <a:spLocks xmlns:a="http://schemas.openxmlformats.org/drawingml/2006/main" noGrp="1"/>
          </p:cNvSpPr>
          <p:nvPr/>
        </p:nvSpPr>
        <p:spPr>
          <a:xfrm xmlns:a="http://schemas.openxmlformats.org/drawingml/2006/main">
            <a:off x="438150" y="1104900"/>
            <a:ext cx="5810250" cy="26670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600" b="0">
                <a:solidFill>
                  <a:srgbClr val="5E6570"/>
                </a:solidFill>
                <a:latin typeface="Helvetica Neue"/>
                <a:ea typeface="Helvetica Neue"/>
                <a:cs typeface="Helvetica Neue"/>
              </a:defRPr>
            </a:pPr>
            <a:r>
              <a:rPr sz="1600" b="0">
                <a:solidFill>
                  <a:srgbClr val="5E6570"/>
                </a:solidFill>
                <a:latin typeface="Helvetica Neue"/>
                <a:ea typeface="Helvetica Neue"/>
                <a:cs typeface="Helvetica Neue"/>
              </a:rPr>
              <a:t>Mean stage queue-wait P95 (s), n=10/scenario</a:t>
            </a:r>
          </a:p>
        </p:txBody>
      </p:sp>
      <p:sp>
        <p:nvSpPr>
          <p:cNvPr id="3" name="callout-1-bg">
            <a:extLst xmlns:a="http://schemas.openxmlformats.org/drawingml/2006/main">
              <a:ext uri="{FF2B5EF4-FFF2-40B4-BE49-F238E27FC236}">
                <a16:creationId xmlns:a16="http://schemas.microsoft.com/office/drawing/2014/main" id="{E283465D-3155-408A-B407-4DACB608C9BA}"/>
              </a:ext>
            </a:extLst>
          </p:cNvPr>
          <p:cNvSpPr>
            <a:spLocks xmlns:a="http://schemas.openxmlformats.org/drawingml/2006/main" noGrp="1"/>
          </p:cNvSpPr>
          <p:nvPr/>
        </p:nvSpPr>
        <p:spPr>
          <a:xfrm xmlns:a="http://schemas.openxmlformats.org/drawingml/2006/main">
            <a:off x="6572250" y="1143000"/>
            <a:ext cx="5219700" cy="1409700"/>
          </a:xfrm>
          <a:prstGeom xmlns:a="http://schemas.openxmlformats.org/drawingml/2006/main" prst="roundRect">
            <a:avLst>
              <a:gd name="adj" fmla="val 5405"/>
            </a:avLst>
          </a:prstGeom>
          <a:solidFill xmlns:a="http://schemas.openxmlformats.org/drawingml/2006/main">
            <a:srgbClr val="F2F2F2"/>
          </a:solidFill>
        </p:spPr>
      </p:sp>
      <p:sp>
        <p:nvSpPr>
          <p:cNvPr id="4" name="callout-1">
            <a:extLst xmlns:a="http://schemas.openxmlformats.org/drawingml/2006/main">
              <a:ext uri="{FF2B5EF4-FFF2-40B4-BE49-F238E27FC236}">
                <a16:creationId xmlns:a16="http://schemas.microsoft.com/office/drawing/2014/main" id="{00666F93-A6DE-48B7-9502-9EA92D21A081}"/>
              </a:ext>
            </a:extLst>
          </p:cNvPr>
          <p:cNvSpPr>
            <a:spLocks xmlns:a="http://schemas.openxmlformats.org/drawingml/2006/main" noGrp="1"/>
          </p:cNvSpPr>
          <p:nvPr/>
        </p:nvSpPr>
        <p:spPr>
          <a:xfrm xmlns:a="http://schemas.openxmlformats.org/drawingml/2006/main">
            <a:off x="6800850" y="1295400"/>
            <a:ext cx="4810125" cy="1162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spcBef>
                <a:spcPts val="0"/>
              </a:spcBef>
              <a:spcAft>
                <a:spcPts val="6"/>
              </a:spcAft>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Only joint +4/+3 resolves for total P95</a:t>
            </a:r>
          </a:p>
          <a:p xmlns:a="http://schemas.openxmlformats.org/drawingml/2006/main">
            <a:pPr algn="l">
              <a:spcBef>
                <a:spcPts val="0"/>
              </a:spcBef>
              <a:spcAft>
                <a:spcPts val="0"/>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−1.91 s [−3.37, −0.44]. Security +4: −0.84 [−1.81, +0.13]; Immigration +3: −1.21 [−3.01, +0.59]—both unresolved.</a:t>
            </a:r>
          </a:p>
        </p:txBody>
      </p:sp>
      <p:sp>
        <p:nvSpPr>
          <p:cNvPr id="5" name="callout-2-bg">
            <a:extLst xmlns:a="http://schemas.openxmlformats.org/drawingml/2006/main">
              <a:ext uri="{FF2B5EF4-FFF2-40B4-BE49-F238E27FC236}">
                <a16:creationId xmlns:a16="http://schemas.microsoft.com/office/drawing/2014/main" id="{5765B154-B79E-4702-A998-27A114425999}"/>
              </a:ext>
            </a:extLst>
          </p:cNvPr>
          <p:cNvSpPr>
            <a:spLocks xmlns:a="http://schemas.openxmlformats.org/drawingml/2006/main" noGrp="1"/>
          </p:cNvSpPr>
          <p:nvPr/>
        </p:nvSpPr>
        <p:spPr>
          <a:xfrm xmlns:a="http://schemas.openxmlformats.org/drawingml/2006/main">
            <a:off x="6572250" y="2790825"/>
            <a:ext cx="5219700" cy="1409700"/>
          </a:xfrm>
          <a:prstGeom xmlns:a="http://schemas.openxmlformats.org/drawingml/2006/main" prst="roundRect">
            <a:avLst>
              <a:gd name="adj" fmla="val 5405"/>
            </a:avLst>
          </a:prstGeom>
          <a:solidFill xmlns:a="http://schemas.openxmlformats.org/drawingml/2006/main">
            <a:srgbClr val="F2F2F2"/>
          </a:solidFill>
        </p:spPr>
      </p:sp>
      <p:sp>
        <p:nvSpPr>
          <p:cNvPr id="6" name="callout-2">
            <a:extLst xmlns:a="http://schemas.openxmlformats.org/drawingml/2006/main">
              <a:ext uri="{FF2B5EF4-FFF2-40B4-BE49-F238E27FC236}">
                <a16:creationId xmlns:a16="http://schemas.microsoft.com/office/drawing/2014/main" id="{472EBB82-CE8B-4E35-AB56-7CD70D34C8FF}"/>
              </a:ext>
            </a:extLst>
          </p:cNvPr>
          <p:cNvSpPr>
            <a:spLocks xmlns:a="http://schemas.openxmlformats.org/drawingml/2006/main" noGrp="1"/>
          </p:cNvSpPr>
          <p:nvPr/>
        </p:nvSpPr>
        <p:spPr>
          <a:xfrm xmlns:a="http://schemas.openxmlformats.org/drawingml/2006/main">
            <a:off x="6800850" y="2943225"/>
            <a:ext cx="4810125" cy="1162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spcBef>
                <a:spcPts val="0"/>
              </a:spcBef>
              <a:spcAft>
                <a:spcPts val="7"/>
              </a:spcAft>
              <a:defRPr sz="16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+20% demand: 17.06 s</a:t>
            </a:r>
          </a:p>
          <a:p xmlns:a="http://schemas.openxmlformats.org/drawingml/2006/main">
            <a:pPr algn="l">
              <a:spcBef>
                <a:spcPts val="0"/>
              </a:spcBef>
              <a:spcAft>
                <a:spcPts val="0"/>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Total P95 +13.54 s [95% CI +7.21, +19.86] as both stages approach capacity.</a:t>
            </a:r>
          </a:p>
        </p:txBody>
      </p:sp>
      <p:sp>
        <p:nvSpPr>
          <p:cNvPr id="7" name="callout-3-bg">
            <a:extLst xmlns:a="http://schemas.openxmlformats.org/drawingml/2006/main">
              <a:ext uri="{FF2B5EF4-FFF2-40B4-BE49-F238E27FC236}">
                <a16:creationId xmlns:a16="http://schemas.microsoft.com/office/drawing/2014/main" id="{121BC9E9-AFD6-4420-9AA0-3230B94CF3BB}"/>
              </a:ext>
            </a:extLst>
          </p:cNvPr>
          <p:cNvSpPr>
            <a:spLocks xmlns:a="http://schemas.openxmlformats.org/drawingml/2006/main" noGrp="1"/>
          </p:cNvSpPr>
          <p:nvPr/>
        </p:nvSpPr>
        <p:spPr>
          <a:xfrm xmlns:a="http://schemas.openxmlformats.org/drawingml/2006/main">
            <a:off x="6572250" y="4438650"/>
            <a:ext cx="5219700" cy="1409700"/>
          </a:xfrm>
          <a:prstGeom xmlns:a="http://schemas.openxmlformats.org/drawingml/2006/main" prst="roundRect">
            <a:avLst>
              <a:gd name="adj" fmla="val 5405"/>
            </a:avLst>
          </a:prstGeom>
          <a:solidFill xmlns:a="http://schemas.openxmlformats.org/drawingml/2006/main">
            <a:srgbClr val="EAF5FB"/>
          </a:solidFill>
        </p:spPr>
      </p:sp>
      <p:sp>
        <p:nvSpPr>
          <p:cNvPr id="8" name="callout-3">
            <a:extLst xmlns:a="http://schemas.openxmlformats.org/drawingml/2006/main">
              <a:ext uri="{FF2B5EF4-FFF2-40B4-BE49-F238E27FC236}">
                <a16:creationId xmlns:a16="http://schemas.microsoft.com/office/drawing/2014/main" id="{8269973B-90B6-41F4-BD3D-0D28760D9AF7}"/>
              </a:ext>
            </a:extLst>
          </p:cNvPr>
          <p:cNvSpPr>
            <a:spLocks xmlns:a="http://schemas.openxmlformats.org/drawingml/2006/main" noGrp="1"/>
          </p:cNvSpPr>
          <p:nvPr/>
        </p:nvSpPr>
        <p:spPr>
          <a:xfrm xmlns:a="http://schemas.openxmlformats.org/drawingml/2006/main">
            <a:off x="6800850" y="4591050"/>
            <a:ext cx="4810125" cy="1162050"/>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spcBef>
                <a:spcPts val="0"/>
              </a:spcBef>
              <a:spcAft>
                <a:spcPts val="7"/>
              </a:spcAft>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24 s Immigration context: 164.87 s</a:t>
            </a:r>
          </a:p>
          <a:p xmlns:a="http://schemas.openxmlformats.org/drawingml/2006/main">
            <a:pPr algn="l">
              <a:spcBef>
                <a:spcPts val="0"/>
              </a:spcBef>
              <a:spcAft>
                <a:spcPts val="0"/>
              </a:spcAft>
              <a:defRPr sz="1600">
                <a:solidFill>
                  <a:srgbClr val="000000"/>
                </a:solidFill>
                <a:latin typeface="Helvetica Neue"/>
                <a:ea typeface="Helvetica Neue"/>
                <a:cs typeface="Helvetica Neue"/>
              </a:defRPr>
            </a:pPr>
            <a:r>
              <a:rPr sz="1600" b="0">
                <a:solidFill>
                  <a:srgbClr val="000000"/>
                </a:solidFill>
                <a:latin typeface="Helvetica Neue"/>
                <a:ea typeface="Helvetica Neue"/>
                <a:cs typeface="Helvetica Neue"/>
              </a:rPr>
              <a:t>Total P95 +161.35 s [95% CI +146.19, +176.50]. Service-time assumptions—not animation—set the boundary.</a:t>
            </a:r>
          </a:p>
        </p:txBody>
      </p:sp>
      <p:sp>
        <p:nvSpPr>
          <p:cNvPr id="9" name="results-boundary">
            <a:extLst xmlns:a="http://schemas.openxmlformats.org/drawingml/2006/main">
              <a:ext uri="{FF2B5EF4-FFF2-40B4-BE49-F238E27FC236}">
                <a16:creationId xmlns:a16="http://schemas.microsoft.com/office/drawing/2014/main" id="{3D5C5366-B49C-4D07-BFEE-3692D494DCDB}"/>
              </a:ext>
            </a:extLst>
          </p:cNvPr>
          <p:cNvSpPr>
            <a:spLocks xmlns:a="http://schemas.openxmlformats.org/drawingml/2006/main" noGrp="1"/>
          </p:cNvSpPr>
          <p:nvPr/>
        </p:nvSpPr>
        <p:spPr>
          <a:xfrm xmlns:a="http://schemas.openxmlformats.org/drawingml/2006/main">
            <a:off x="400050" y="6019800"/>
            <a:ext cx="10572750" cy="504825"/>
          </a:xfrm>
          <a:prstGeom xmlns:a="http://schemas.openxmlformats.org/drawingml/2006/main" prst="rect">
            <a:avLst/>
          </a:prstGeom>
        </p:spPr>
        <p:txBody>
          <a:bodyPr xmlns:a="http://schemas.openxmlformats.org/drawingml/2006/main" lIns="0" tIns="0" rIns="0" bIns="0" anchor="t">
            <a:noAutofit/>
          </a:bodyPr>
          <a:lstStyle xmlns:a="http://schemas.openxmlformats.org/drawingml/2006/main"/>
          <a:p xmlns:a="http://schemas.openxmlformats.org/drawingml/2006/main">
            <a:pPr algn="l">
              <a:buNone/>
              <a:defRPr sz="1600" b="0">
                <a:solidFill>
                  <a:srgbClr val="5E6570"/>
                </a:solidFill>
                <a:latin typeface="Helvetica Neue"/>
                <a:ea typeface="Helvetica Neue"/>
                <a:cs typeface="Helvetica Neue"/>
              </a:defRPr>
            </a:pPr>
            <a:r>
              <a:rPr sz="1600" b="0">
                <a:solidFill>
                  <a:srgbClr val="5E6570"/>
                </a:solidFill>
                <a:latin typeface="Helvetica Neue"/>
                <a:ea typeface="Helvetica Neue"/>
                <a:cs typeface="Helvetica Neue"/>
              </a:rPr>
              <a:t>Pilot only · n=10/scenario · independent Welch intervals · random streams not aligned</a:t>
            </a:r>
          </a:p>
          <a:p xmlns:a="http://schemas.openxmlformats.org/drawingml/2006/main">
            <a:pPr algn="l">
              <a:buNone/>
              <a:defRPr sz="1600" b="0">
                <a:solidFill>
                  <a:srgbClr val="5E6570"/>
                </a:solidFill>
                <a:latin typeface="Helvetica Neue"/>
                <a:ea typeface="Helvetica Neue"/>
                <a:cs typeface="Helvetica Neue"/>
              </a:defRPr>
            </a:pPr>
            <a:r>
              <a:rPr sz="1600" b="0">
                <a:solidFill>
                  <a:srgbClr val="5E6570"/>
                </a:solidFill>
                <a:latin typeface="Helvetica Neue"/>
                <a:ea typeface="Helvetica Neue"/>
                <a:cs typeface="Helvetica Neue"/>
              </a:rPr>
              <a:t>Pooled first-come-first-served queues · fixed service times</a:t>
            </a:r>
          </a:p>
        </p:txBody>
      </p:sp>
      <p:sp>
        <p:nvSpPr>
          <p:cNvPr id="10" name="results-footer">
            <a:extLst xmlns:a="http://schemas.openxmlformats.org/drawingml/2006/main">
              <a:ext uri="{FF2B5EF4-FFF2-40B4-BE49-F238E27FC236}">
                <a16:creationId xmlns:a16="http://schemas.microsoft.com/office/drawing/2014/main" id="{27597D40-AFDB-4FC0-ACD9-A4DD815D848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graphicFrame>
        <p:nvGraphicFramePr>
          <p:cNvPr id="24" name="Chart"/>
          <p:cNvGraphicFramePr/>
          <p:nvPr/>
        </p:nvGraphicFramePr>
        <p:xfrm>
          <a:off xmlns:a="http://schemas.openxmlformats.org/drawingml/2006/main" x="400050" y="1381125"/>
          <a:ext xmlns:a="http://schemas.openxmlformats.org/drawingml/2006/main" cx="5762625" cy="4476750"/>
        </p:xfrm>
        <a:graphic xmlns:a="http://schemas.openxmlformats.org/drawingml/2006/main">
          <a:graphicData uri="http://schemas.openxmlformats.org/drawingml/2006/chart">
            <c:chart xmlns:r="http://schemas.openxmlformats.org/officeDocument/2006/relationships" xmlns:c="http://schemas.openxmlformats.org/drawingml/2006/chart" r:id="R0a0d2696c985452f"/>
          </a:graphicData>
        </a:graphic>
      </p:graphicFrame>
    </p:spTree>
    <p:extLst>
      <p:ext uri="{BB962C8B-B14F-4D97-AF65-F5344CB8AC3E}">
        <p14:creationId xmlns:p14="http://schemas.microsoft.com/office/powerpoint/2010/main" val="192870694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781BD1AE-7A11-4633-9882-26A54E61AC6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2" name="Google-Shape-533-p58-3">
            <a:extLst xmlns:a="http://schemas.openxmlformats.org/drawingml/2006/main">
              <a:ext uri="{FF2B5EF4-FFF2-40B4-BE49-F238E27FC236}">
                <a16:creationId xmlns:a16="http://schemas.microsoft.com/office/drawing/2014/main" id="{60D39F14-0FCC-4D48-84A9-503858E93BCD}"/>
              </a:ext>
            </a:extLst>
          </p:cNvPr>
          <p:cNvSpPr>
            <a:spLocks xmlns:a="http://schemas.openxmlformats.org/drawingml/2006/main" noGrp="1"/>
          </p:cNvSpPr>
          <p:nvPr/>
        </p:nvSpPr>
        <p:spPr>
          <a:xfrm xmlns:a="http://schemas.openxmlformats.org/drawingml/2006/main">
            <a:off x="393668" y="323850"/>
            <a:ext cx="11404568" cy="7620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00" b="0">
                <a:solidFill>
                  <a:srgbClr val="000000"/>
                </a:solidFill>
                <a:latin typeface="Helvetica Neue"/>
                <a:ea typeface="Helvetica Neue"/>
                <a:cs typeface="Helvetica Neue"/>
              </a:defRPr>
            </a:pPr>
            <a:r>
              <a:rPr sz="3200" b="0">
                <a:solidFill>
                  <a:srgbClr val="000000"/>
                </a:solidFill>
                <a:latin typeface="Helvetica Neue"/>
                <a:ea typeface="Helvetica Neue"/>
                <a:cs typeface="Helvetica Neue"/>
              </a:rPr>
              <a:t>Test joint +4/+3 as a mechanism—not a staffing answer</a:t>
            </a:r>
          </a:p>
        </p:txBody>
      </p:sp>
      <p:sp>
        <p:nvSpPr>
          <p:cNvPr id="3" name="Google-Shape-534-p58-4">
            <a:extLst xmlns:a="http://schemas.openxmlformats.org/drawingml/2006/main">
              <a:ext uri="{FF2B5EF4-FFF2-40B4-BE49-F238E27FC236}">
                <a16:creationId xmlns:a16="http://schemas.microsoft.com/office/drawing/2014/main" id="{7F8701F3-1B1E-49E7-8742-4A2E4C408D79}"/>
              </a:ext>
            </a:extLst>
          </p:cNvPr>
          <p:cNvSpPr>
            <a:spLocks xmlns:a="http://schemas.openxmlformats.org/drawingml/2006/main" noGrp="1"/>
          </p:cNvSpPr>
          <p:nvPr/>
        </p:nvSpPr>
        <p:spPr>
          <a:xfrm xmlns:a="http://schemas.openxmlformats.org/drawingml/2006/main">
            <a:off x="393668" y="1619250"/>
            <a:ext cx="10001250" cy="5905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000000"/>
                </a:solidFill>
                <a:latin typeface="Helvetica Neue"/>
                <a:ea typeface="Helvetica Neue"/>
                <a:cs typeface="Helvetica Neue"/>
              </a:defRPr>
            </a:pPr>
            <a:r>
              <a:rPr sz="2100" b="0">
                <a:solidFill>
                  <a:srgbClr val="000000"/>
                </a:solidFill>
                <a:latin typeface="Helvetica Neue"/>
                <a:ea typeface="Helvetica Neue"/>
                <a:cs typeface="Helvetica Neue"/>
              </a:rPr>
              <a:t>Field calibration → controlled mechanism pilot → costed rollout gate</a:t>
            </a:r>
          </a:p>
        </p:txBody>
      </p:sp>
      <p:sp>
        <p:nvSpPr>
          <p:cNvPr id="4" name="Content-Placeholder-10-5">
            <a:extLst xmlns:a="http://schemas.openxmlformats.org/drawingml/2006/main">
              <a:ext uri="{FF2B5EF4-FFF2-40B4-BE49-F238E27FC236}">
                <a16:creationId xmlns:a16="http://schemas.microsoft.com/office/drawing/2014/main" id="{1F734D25-6349-400F-AF66-BD1D9FB85B0D}"/>
              </a:ext>
            </a:extLst>
          </p:cNvPr>
          <p:cNvSpPr>
            <a:spLocks xmlns:a="http://schemas.openxmlformats.org/drawingml/2006/main" noGrp="1"/>
          </p:cNvSpPr>
          <p:nvPr/>
        </p:nvSpPr>
        <p:spPr>
          <a:xfrm xmlns:a="http://schemas.openxmlformats.org/drawingml/2006/main">
            <a:off x="7886700" y="2924175"/>
            <a:ext cx="3911632" cy="590550"/>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buNone/>
              <a:defRPr sz="1838" b="0">
                <a:solidFill>
                  <a:srgbClr val="000000"/>
                </a:solidFill>
                <a:latin typeface="Helvetica Neue"/>
                <a:ea typeface="Helvetica Neue"/>
                <a:cs typeface="Helvetica Neue"/>
              </a:defRPr>
            </a:pPr>
            <a:r>
              <a:rPr sz="1838" b="0">
                <a:solidFill>
                  <a:srgbClr val="000000"/>
                </a:solidFill>
                <a:latin typeface="Helvetica Neue"/>
                <a:ea typeface="Helvetica Neue"/>
                <a:cs typeface="Helvetica Neue"/>
              </a:rPr>
              <a:t>Collect time-of-day arrivals and signed event times</a:t>
            </a:r>
          </a:p>
        </p:txBody>
      </p:sp>
      <p:sp>
        <p:nvSpPr>
          <p:cNvPr id="5" name="Google-Shape-340-p61-6">
            <a:extLst xmlns:a="http://schemas.openxmlformats.org/drawingml/2006/main">
              <a:ext uri="{FF2B5EF4-FFF2-40B4-BE49-F238E27FC236}">
                <a16:creationId xmlns:a16="http://schemas.microsoft.com/office/drawing/2014/main" id="{6E6D46D7-9507-4899-9A12-17E0E2922281}"/>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CBEFA16B-F7C2-4B24-A924-9B27DF4A85C6}"/>
              </a:ext>
            </a:extLst>
          </p:cNvPr>
          <p:cNvSpPr>
            <a:spLocks xmlns:a="http://schemas.openxmlformats.org/drawingml/2006/main" noGrp="1"/>
          </p:cNvSpPr>
          <p:nvPr/>
        </p:nvSpPr>
        <p:spPr>
          <a:xfrm xmlns:a="http://schemas.openxmlformats.org/drawingml/2006/main">
            <a:off x="393668" y="2781300"/>
            <a:ext cx="6191250" cy="31432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spcBef>
                <a:spcPts val="0"/>
              </a:spcBef>
              <a:spcAft>
                <a:spcPts val="8"/>
              </a:spcAft>
              <a:defRPr sz="16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External boundary stress: 2% × 7,200 s counter-held proxy</a:t>
            </a:r>
          </a:p>
          <a:p xmlns:a="http://schemas.openxmlformats.org/drawingml/2006/main">
            <a:pPr algn="l">
              <a:spcBef>
                <a:spcPts val="0"/>
              </a:spcBef>
              <a:spcAft>
                <a:spcPts val="2"/>
              </a:spcAft>
              <a:defRPr sz="1600">
                <a:solidFill>
                  <a:srgbClr val="000000"/>
                </a:solidFill>
                <a:latin typeface="Helvetica Neue"/>
                <a:ea typeface="Helvetica Neue"/>
                <a:cs typeface="Helvetica Neue"/>
              </a:defRPr>
            </a:pPr>
            <a:r>
              <a:rPr sz="2250" b="1">
                <a:solidFill>
                  <a:srgbClr val="3D8DFF"/>
                </a:solidFill>
                <a:latin typeface="Helvetica Neue"/>
                <a:ea typeface="Helvetica Neue"/>
                <a:cs typeface="Helvetica Neue"/>
              </a:rPr>
              <a:t>Mean queue-wait P95: 30.36 s</a:t>
            </a:r>
          </a:p>
          <a:p xmlns:a="http://schemas.openxmlformats.org/drawingml/2006/main">
            <a:pPr algn="l">
              <a:spcBef>
                <a:spcPts val="0"/>
              </a:spcBef>
              <a:spcAft>
                <a:spcPts val="7"/>
              </a:spcAft>
              <a:defRPr sz="1600">
                <a:solidFill>
                  <a:srgbClr val="000000"/>
                </a:solidFill>
                <a:latin typeface="Helvetica Neue"/>
                <a:ea typeface="Helvetica Neue"/>
                <a:cs typeface="Helvetica Neue"/>
              </a:defRPr>
            </a:pPr>
            <a:r>
              <a:rPr sz="1600" b="0">
                <a:solidFill>
                  <a:srgbClr val="5E6570"/>
                </a:solidFill>
                <a:latin typeface="Helvetica Neue"/>
                <a:ea typeface="Helvetica Neue"/>
                <a:cs typeface="Helvetica Neue"/>
              </a:rPr>
              <a:t>95% CI 11.83–48.88</a:t>
            </a:r>
          </a:p>
          <a:p xmlns:a="http://schemas.openxmlformats.org/drawingml/2006/main">
            <a:pPr algn="l">
              <a:spcBef>
                <a:spcPts val="0"/>
              </a:spcBef>
              <a:spcAft>
                <a:spcPts val="2"/>
              </a:spcAft>
              <a:defRPr sz="1600">
                <a:solidFill>
                  <a:srgbClr val="000000"/>
                </a:solidFill>
                <a:latin typeface="Helvetica Neue"/>
                <a:ea typeface="Helvetica Neue"/>
                <a:cs typeface="Helvetica Neue"/>
              </a:defRPr>
            </a:pPr>
            <a:r>
              <a:rPr sz="2175" b="1">
                <a:solidFill>
                  <a:srgbClr val="3D8DFF"/>
                </a:solidFill>
                <a:latin typeface="Helvetica Neue"/>
                <a:ea typeface="Helvetica Neue"/>
                <a:cs typeface="Helvetica Neue"/>
              </a:rPr>
              <a:t>Mean clear after cutoff: 7,214.19 s ≈ 2.00 h</a:t>
            </a:r>
          </a:p>
          <a:p xmlns:a="http://schemas.openxmlformats.org/drawingml/2006/main">
            <a:pPr algn="l">
              <a:spcBef>
                <a:spcPts val="0"/>
              </a:spcBef>
              <a:spcAft>
                <a:spcPts val="8"/>
              </a:spcAft>
              <a:defRPr sz="1600">
                <a:solidFill>
                  <a:srgbClr val="000000"/>
                </a:solidFill>
                <a:latin typeface="Helvetica Neue"/>
                <a:ea typeface="Helvetica Neue"/>
                <a:cs typeface="Helvetica Neue"/>
              </a:defRPr>
            </a:pPr>
            <a:r>
              <a:rPr sz="1600" b="0">
                <a:solidFill>
                  <a:srgbClr val="5E6570"/>
                </a:solidFill>
                <a:latin typeface="Helvetica Neue"/>
                <a:ea typeface="Helvetica Neue"/>
                <a:cs typeface="Helvetica Neue"/>
              </a:rPr>
              <a:t>95% CI 7,170.27–7,258.11</a:t>
            </a:r>
          </a:p>
          <a:p xmlns:a="http://schemas.openxmlformats.org/drawingml/2006/main">
            <a:pPr algn="l">
              <a:spcBef>
                <a:spcPts val="0"/>
              </a:spcBef>
              <a:spcAft>
                <a:spcPts val="0"/>
              </a:spcAft>
              <a:defRPr sz="1600">
                <a:solidFill>
                  <a:srgbClr val="000000"/>
                </a:solidFill>
                <a:latin typeface="Helvetica Neue"/>
                <a:ea typeface="Helvetica Neue"/>
                <a:cs typeface="Helvetica Neue"/>
              </a:defRPr>
            </a:pPr>
            <a:r>
              <a:rPr sz="1600" b="0">
                <a:solidFill>
                  <a:srgbClr val="5E6570"/>
                </a:solidFill>
                <a:latin typeface="Helvetica Neue"/>
                <a:ea typeface="Helvetica Neue"/>
                <a:cs typeface="Helvetica Neue"/>
              </a:rPr>
              <a:t>Not ICA practice or a measured referral rate. The rare branch can escape a P95 queue metric; queue wait also excludes its service duration.</a:t>
            </a:r>
          </a:p>
        </p:txBody>
      </p:sp>
      <p:sp>
        <p:nvSpPr>
          <p:cNvPr id="7" name="Content-Placeholder-10-8">
            <a:extLst xmlns:a="http://schemas.openxmlformats.org/drawingml/2006/main">
              <a:ext uri="{FF2B5EF4-FFF2-40B4-BE49-F238E27FC236}">
                <a16:creationId xmlns:a16="http://schemas.microsoft.com/office/drawing/2014/main" id="{9655FE59-28B3-4208-9D38-8CA87FE9D7E8}"/>
              </a:ext>
            </a:extLst>
          </p:cNvPr>
          <p:cNvSpPr>
            <a:spLocks xmlns:a="http://schemas.openxmlformats.org/drawingml/2006/main" noGrp="1"/>
          </p:cNvSpPr>
          <p:nvPr/>
        </p:nvSpPr>
        <p:spPr>
          <a:xfrm xmlns:a="http://schemas.openxmlformats.org/drawingml/2006/main">
            <a:off x="7886700" y="3533775"/>
            <a:ext cx="3911632" cy="590550"/>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buNone/>
              <a:defRPr sz="1838" b="0">
                <a:solidFill>
                  <a:srgbClr val="000000"/>
                </a:solidFill>
                <a:latin typeface="Helvetica Neue"/>
                <a:ea typeface="Helvetica Neue"/>
                <a:cs typeface="Helvetica Neue"/>
              </a:defRPr>
            </a:pPr>
            <a:r>
              <a:rPr sz="1838" b="0">
                <a:solidFill>
                  <a:srgbClr val="000000"/>
                </a:solidFill>
                <a:latin typeface="Helvetica Neue"/>
                <a:ea typeface="Helvetica Neue"/>
                <a:cs typeface="Helvetica Neue"/>
              </a:rPr>
              <a:t>Measure stage service-time and exception distributions</a:t>
            </a:r>
          </a:p>
        </p:txBody>
      </p:sp>
      <p:sp>
        <p:nvSpPr>
          <p:cNvPr id="8" name="Google-Shape-340-p61-9">
            <a:extLst xmlns:a="http://schemas.openxmlformats.org/drawingml/2006/main">
              <a:ext uri="{FF2B5EF4-FFF2-40B4-BE49-F238E27FC236}">
                <a16:creationId xmlns:a16="http://schemas.microsoft.com/office/drawing/2014/main" id="{CC826CCF-C388-4016-A482-29D3EE8809DD}"/>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D0C114C5-CD12-458B-A70E-03F6AAD9C325}"/>
              </a:ext>
            </a:extLst>
          </p:cNvPr>
          <p:cNvSpPr>
            <a:spLocks xmlns:a="http://schemas.openxmlformats.org/drawingml/2006/main" noGrp="1"/>
          </p:cNvSpPr>
          <p:nvPr/>
        </p:nvSpPr>
        <p:spPr>
          <a:xfrm xmlns:a="http://schemas.openxmlformats.org/drawingml/2006/main">
            <a:off x="7886700" y="4143375"/>
            <a:ext cx="3911632" cy="590550"/>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buNone/>
              <a:defRPr sz="1838" b="0">
                <a:solidFill>
                  <a:srgbClr val="000000"/>
                </a:solidFill>
                <a:latin typeface="Helvetica Neue"/>
                <a:ea typeface="Helvetica Neue"/>
                <a:cs typeface="Helvetica Neue"/>
              </a:defRPr>
            </a:pPr>
            <a:r>
              <a:rPr sz="1838" b="0">
                <a:solidFill>
                  <a:srgbClr val="000000"/>
                </a:solidFill>
                <a:latin typeface="Helvetica Neue"/>
                <a:ea typeface="Helvetica Neue"/>
                <a:cs typeface="Helvetica Neue"/>
              </a:rPr>
              <a:t>Observe queues, open resources, rosters and downtime</a:t>
            </a:r>
          </a:p>
        </p:txBody>
      </p:sp>
      <p:sp>
        <p:nvSpPr>
          <p:cNvPr id="10" name="Google-Shape-340-p61-11">
            <a:extLst xmlns:a="http://schemas.openxmlformats.org/drawingml/2006/main">
              <a:ext uri="{FF2B5EF4-FFF2-40B4-BE49-F238E27FC236}">
                <a16:creationId xmlns:a16="http://schemas.microsoft.com/office/drawing/2014/main" id="{7BA09227-E603-41B2-A52E-4BA0F973A16E}"/>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C79C4205-427A-49A2-BB34-A8B17223E66F}"/>
              </a:ext>
            </a:extLst>
          </p:cNvPr>
          <p:cNvSpPr>
            <a:spLocks xmlns:a="http://schemas.openxmlformats.org/drawingml/2006/main" noGrp="1"/>
          </p:cNvSpPr>
          <p:nvPr/>
        </p:nvSpPr>
        <p:spPr>
          <a:xfrm xmlns:a="http://schemas.openxmlformats.org/drawingml/2006/main">
            <a:off x="7886700" y="4752975"/>
            <a:ext cx="3911632" cy="590550"/>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buNone/>
              <a:defRPr sz="1838" b="0">
                <a:solidFill>
                  <a:srgbClr val="000000"/>
                </a:solidFill>
                <a:latin typeface="Helvetica Neue"/>
                <a:ea typeface="Helvetica Neue"/>
                <a:cs typeface="Helvetica Neue"/>
              </a:defRPr>
            </a:pPr>
            <a:r>
              <a:rPr sz="1838" b="0">
                <a:solidFill>
                  <a:srgbClr val="000000"/>
                </a:solidFill>
                <a:latin typeface="Helvetica Neue"/>
                <a:ea typeface="Helvetica Neue"/>
                <a:cs typeface="Helvetica Neue"/>
              </a:rPr>
              <a:t>Align random streams; size the confirmatory study</a:t>
            </a:r>
          </a:p>
        </p:txBody>
      </p:sp>
      <p:sp>
        <p:nvSpPr>
          <p:cNvPr id="12" name="Google-Shape-340-p61-13">
            <a:extLst xmlns:a="http://schemas.openxmlformats.org/drawingml/2006/main">
              <a:ext uri="{FF2B5EF4-FFF2-40B4-BE49-F238E27FC236}">
                <a16:creationId xmlns:a16="http://schemas.microsoft.com/office/drawing/2014/main" id="{259AF994-9B8C-40D7-A87E-8E5704D99BE4}"/>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7312FCBA-29F0-4015-BEE9-35804F58E381}"/>
              </a:ext>
            </a:extLst>
          </p:cNvPr>
          <p:cNvSpPr>
            <a:spLocks xmlns:a="http://schemas.openxmlformats.org/drawingml/2006/main" noGrp="1"/>
          </p:cNvSpPr>
          <p:nvPr/>
        </p:nvSpPr>
        <p:spPr>
          <a:xfrm xmlns:a="http://schemas.openxmlformats.org/drawingml/2006/main">
            <a:off x="7886700" y="5362575"/>
            <a:ext cx="3911632" cy="590550"/>
          </a:xfrm>
          <a:prstGeom xmlns:a="http://schemas.openxmlformats.org/drawingml/2006/main" prst="rect">
            <a:avLst/>
          </a:prstGeom>
        </p:spPr>
        <p:txBody>
          <a:bodyPr xmlns:a="http://schemas.openxmlformats.org/drawingml/2006/main" lIns="0" tIns="0" rIns="0" bIns="0" anchor="ctr">
            <a:noAutofit/>
          </a:bodyPr>
          <a:lstStyle xmlns:a="http://schemas.openxmlformats.org/drawingml/2006/main"/>
          <a:p xmlns:a="http://schemas.openxmlformats.org/drawingml/2006/main">
            <a:pPr algn="l">
              <a:buNone/>
              <a:defRPr sz="1838" b="0">
                <a:solidFill>
                  <a:srgbClr val="000000"/>
                </a:solidFill>
                <a:latin typeface="Helvetica Neue"/>
                <a:ea typeface="Helvetica Neue"/>
                <a:cs typeface="Helvetica Neue"/>
              </a:defRPr>
            </a:pPr>
            <a:r>
              <a:rPr sz="1838" b="0">
                <a:solidFill>
                  <a:srgbClr val="000000"/>
                </a:solidFill>
                <a:latin typeface="Helvetica Neue"/>
                <a:ea typeface="Helvetica Neue"/>
                <a:cs typeface="Helvetica Neue"/>
              </a:rPr>
              <a:t>Add cost, roster feasibility and licensing</a:t>
            </a:r>
          </a:p>
        </p:txBody>
      </p:sp>
      <p:sp>
        <p:nvSpPr>
          <p:cNvPr id="14" name="Google-Shape-340-p61-15">
            <a:extLst xmlns:a="http://schemas.openxmlformats.org/drawingml/2006/main">
              <a:ext uri="{FF2B5EF4-FFF2-40B4-BE49-F238E27FC236}">
                <a16:creationId xmlns:a16="http://schemas.microsoft.com/office/drawing/2014/main" id="{96FBE91E-D88B-4CA9-A68E-7D71952C155F}"/>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Tree>
    <p:extLst>
      <p:ext uri="{BB962C8B-B14F-4D97-AF65-F5344CB8AC3E}">
        <p14:creationId xmlns:p14="http://schemas.microsoft.com/office/powerpoint/2010/main" val="9875442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2026-07-28T05:54:45.0970000Z</dcterms:created>
  <dcterms:modified xsi:type="dcterms:W3CDTF">2026-07-28T05:54:45.0970000Z</dcterms:modified>
</coreProperties>
</file>